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1"/>
  </p:sldMasterIdLst>
  <p:notesMasterIdLst>
    <p:notesMasterId r:id="rId49"/>
  </p:notesMasterIdLst>
  <p:handoutMasterIdLst>
    <p:handoutMasterId r:id="rId50"/>
  </p:handoutMasterIdLst>
  <p:sldIdLst>
    <p:sldId id="256" r:id="rId2"/>
    <p:sldId id="289" r:id="rId3"/>
    <p:sldId id="280" r:id="rId4"/>
    <p:sldId id="281" r:id="rId5"/>
    <p:sldId id="282" r:id="rId6"/>
    <p:sldId id="283" r:id="rId7"/>
    <p:sldId id="257" r:id="rId8"/>
    <p:sldId id="258" r:id="rId9"/>
    <p:sldId id="270" r:id="rId10"/>
    <p:sldId id="263" r:id="rId11"/>
    <p:sldId id="273" r:id="rId12"/>
    <p:sldId id="259" r:id="rId13"/>
    <p:sldId id="261" r:id="rId14"/>
    <p:sldId id="262" r:id="rId15"/>
    <p:sldId id="284" r:id="rId16"/>
    <p:sldId id="264" r:id="rId17"/>
    <p:sldId id="266" r:id="rId18"/>
    <p:sldId id="268" r:id="rId19"/>
    <p:sldId id="269" r:id="rId20"/>
    <p:sldId id="285" r:id="rId21"/>
    <p:sldId id="274" r:id="rId22"/>
    <p:sldId id="275" r:id="rId23"/>
    <p:sldId id="276" r:id="rId24"/>
    <p:sldId id="277" r:id="rId25"/>
    <p:sldId id="278" r:id="rId26"/>
    <p:sldId id="288" r:id="rId27"/>
    <p:sldId id="279" r:id="rId28"/>
    <p:sldId id="286" r:id="rId29"/>
    <p:sldId id="287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305" r:id="rId40"/>
    <p:sldId id="313" r:id="rId41"/>
    <p:sldId id="304" r:id="rId42"/>
    <p:sldId id="306" r:id="rId43"/>
    <p:sldId id="307" r:id="rId44"/>
    <p:sldId id="308" r:id="rId45"/>
    <p:sldId id="309" r:id="rId46"/>
    <p:sldId id="310" r:id="rId47"/>
    <p:sldId id="311" r:id="rId48"/>
  </p:sldIdLst>
  <p:sldSz cx="9144000" cy="6858000" type="screen4x3"/>
  <p:notesSz cx="6343650" cy="8402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47">
          <p15:clr>
            <a:srgbClr val="A4A3A4"/>
          </p15:clr>
        </p15:guide>
        <p15:guide id="2" pos="199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  <a:srgbClr val="DCDCDC"/>
    <a:srgbClr val="E8E8E8"/>
    <a:srgbClr val="CC0000"/>
    <a:srgbClr val="A50021"/>
    <a:srgbClr val="C0C0C0"/>
    <a:srgbClr val="9900CC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DE8A0F-6E6E-4656-A99A-CC39B8310385}" v="40" dt="2025-10-21T06:08:56.2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1176" autoAdjust="0"/>
    <p:restoredTop sz="95706" autoAdjust="0"/>
  </p:normalViewPr>
  <p:slideViewPr>
    <p:cSldViewPr>
      <p:cViewPr>
        <p:scale>
          <a:sx n="50" d="100"/>
          <a:sy n="50" d="100"/>
        </p:scale>
        <p:origin x="2080" y="5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1806" y="-84"/>
      </p:cViewPr>
      <p:guideLst>
        <p:guide orient="horz" pos="2647"/>
        <p:guide pos="199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h Son Nguyen" userId="a28ae06bf666aa56" providerId="LiveId" clId="{27FE0FFA-A80E-4EDD-8C7B-3E8BFD706AFE}"/>
    <pc:docChg chg="custSel addSld modSld modMainMaster">
      <pc:chgData name="Manh Son Nguyen" userId="a28ae06bf666aa56" providerId="LiveId" clId="{27FE0FFA-A80E-4EDD-8C7B-3E8BFD706AFE}" dt="2025-10-21T06:08:56.294" v="124" actId="404"/>
      <pc:docMkLst>
        <pc:docMk/>
      </pc:docMkLst>
      <pc:sldChg chg="addSp delSp modSp mod">
        <pc:chgData name="Manh Son Nguyen" userId="a28ae06bf666aa56" providerId="LiveId" clId="{27FE0FFA-A80E-4EDD-8C7B-3E8BFD706AFE}" dt="2025-10-21T05:58:41.190" v="29" actId="21"/>
        <pc:sldMkLst>
          <pc:docMk/>
          <pc:sldMk cId="0" sldId="256"/>
        </pc:sldMkLst>
        <pc:spChg chg="add del mod">
          <ac:chgData name="Manh Son Nguyen" userId="a28ae06bf666aa56" providerId="LiveId" clId="{27FE0FFA-A80E-4EDD-8C7B-3E8BFD706AFE}" dt="2025-10-21T05:58:05.111" v="23" actId="478"/>
          <ac:spMkLst>
            <pc:docMk/>
            <pc:sldMk cId="0" sldId="256"/>
            <ac:spMk id="2" creationId="{1D3546C6-5B35-E8F1-0CC8-871D60E3D5B5}"/>
          </ac:spMkLst>
        </pc:spChg>
        <pc:spChg chg="mod">
          <ac:chgData name="Manh Son Nguyen" userId="a28ae06bf666aa56" providerId="LiveId" clId="{27FE0FFA-A80E-4EDD-8C7B-3E8BFD706AFE}" dt="2025-10-21T05:58:41.190" v="29" actId="21"/>
          <ac:spMkLst>
            <pc:docMk/>
            <pc:sldMk cId="0" sldId="256"/>
            <ac:spMk id="30722" creationId="{C4593432-6271-B87B-0421-A7E96BBBFE1F}"/>
          </ac:spMkLst>
        </pc:spChg>
        <pc:spChg chg="del mod">
          <ac:chgData name="Manh Son Nguyen" userId="a28ae06bf666aa56" providerId="LiveId" clId="{27FE0FFA-A80E-4EDD-8C7B-3E8BFD706AFE}" dt="2025-10-21T05:57:57.298" v="22" actId="478"/>
          <ac:spMkLst>
            <pc:docMk/>
            <pc:sldMk cId="0" sldId="256"/>
            <ac:spMk id="30723" creationId="{AECE2C97-852F-FADB-F25A-461ABB697241}"/>
          </ac:spMkLst>
        </pc:spChg>
      </pc:sldChg>
      <pc:sldChg chg="modSp mod">
        <pc:chgData name="Manh Son Nguyen" userId="a28ae06bf666aa56" providerId="LiveId" clId="{27FE0FFA-A80E-4EDD-8C7B-3E8BFD706AFE}" dt="2025-10-21T06:00:17.041" v="115" actId="20577"/>
        <pc:sldMkLst>
          <pc:docMk/>
          <pc:sldMk cId="0" sldId="257"/>
        </pc:sldMkLst>
        <pc:spChg chg="mod">
          <ac:chgData name="Manh Son Nguyen" userId="a28ae06bf666aa56" providerId="LiveId" clId="{27FE0FFA-A80E-4EDD-8C7B-3E8BFD706AFE}" dt="2025-10-21T05:55:41.247" v="8"/>
          <ac:spMkLst>
            <pc:docMk/>
            <pc:sldMk cId="0" sldId="257"/>
            <ac:spMk id="495618" creationId="{4E679551-8402-CF11-1CE7-D6082F0F1ED0}"/>
          </ac:spMkLst>
        </pc:spChg>
        <pc:spChg chg="mod">
          <ac:chgData name="Manh Son Nguyen" userId="a28ae06bf666aa56" providerId="LiveId" clId="{27FE0FFA-A80E-4EDD-8C7B-3E8BFD706AFE}" dt="2025-10-21T06:00:17.041" v="115" actId="20577"/>
          <ac:spMkLst>
            <pc:docMk/>
            <pc:sldMk cId="0" sldId="257"/>
            <ac:spMk id="495619" creationId="{7DE2FB49-F757-7082-9519-1385886BA672}"/>
          </ac:spMkLst>
        </pc:spChg>
      </pc:sldChg>
      <pc:sldChg chg="modSp">
        <pc:chgData name="Manh Son Nguyen" userId="a28ae06bf666aa56" providerId="LiveId" clId="{27FE0FFA-A80E-4EDD-8C7B-3E8BFD706AFE}" dt="2025-10-21T05:55:41.247" v="8"/>
        <pc:sldMkLst>
          <pc:docMk/>
          <pc:sldMk cId="0" sldId="258"/>
        </pc:sldMkLst>
        <pc:spChg chg="mod">
          <ac:chgData name="Manh Son Nguyen" userId="a28ae06bf666aa56" providerId="LiveId" clId="{27FE0FFA-A80E-4EDD-8C7B-3E8BFD706AFE}" dt="2025-10-21T05:55:41.247" v="8"/>
          <ac:spMkLst>
            <pc:docMk/>
            <pc:sldMk cId="0" sldId="258"/>
            <ac:spMk id="496642" creationId="{7F69F9ED-AB5F-73E2-ABD7-B277A635BA26}"/>
          </ac:spMkLst>
        </pc:spChg>
      </pc:sldChg>
      <pc:sldChg chg="modSp">
        <pc:chgData name="Manh Son Nguyen" userId="a28ae06bf666aa56" providerId="LiveId" clId="{27FE0FFA-A80E-4EDD-8C7B-3E8BFD706AFE}" dt="2025-10-21T05:55:41.247" v="8"/>
        <pc:sldMkLst>
          <pc:docMk/>
          <pc:sldMk cId="0" sldId="259"/>
        </pc:sldMkLst>
        <pc:spChg chg="mod">
          <ac:chgData name="Manh Son Nguyen" userId="a28ae06bf666aa56" providerId="LiveId" clId="{27FE0FFA-A80E-4EDD-8C7B-3E8BFD706AFE}" dt="2025-10-21T05:55:41.247" v="8"/>
          <ac:spMkLst>
            <pc:docMk/>
            <pc:sldMk cId="0" sldId="259"/>
            <ac:spMk id="497666" creationId="{AA18DAE9-107A-16FA-8B59-33BB926657A5}"/>
          </ac:spMkLst>
        </pc:spChg>
      </pc:sldChg>
      <pc:sldChg chg="modSp">
        <pc:chgData name="Manh Son Nguyen" userId="a28ae06bf666aa56" providerId="LiveId" clId="{27FE0FFA-A80E-4EDD-8C7B-3E8BFD706AFE}" dt="2025-10-21T05:55:41.247" v="8"/>
        <pc:sldMkLst>
          <pc:docMk/>
          <pc:sldMk cId="0" sldId="261"/>
        </pc:sldMkLst>
        <pc:spChg chg="mod">
          <ac:chgData name="Manh Son Nguyen" userId="a28ae06bf666aa56" providerId="LiveId" clId="{27FE0FFA-A80E-4EDD-8C7B-3E8BFD706AFE}" dt="2025-10-21T05:55:41.247" v="8"/>
          <ac:spMkLst>
            <pc:docMk/>
            <pc:sldMk cId="0" sldId="261"/>
            <ac:spMk id="500738" creationId="{A5260C4E-3FB2-B557-29B8-E879B03BAC82}"/>
          </ac:spMkLst>
        </pc:spChg>
      </pc:sldChg>
      <pc:sldChg chg="modSp">
        <pc:chgData name="Manh Son Nguyen" userId="a28ae06bf666aa56" providerId="LiveId" clId="{27FE0FFA-A80E-4EDD-8C7B-3E8BFD706AFE}" dt="2025-10-21T05:55:41.247" v="8"/>
        <pc:sldMkLst>
          <pc:docMk/>
          <pc:sldMk cId="0" sldId="262"/>
        </pc:sldMkLst>
        <pc:spChg chg="mod">
          <ac:chgData name="Manh Son Nguyen" userId="a28ae06bf666aa56" providerId="LiveId" clId="{27FE0FFA-A80E-4EDD-8C7B-3E8BFD706AFE}" dt="2025-10-21T05:55:41.247" v="8"/>
          <ac:spMkLst>
            <pc:docMk/>
            <pc:sldMk cId="0" sldId="262"/>
            <ac:spMk id="501762" creationId="{06AEEF2A-AC15-5B30-B36D-3C27625112B0}"/>
          </ac:spMkLst>
        </pc:spChg>
      </pc:sldChg>
      <pc:sldChg chg="modSp">
        <pc:chgData name="Manh Son Nguyen" userId="a28ae06bf666aa56" providerId="LiveId" clId="{27FE0FFA-A80E-4EDD-8C7B-3E8BFD706AFE}" dt="2025-10-21T05:55:41.247" v="8"/>
        <pc:sldMkLst>
          <pc:docMk/>
          <pc:sldMk cId="0" sldId="263"/>
        </pc:sldMkLst>
        <pc:spChg chg="mod">
          <ac:chgData name="Manh Son Nguyen" userId="a28ae06bf666aa56" providerId="LiveId" clId="{27FE0FFA-A80E-4EDD-8C7B-3E8BFD706AFE}" dt="2025-10-21T05:55:41.247" v="8"/>
          <ac:spMkLst>
            <pc:docMk/>
            <pc:sldMk cId="0" sldId="263"/>
            <ac:spMk id="502786" creationId="{836CC3EE-39FB-6803-BDD4-AC39E80BBA85}"/>
          </ac:spMkLst>
        </pc:spChg>
      </pc:sldChg>
      <pc:sldChg chg="modSp">
        <pc:chgData name="Manh Son Nguyen" userId="a28ae06bf666aa56" providerId="LiveId" clId="{27FE0FFA-A80E-4EDD-8C7B-3E8BFD706AFE}" dt="2025-10-21T05:55:41.247" v="8"/>
        <pc:sldMkLst>
          <pc:docMk/>
          <pc:sldMk cId="0" sldId="264"/>
        </pc:sldMkLst>
        <pc:spChg chg="mod">
          <ac:chgData name="Manh Son Nguyen" userId="a28ae06bf666aa56" providerId="LiveId" clId="{27FE0FFA-A80E-4EDD-8C7B-3E8BFD706AFE}" dt="2025-10-21T05:55:41.247" v="8"/>
          <ac:spMkLst>
            <pc:docMk/>
            <pc:sldMk cId="0" sldId="264"/>
            <ac:spMk id="503810" creationId="{9F66F607-A2D1-BD2C-C7A1-54A071BA01A9}"/>
          </ac:spMkLst>
        </pc:spChg>
      </pc:sldChg>
      <pc:sldChg chg="modSp mod">
        <pc:chgData name="Manh Son Nguyen" userId="a28ae06bf666aa56" providerId="LiveId" clId="{27FE0FFA-A80E-4EDD-8C7B-3E8BFD706AFE}" dt="2025-10-21T06:03:08.946" v="117" actId="20577"/>
        <pc:sldMkLst>
          <pc:docMk/>
          <pc:sldMk cId="0" sldId="266"/>
        </pc:sldMkLst>
        <pc:spChg chg="mod">
          <ac:chgData name="Manh Son Nguyen" userId="a28ae06bf666aa56" providerId="LiveId" clId="{27FE0FFA-A80E-4EDD-8C7B-3E8BFD706AFE}" dt="2025-10-21T05:55:41.247" v="8"/>
          <ac:spMkLst>
            <pc:docMk/>
            <pc:sldMk cId="0" sldId="266"/>
            <ac:spMk id="506882" creationId="{CA971C15-A66E-AD49-B621-79DCEA4D05E2}"/>
          </ac:spMkLst>
        </pc:spChg>
        <pc:spChg chg="mod">
          <ac:chgData name="Manh Son Nguyen" userId="a28ae06bf666aa56" providerId="LiveId" clId="{27FE0FFA-A80E-4EDD-8C7B-3E8BFD706AFE}" dt="2025-10-21T06:03:08.946" v="117" actId="20577"/>
          <ac:spMkLst>
            <pc:docMk/>
            <pc:sldMk cId="0" sldId="266"/>
            <ac:spMk id="506883" creationId="{8866E304-F996-04D0-CEB3-7FF0DE52305D}"/>
          </ac:spMkLst>
        </pc:spChg>
      </pc:sldChg>
      <pc:sldChg chg="modSp modAnim">
        <pc:chgData name="Manh Son Nguyen" userId="a28ae06bf666aa56" providerId="LiveId" clId="{27FE0FFA-A80E-4EDD-8C7B-3E8BFD706AFE}" dt="2025-10-21T06:03:20.821" v="119" actId="20577"/>
        <pc:sldMkLst>
          <pc:docMk/>
          <pc:sldMk cId="0" sldId="268"/>
        </pc:sldMkLst>
        <pc:spChg chg="mod">
          <ac:chgData name="Manh Son Nguyen" userId="a28ae06bf666aa56" providerId="LiveId" clId="{27FE0FFA-A80E-4EDD-8C7B-3E8BFD706AFE}" dt="2025-10-21T05:55:41.247" v="8"/>
          <ac:spMkLst>
            <pc:docMk/>
            <pc:sldMk cId="0" sldId="268"/>
            <ac:spMk id="509954" creationId="{574DD787-64B4-4CB5-A7D6-01E57D195365}"/>
          </ac:spMkLst>
        </pc:spChg>
        <pc:spChg chg="mod">
          <ac:chgData name="Manh Son Nguyen" userId="a28ae06bf666aa56" providerId="LiveId" clId="{27FE0FFA-A80E-4EDD-8C7B-3E8BFD706AFE}" dt="2025-10-21T06:03:20.821" v="119" actId="20577"/>
          <ac:spMkLst>
            <pc:docMk/>
            <pc:sldMk cId="0" sldId="268"/>
            <ac:spMk id="509955" creationId="{04554E52-502C-45EE-EE38-8C2BAF18664D}"/>
          </ac:spMkLst>
        </pc:spChg>
      </pc:sldChg>
      <pc:sldChg chg="modSp">
        <pc:chgData name="Manh Son Nguyen" userId="a28ae06bf666aa56" providerId="LiveId" clId="{27FE0FFA-A80E-4EDD-8C7B-3E8BFD706AFE}" dt="2025-10-21T05:55:41.247" v="8"/>
        <pc:sldMkLst>
          <pc:docMk/>
          <pc:sldMk cId="0" sldId="269"/>
        </pc:sldMkLst>
        <pc:spChg chg="mod">
          <ac:chgData name="Manh Son Nguyen" userId="a28ae06bf666aa56" providerId="LiveId" clId="{27FE0FFA-A80E-4EDD-8C7B-3E8BFD706AFE}" dt="2025-10-21T05:55:41.247" v="8"/>
          <ac:spMkLst>
            <pc:docMk/>
            <pc:sldMk cId="0" sldId="269"/>
            <ac:spMk id="510978" creationId="{96640028-CFCD-7827-0FD3-7AFFD0F7AA94}"/>
          </ac:spMkLst>
        </pc:spChg>
      </pc:sldChg>
      <pc:sldChg chg="modSp">
        <pc:chgData name="Manh Son Nguyen" userId="a28ae06bf666aa56" providerId="LiveId" clId="{27FE0FFA-A80E-4EDD-8C7B-3E8BFD706AFE}" dt="2025-10-21T05:55:41.247" v="8"/>
        <pc:sldMkLst>
          <pc:docMk/>
          <pc:sldMk cId="0" sldId="270"/>
        </pc:sldMkLst>
        <pc:spChg chg="mod">
          <ac:chgData name="Manh Son Nguyen" userId="a28ae06bf666aa56" providerId="LiveId" clId="{27FE0FFA-A80E-4EDD-8C7B-3E8BFD706AFE}" dt="2025-10-21T05:55:41.247" v="8"/>
          <ac:spMkLst>
            <pc:docMk/>
            <pc:sldMk cId="0" sldId="270"/>
            <ac:spMk id="513026" creationId="{0E5AD457-22E4-5F71-9B72-C8535C031E77}"/>
          </ac:spMkLst>
        </pc:spChg>
      </pc:sldChg>
      <pc:sldChg chg="modSp">
        <pc:chgData name="Manh Son Nguyen" userId="a28ae06bf666aa56" providerId="LiveId" clId="{27FE0FFA-A80E-4EDD-8C7B-3E8BFD706AFE}" dt="2025-10-21T05:55:41.247" v="8"/>
        <pc:sldMkLst>
          <pc:docMk/>
          <pc:sldMk cId="0" sldId="273"/>
        </pc:sldMkLst>
        <pc:spChg chg="mod">
          <ac:chgData name="Manh Son Nguyen" userId="a28ae06bf666aa56" providerId="LiveId" clId="{27FE0FFA-A80E-4EDD-8C7B-3E8BFD706AFE}" dt="2025-10-21T05:55:41.247" v="8"/>
          <ac:spMkLst>
            <pc:docMk/>
            <pc:sldMk cId="0" sldId="273"/>
            <ac:spMk id="516098" creationId="{AA812790-0485-EA8C-F342-30DFD8F08F28}"/>
          </ac:spMkLst>
        </pc:spChg>
      </pc:sldChg>
      <pc:sldChg chg="modSp">
        <pc:chgData name="Manh Son Nguyen" userId="a28ae06bf666aa56" providerId="LiveId" clId="{27FE0FFA-A80E-4EDD-8C7B-3E8BFD706AFE}" dt="2025-10-21T05:55:41.247" v="8"/>
        <pc:sldMkLst>
          <pc:docMk/>
          <pc:sldMk cId="0" sldId="274"/>
        </pc:sldMkLst>
        <pc:spChg chg="mod">
          <ac:chgData name="Manh Son Nguyen" userId="a28ae06bf666aa56" providerId="LiveId" clId="{27FE0FFA-A80E-4EDD-8C7B-3E8BFD706AFE}" dt="2025-10-21T05:55:41.247" v="8"/>
          <ac:spMkLst>
            <pc:docMk/>
            <pc:sldMk cId="0" sldId="274"/>
            <ac:spMk id="517122" creationId="{84435F47-E342-20AE-836D-8BBB9CA9F2FA}"/>
          </ac:spMkLst>
        </pc:spChg>
      </pc:sldChg>
      <pc:sldChg chg="modSp">
        <pc:chgData name="Manh Son Nguyen" userId="a28ae06bf666aa56" providerId="LiveId" clId="{27FE0FFA-A80E-4EDD-8C7B-3E8BFD706AFE}" dt="2025-10-21T05:55:41.247" v="8"/>
        <pc:sldMkLst>
          <pc:docMk/>
          <pc:sldMk cId="0" sldId="275"/>
        </pc:sldMkLst>
        <pc:spChg chg="mod">
          <ac:chgData name="Manh Son Nguyen" userId="a28ae06bf666aa56" providerId="LiveId" clId="{27FE0FFA-A80E-4EDD-8C7B-3E8BFD706AFE}" dt="2025-10-21T05:55:41.247" v="8"/>
          <ac:spMkLst>
            <pc:docMk/>
            <pc:sldMk cId="0" sldId="275"/>
            <ac:spMk id="518146" creationId="{62AAAFE8-1274-658E-A251-74128D5D8F61}"/>
          </ac:spMkLst>
        </pc:spChg>
      </pc:sldChg>
      <pc:sldChg chg="modSp">
        <pc:chgData name="Manh Son Nguyen" userId="a28ae06bf666aa56" providerId="LiveId" clId="{27FE0FFA-A80E-4EDD-8C7B-3E8BFD706AFE}" dt="2025-10-21T05:55:41.247" v="8"/>
        <pc:sldMkLst>
          <pc:docMk/>
          <pc:sldMk cId="0" sldId="276"/>
        </pc:sldMkLst>
        <pc:spChg chg="mod">
          <ac:chgData name="Manh Son Nguyen" userId="a28ae06bf666aa56" providerId="LiveId" clId="{27FE0FFA-A80E-4EDD-8C7B-3E8BFD706AFE}" dt="2025-10-21T05:55:41.247" v="8"/>
          <ac:spMkLst>
            <pc:docMk/>
            <pc:sldMk cId="0" sldId="276"/>
            <ac:spMk id="519170" creationId="{7DE4EF1F-1C9A-938D-DDB5-1B568E43D651}"/>
          </ac:spMkLst>
        </pc:spChg>
      </pc:sldChg>
      <pc:sldChg chg="modSp">
        <pc:chgData name="Manh Son Nguyen" userId="a28ae06bf666aa56" providerId="LiveId" clId="{27FE0FFA-A80E-4EDD-8C7B-3E8BFD706AFE}" dt="2025-10-21T05:55:41.247" v="8"/>
        <pc:sldMkLst>
          <pc:docMk/>
          <pc:sldMk cId="0" sldId="277"/>
        </pc:sldMkLst>
        <pc:spChg chg="mod">
          <ac:chgData name="Manh Son Nguyen" userId="a28ae06bf666aa56" providerId="LiveId" clId="{27FE0FFA-A80E-4EDD-8C7B-3E8BFD706AFE}" dt="2025-10-21T05:55:41.247" v="8"/>
          <ac:spMkLst>
            <pc:docMk/>
            <pc:sldMk cId="0" sldId="277"/>
            <ac:spMk id="520194" creationId="{DFF98D01-F97E-DD1E-3321-4A4FCFD07283}"/>
          </ac:spMkLst>
        </pc:spChg>
      </pc:sldChg>
      <pc:sldChg chg="modSp">
        <pc:chgData name="Manh Son Nguyen" userId="a28ae06bf666aa56" providerId="LiveId" clId="{27FE0FFA-A80E-4EDD-8C7B-3E8BFD706AFE}" dt="2025-10-21T05:55:41.247" v="8"/>
        <pc:sldMkLst>
          <pc:docMk/>
          <pc:sldMk cId="0" sldId="278"/>
        </pc:sldMkLst>
        <pc:spChg chg="mod">
          <ac:chgData name="Manh Son Nguyen" userId="a28ae06bf666aa56" providerId="LiveId" clId="{27FE0FFA-A80E-4EDD-8C7B-3E8BFD706AFE}" dt="2025-10-21T05:55:41.247" v="8"/>
          <ac:spMkLst>
            <pc:docMk/>
            <pc:sldMk cId="0" sldId="278"/>
            <ac:spMk id="521218" creationId="{E78E4679-A852-B2DA-ADC9-5ED01C636D73}"/>
          </ac:spMkLst>
        </pc:spChg>
      </pc:sldChg>
      <pc:sldChg chg="modSp">
        <pc:chgData name="Manh Son Nguyen" userId="a28ae06bf666aa56" providerId="LiveId" clId="{27FE0FFA-A80E-4EDD-8C7B-3E8BFD706AFE}" dt="2025-10-21T05:55:41.247" v="8"/>
        <pc:sldMkLst>
          <pc:docMk/>
          <pc:sldMk cId="0" sldId="279"/>
        </pc:sldMkLst>
        <pc:spChg chg="mod">
          <ac:chgData name="Manh Son Nguyen" userId="a28ae06bf666aa56" providerId="LiveId" clId="{27FE0FFA-A80E-4EDD-8C7B-3E8BFD706AFE}" dt="2025-10-21T05:55:41.247" v="8"/>
          <ac:spMkLst>
            <pc:docMk/>
            <pc:sldMk cId="0" sldId="279"/>
            <ac:spMk id="522242" creationId="{65FB5F75-6377-1789-A3C4-62F8CD0FEEA6}"/>
          </ac:spMkLst>
        </pc:spChg>
      </pc:sldChg>
      <pc:sldChg chg="modSp">
        <pc:chgData name="Manh Son Nguyen" userId="a28ae06bf666aa56" providerId="LiveId" clId="{27FE0FFA-A80E-4EDD-8C7B-3E8BFD706AFE}" dt="2025-10-21T05:55:41.247" v="8"/>
        <pc:sldMkLst>
          <pc:docMk/>
          <pc:sldMk cId="0" sldId="280"/>
        </pc:sldMkLst>
        <pc:spChg chg="mod">
          <ac:chgData name="Manh Son Nguyen" userId="a28ae06bf666aa56" providerId="LiveId" clId="{27FE0FFA-A80E-4EDD-8C7B-3E8BFD706AFE}" dt="2025-10-21T05:55:41.247" v="8"/>
          <ac:spMkLst>
            <pc:docMk/>
            <pc:sldMk cId="0" sldId="280"/>
            <ac:spMk id="533506" creationId="{0E6F213F-D3B7-19D5-338D-0D7A0C4CC5F9}"/>
          </ac:spMkLst>
        </pc:spChg>
      </pc:sldChg>
      <pc:sldChg chg="modSp">
        <pc:chgData name="Manh Son Nguyen" userId="a28ae06bf666aa56" providerId="LiveId" clId="{27FE0FFA-A80E-4EDD-8C7B-3E8BFD706AFE}" dt="2025-10-21T05:55:41.247" v="8"/>
        <pc:sldMkLst>
          <pc:docMk/>
          <pc:sldMk cId="0" sldId="281"/>
        </pc:sldMkLst>
        <pc:spChg chg="mod">
          <ac:chgData name="Manh Son Nguyen" userId="a28ae06bf666aa56" providerId="LiveId" clId="{27FE0FFA-A80E-4EDD-8C7B-3E8BFD706AFE}" dt="2025-10-21T05:55:41.247" v="8"/>
          <ac:spMkLst>
            <pc:docMk/>
            <pc:sldMk cId="0" sldId="281"/>
            <ac:spMk id="534530" creationId="{08D4E7C7-286E-4ACF-81BA-0CD26E87BA90}"/>
          </ac:spMkLst>
        </pc:spChg>
      </pc:sldChg>
      <pc:sldChg chg="modSp">
        <pc:chgData name="Manh Son Nguyen" userId="a28ae06bf666aa56" providerId="LiveId" clId="{27FE0FFA-A80E-4EDD-8C7B-3E8BFD706AFE}" dt="2025-10-21T05:55:41.247" v="8"/>
        <pc:sldMkLst>
          <pc:docMk/>
          <pc:sldMk cId="0" sldId="282"/>
        </pc:sldMkLst>
        <pc:spChg chg="mod">
          <ac:chgData name="Manh Son Nguyen" userId="a28ae06bf666aa56" providerId="LiveId" clId="{27FE0FFA-A80E-4EDD-8C7B-3E8BFD706AFE}" dt="2025-10-21T05:55:41.247" v="8"/>
          <ac:spMkLst>
            <pc:docMk/>
            <pc:sldMk cId="0" sldId="282"/>
            <ac:spMk id="535554" creationId="{F1670363-4D69-4AC2-A2EB-C9190328C609}"/>
          </ac:spMkLst>
        </pc:spChg>
      </pc:sldChg>
      <pc:sldChg chg="modSp">
        <pc:chgData name="Manh Son Nguyen" userId="a28ae06bf666aa56" providerId="LiveId" clId="{27FE0FFA-A80E-4EDD-8C7B-3E8BFD706AFE}" dt="2025-10-21T05:55:41.247" v="8"/>
        <pc:sldMkLst>
          <pc:docMk/>
          <pc:sldMk cId="0" sldId="283"/>
        </pc:sldMkLst>
        <pc:spChg chg="mod">
          <ac:chgData name="Manh Son Nguyen" userId="a28ae06bf666aa56" providerId="LiveId" clId="{27FE0FFA-A80E-4EDD-8C7B-3E8BFD706AFE}" dt="2025-10-21T05:55:41.247" v="8"/>
          <ac:spMkLst>
            <pc:docMk/>
            <pc:sldMk cId="0" sldId="283"/>
            <ac:spMk id="536578" creationId="{31C6562E-95EB-F072-C44D-78654D98FD90}"/>
          </ac:spMkLst>
        </pc:spChg>
      </pc:sldChg>
      <pc:sldChg chg="modSp mod">
        <pc:chgData name="Manh Son Nguyen" userId="a28ae06bf666aa56" providerId="LiveId" clId="{27FE0FFA-A80E-4EDD-8C7B-3E8BFD706AFE}" dt="2025-10-21T06:03:00.164" v="116" actId="20577"/>
        <pc:sldMkLst>
          <pc:docMk/>
          <pc:sldMk cId="0" sldId="284"/>
        </pc:sldMkLst>
        <pc:spChg chg="mod">
          <ac:chgData name="Manh Son Nguyen" userId="a28ae06bf666aa56" providerId="LiveId" clId="{27FE0FFA-A80E-4EDD-8C7B-3E8BFD706AFE}" dt="2025-10-21T05:55:41.247" v="8"/>
          <ac:spMkLst>
            <pc:docMk/>
            <pc:sldMk cId="0" sldId="284"/>
            <ac:spMk id="537602" creationId="{7C4AEC6A-153C-6B16-13E1-CE1F0CC475D7}"/>
          </ac:spMkLst>
        </pc:spChg>
        <pc:spChg chg="mod">
          <ac:chgData name="Manh Son Nguyen" userId="a28ae06bf666aa56" providerId="LiveId" clId="{27FE0FFA-A80E-4EDD-8C7B-3E8BFD706AFE}" dt="2025-10-21T06:03:00.164" v="116" actId="20577"/>
          <ac:spMkLst>
            <pc:docMk/>
            <pc:sldMk cId="0" sldId="284"/>
            <ac:spMk id="537603" creationId="{03386F4F-77D8-F268-302B-07613B77F712}"/>
          </ac:spMkLst>
        </pc:spChg>
      </pc:sldChg>
      <pc:sldChg chg="modSp mod">
        <pc:chgData name="Manh Son Nguyen" userId="a28ae06bf666aa56" providerId="LiveId" clId="{27FE0FFA-A80E-4EDD-8C7B-3E8BFD706AFE}" dt="2025-10-21T06:03:31.868" v="120" actId="20577"/>
        <pc:sldMkLst>
          <pc:docMk/>
          <pc:sldMk cId="0" sldId="285"/>
        </pc:sldMkLst>
        <pc:spChg chg="mod">
          <ac:chgData name="Manh Son Nguyen" userId="a28ae06bf666aa56" providerId="LiveId" clId="{27FE0FFA-A80E-4EDD-8C7B-3E8BFD706AFE}" dt="2025-10-21T05:55:41.247" v="8"/>
          <ac:spMkLst>
            <pc:docMk/>
            <pc:sldMk cId="0" sldId="285"/>
            <ac:spMk id="538627" creationId="{6817386F-1A1D-7AF3-36B9-977553FDFC41}"/>
          </ac:spMkLst>
        </pc:spChg>
        <pc:spChg chg="mod">
          <ac:chgData name="Manh Son Nguyen" userId="a28ae06bf666aa56" providerId="LiveId" clId="{27FE0FFA-A80E-4EDD-8C7B-3E8BFD706AFE}" dt="2025-10-21T06:03:31.868" v="120" actId="20577"/>
          <ac:spMkLst>
            <pc:docMk/>
            <pc:sldMk cId="0" sldId="285"/>
            <ac:spMk id="538628" creationId="{9DC31D48-8297-DB83-9940-42496CCB6993}"/>
          </ac:spMkLst>
        </pc:spChg>
      </pc:sldChg>
      <pc:sldChg chg="modSp mod">
        <pc:chgData name="Manh Son Nguyen" userId="a28ae06bf666aa56" providerId="LiveId" clId="{27FE0FFA-A80E-4EDD-8C7B-3E8BFD706AFE}" dt="2025-10-21T06:04:07.708" v="121" actId="20577"/>
        <pc:sldMkLst>
          <pc:docMk/>
          <pc:sldMk cId="0" sldId="286"/>
        </pc:sldMkLst>
        <pc:spChg chg="mod">
          <ac:chgData name="Manh Son Nguyen" userId="a28ae06bf666aa56" providerId="LiveId" clId="{27FE0FFA-A80E-4EDD-8C7B-3E8BFD706AFE}" dt="2025-10-21T05:55:41.247" v="8"/>
          <ac:spMkLst>
            <pc:docMk/>
            <pc:sldMk cId="0" sldId="286"/>
            <ac:spMk id="539651" creationId="{56705386-EB16-FAA1-9F35-9DBA5667A3B9}"/>
          </ac:spMkLst>
        </pc:spChg>
        <pc:spChg chg="mod">
          <ac:chgData name="Manh Son Nguyen" userId="a28ae06bf666aa56" providerId="LiveId" clId="{27FE0FFA-A80E-4EDD-8C7B-3E8BFD706AFE}" dt="2025-10-21T06:04:07.708" v="121" actId="20577"/>
          <ac:spMkLst>
            <pc:docMk/>
            <pc:sldMk cId="0" sldId="286"/>
            <ac:spMk id="539652" creationId="{F7A86192-E665-956A-0000-211EE020C6F2}"/>
          </ac:spMkLst>
        </pc:spChg>
      </pc:sldChg>
      <pc:sldChg chg="add">
        <pc:chgData name="Manh Son Nguyen" userId="a28ae06bf666aa56" providerId="LiveId" clId="{27FE0FFA-A80E-4EDD-8C7B-3E8BFD706AFE}" dt="2025-10-21T06:08:23.795" v="122"/>
        <pc:sldMkLst>
          <pc:docMk/>
          <pc:sldMk cId="0" sldId="287"/>
        </pc:sldMkLst>
      </pc:sldChg>
      <pc:sldChg chg="modSp">
        <pc:chgData name="Manh Son Nguyen" userId="a28ae06bf666aa56" providerId="LiveId" clId="{27FE0FFA-A80E-4EDD-8C7B-3E8BFD706AFE}" dt="2025-10-21T05:55:41.247" v="8"/>
        <pc:sldMkLst>
          <pc:docMk/>
          <pc:sldMk cId="0" sldId="288"/>
        </pc:sldMkLst>
        <pc:spChg chg="mod">
          <ac:chgData name="Manh Son Nguyen" userId="a28ae06bf666aa56" providerId="LiveId" clId="{27FE0FFA-A80E-4EDD-8C7B-3E8BFD706AFE}" dt="2025-10-21T05:55:41.247" v="8"/>
          <ac:spMkLst>
            <pc:docMk/>
            <pc:sldMk cId="0" sldId="288"/>
            <ac:spMk id="542722" creationId="{150E3147-5110-5C7F-FCF7-87E258EC9968}"/>
          </ac:spMkLst>
        </pc:spChg>
      </pc:sldChg>
      <pc:sldChg chg="delSp modSp new mod">
        <pc:chgData name="Manh Son Nguyen" userId="a28ae06bf666aa56" providerId="LiveId" clId="{27FE0FFA-A80E-4EDD-8C7B-3E8BFD706AFE}" dt="2025-10-21T06:00:00.220" v="114" actId="20577"/>
        <pc:sldMkLst>
          <pc:docMk/>
          <pc:sldMk cId="4229262375" sldId="289"/>
        </pc:sldMkLst>
        <pc:spChg chg="mod">
          <ac:chgData name="Manh Son Nguyen" userId="a28ae06bf666aa56" providerId="LiveId" clId="{27FE0FFA-A80E-4EDD-8C7B-3E8BFD706AFE}" dt="2025-10-21T06:00:00.220" v="114" actId="20577"/>
          <ac:spMkLst>
            <pc:docMk/>
            <pc:sldMk cId="4229262375" sldId="289"/>
            <ac:spMk id="2" creationId="{1627BA31-4075-31BC-9203-3D379B5AE926}"/>
          </ac:spMkLst>
        </pc:spChg>
        <pc:spChg chg="del">
          <ac:chgData name="Manh Son Nguyen" userId="a28ae06bf666aa56" providerId="LiveId" clId="{27FE0FFA-A80E-4EDD-8C7B-3E8BFD706AFE}" dt="2025-10-21T05:58:53.686" v="33" actId="478"/>
          <ac:spMkLst>
            <pc:docMk/>
            <pc:sldMk cId="4229262375" sldId="289"/>
            <ac:spMk id="3" creationId="{2171D16E-8836-E76A-C42F-2F34824FBCAD}"/>
          </ac:spMkLst>
        </pc:spChg>
        <pc:spChg chg="del">
          <ac:chgData name="Manh Son Nguyen" userId="a28ae06bf666aa56" providerId="LiveId" clId="{27FE0FFA-A80E-4EDD-8C7B-3E8BFD706AFE}" dt="2025-10-21T05:58:51.574" v="32" actId="478"/>
          <ac:spMkLst>
            <pc:docMk/>
            <pc:sldMk cId="4229262375" sldId="289"/>
            <ac:spMk id="4" creationId="{0B0D95E4-ECD0-4466-0B17-3D69693FE06E}"/>
          </ac:spMkLst>
        </pc:spChg>
      </pc:sldChg>
      <pc:sldChg chg="add">
        <pc:chgData name="Manh Son Nguyen" userId="a28ae06bf666aa56" providerId="LiveId" clId="{27FE0FFA-A80E-4EDD-8C7B-3E8BFD706AFE}" dt="2025-10-21T06:08:23.795" v="122"/>
        <pc:sldMkLst>
          <pc:docMk/>
          <pc:sldMk cId="0" sldId="290"/>
        </pc:sldMkLst>
      </pc:sldChg>
      <pc:sldChg chg="add">
        <pc:chgData name="Manh Son Nguyen" userId="a28ae06bf666aa56" providerId="LiveId" clId="{27FE0FFA-A80E-4EDD-8C7B-3E8BFD706AFE}" dt="2025-10-21T06:08:23.795" v="122"/>
        <pc:sldMkLst>
          <pc:docMk/>
          <pc:sldMk cId="0" sldId="291"/>
        </pc:sldMkLst>
      </pc:sldChg>
      <pc:sldChg chg="add">
        <pc:chgData name="Manh Son Nguyen" userId="a28ae06bf666aa56" providerId="LiveId" clId="{27FE0FFA-A80E-4EDD-8C7B-3E8BFD706AFE}" dt="2025-10-21T06:08:23.795" v="122"/>
        <pc:sldMkLst>
          <pc:docMk/>
          <pc:sldMk cId="0" sldId="292"/>
        </pc:sldMkLst>
      </pc:sldChg>
      <pc:sldChg chg="add">
        <pc:chgData name="Manh Son Nguyen" userId="a28ae06bf666aa56" providerId="LiveId" clId="{27FE0FFA-A80E-4EDD-8C7B-3E8BFD706AFE}" dt="2025-10-21T06:08:23.795" v="122"/>
        <pc:sldMkLst>
          <pc:docMk/>
          <pc:sldMk cId="0" sldId="293"/>
        </pc:sldMkLst>
      </pc:sldChg>
      <pc:sldChg chg="add">
        <pc:chgData name="Manh Son Nguyen" userId="a28ae06bf666aa56" providerId="LiveId" clId="{27FE0FFA-A80E-4EDD-8C7B-3E8BFD706AFE}" dt="2025-10-21T06:08:23.795" v="122"/>
        <pc:sldMkLst>
          <pc:docMk/>
          <pc:sldMk cId="0" sldId="294"/>
        </pc:sldMkLst>
      </pc:sldChg>
      <pc:sldChg chg="add">
        <pc:chgData name="Manh Son Nguyen" userId="a28ae06bf666aa56" providerId="LiveId" clId="{27FE0FFA-A80E-4EDD-8C7B-3E8BFD706AFE}" dt="2025-10-21T06:08:23.795" v="122"/>
        <pc:sldMkLst>
          <pc:docMk/>
          <pc:sldMk cId="0" sldId="295"/>
        </pc:sldMkLst>
      </pc:sldChg>
      <pc:sldChg chg="add">
        <pc:chgData name="Manh Son Nguyen" userId="a28ae06bf666aa56" providerId="LiveId" clId="{27FE0FFA-A80E-4EDD-8C7B-3E8BFD706AFE}" dt="2025-10-21T06:08:23.795" v="122"/>
        <pc:sldMkLst>
          <pc:docMk/>
          <pc:sldMk cId="0" sldId="296"/>
        </pc:sldMkLst>
      </pc:sldChg>
      <pc:sldChg chg="add">
        <pc:chgData name="Manh Son Nguyen" userId="a28ae06bf666aa56" providerId="LiveId" clId="{27FE0FFA-A80E-4EDD-8C7B-3E8BFD706AFE}" dt="2025-10-21T06:08:23.795" v="122"/>
        <pc:sldMkLst>
          <pc:docMk/>
          <pc:sldMk cId="0" sldId="297"/>
        </pc:sldMkLst>
      </pc:sldChg>
      <pc:sldChg chg="add">
        <pc:chgData name="Manh Son Nguyen" userId="a28ae06bf666aa56" providerId="LiveId" clId="{27FE0FFA-A80E-4EDD-8C7B-3E8BFD706AFE}" dt="2025-10-21T06:08:23.795" v="122"/>
        <pc:sldMkLst>
          <pc:docMk/>
          <pc:sldMk cId="0" sldId="298"/>
        </pc:sldMkLst>
      </pc:sldChg>
      <pc:sldChg chg="add">
        <pc:chgData name="Manh Son Nguyen" userId="a28ae06bf666aa56" providerId="LiveId" clId="{27FE0FFA-A80E-4EDD-8C7B-3E8BFD706AFE}" dt="2025-10-21T06:08:23.795" v="122"/>
        <pc:sldMkLst>
          <pc:docMk/>
          <pc:sldMk cId="0" sldId="304"/>
        </pc:sldMkLst>
      </pc:sldChg>
      <pc:sldChg chg="add">
        <pc:chgData name="Manh Son Nguyen" userId="a28ae06bf666aa56" providerId="LiveId" clId="{27FE0FFA-A80E-4EDD-8C7B-3E8BFD706AFE}" dt="2025-10-21T06:08:23.795" v="122"/>
        <pc:sldMkLst>
          <pc:docMk/>
          <pc:sldMk cId="0" sldId="305"/>
        </pc:sldMkLst>
      </pc:sldChg>
      <pc:sldChg chg="add">
        <pc:chgData name="Manh Son Nguyen" userId="a28ae06bf666aa56" providerId="LiveId" clId="{27FE0FFA-A80E-4EDD-8C7B-3E8BFD706AFE}" dt="2025-10-21T06:08:23.795" v="122"/>
        <pc:sldMkLst>
          <pc:docMk/>
          <pc:sldMk cId="0" sldId="306"/>
        </pc:sldMkLst>
      </pc:sldChg>
      <pc:sldChg chg="add">
        <pc:chgData name="Manh Son Nguyen" userId="a28ae06bf666aa56" providerId="LiveId" clId="{27FE0FFA-A80E-4EDD-8C7B-3E8BFD706AFE}" dt="2025-10-21T06:08:23.795" v="122"/>
        <pc:sldMkLst>
          <pc:docMk/>
          <pc:sldMk cId="0" sldId="307"/>
        </pc:sldMkLst>
      </pc:sldChg>
      <pc:sldChg chg="modSp add">
        <pc:chgData name="Manh Son Nguyen" userId="a28ae06bf666aa56" providerId="LiveId" clId="{27FE0FFA-A80E-4EDD-8C7B-3E8BFD706AFE}" dt="2025-10-21T06:08:56.294" v="124" actId="404"/>
        <pc:sldMkLst>
          <pc:docMk/>
          <pc:sldMk cId="0" sldId="308"/>
        </pc:sldMkLst>
        <pc:spChg chg="mod">
          <ac:chgData name="Manh Son Nguyen" userId="a28ae06bf666aa56" providerId="LiveId" clId="{27FE0FFA-A80E-4EDD-8C7B-3E8BFD706AFE}" dt="2025-10-21T06:08:56.294" v="124" actId="404"/>
          <ac:spMkLst>
            <pc:docMk/>
            <pc:sldMk cId="0" sldId="308"/>
            <ac:spMk id="552963" creationId="{6ED2BD68-DA6F-3D41-C945-6613D364CED0}"/>
          </ac:spMkLst>
        </pc:spChg>
      </pc:sldChg>
      <pc:sldChg chg="add">
        <pc:chgData name="Manh Son Nguyen" userId="a28ae06bf666aa56" providerId="LiveId" clId="{27FE0FFA-A80E-4EDD-8C7B-3E8BFD706AFE}" dt="2025-10-21T06:08:23.795" v="122"/>
        <pc:sldMkLst>
          <pc:docMk/>
          <pc:sldMk cId="0" sldId="309"/>
        </pc:sldMkLst>
      </pc:sldChg>
      <pc:sldChg chg="add">
        <pc:chgData name="Manh Son Nguyen" userId="a28ae06bf666aa56" providerId="LiveId" clId="{27FE0FFA-A80E-4EDD-8C7B-3E8BFD706AFE}" dt="2025-10-21T06:08:23.795" v="122"/>
        <pc:sldMkLst>
          <pc:docMk/>
          <pc:sldMk cId="0" sldId="310"/>
        </pc:sldMkLst>
      </pc:sldChg>
      <pc:sldChg chg="add">
        <pc:chgData name="Manh Son Nguyen" userId="a28ae06bf666aa56" providerId="LiveId" clId="{27FE0FFA-A80E-4EDD-8C7B-3E8BFD706AFE}" dt="2025-10-21T06:08:23.795" v="122"/>
        <pc:sldMkLst>
          <pc:docMk/>
          <pc:sldMk cId="0" sldId="311"/>
        </pc:sldMkLst>
      </pc:sldChg>
      <pc:sldChg chg="add">
        <pc:chgData name="Manh Son Nguyen" userId="a28ae06bf666aa56" providerId="LiveId" clId="{27FE0FFA-A80E-4EDD-8C7B-3E8BFD706AFE}" dt="2025-10-21T06:08:23.795" v="122"/>
        <pc:sldMkLst>
          <pc:docMk/>
          <pc:sldMk cId="0" sldId="313"/>
        </pc:sldMkLst>
      </pc:sldChg>
      <pc:sldMasterChg chg="addSp">
        <pc:chgData name="Manh Son Nguyen" userId="a28ae06bf666aa56" providerId="LiveId" clId="{27FE0FFA-A80E-4EDD-8C7B-3E8BFD706AFE}" dt="2025-10-21T05:54:02.056" v="0"/>
        <pc:sldMasterMkLst>
          <pc:docMk/>
          <pc:sldMasterMk cId="423806719" sldId="2147483661"/>
        </pc:sldMasterMkLst>
        <pc:spChg chg="add">
          <ac:chgData name="Manh Son Nguyen" userId="a28ae06bf666aa56" providerId="LiveId" clId="{27FE0FFA-A80E-4EDD-8C7B-3E8BFD706AFE}" dt="2025-10-21T05:54:02.056" v="0"/>
          <ac:spMkLst>
            <pc:docMk/>
            <pc:sldMasterMk cId="423806719" sldId="2147483661"/>
            <ac:spMk id="2" creationId="{B4E92831-9FE4-9DAC-DB38-EFA4EC14FDE1}"/>
          </ac:spMkLst>
        </pc:spChg>
        <pc:spChg chg="add">
          <ac:chgData name="Manh Son Nguyen" userId="a28ae06bf666aa56" providerId="LiveId" clId="{27FE0FFA-A80E-4EDD-8C7B-3E8BFD706AFE}" dt="2025-10-21T05:54:02.056" v="0"/>
          <ac:spMkLst>
            <pc:docMk/>
            <pc:sldMasterMk cId="423806719" sldId="2147483661"/>
            <ac:spMk id="3" creationId="{F8D57A75-5C02-E25A-184F-3EEC762AA3C1}"/>
          </ac:spMkLst>
        </pc:spChg>
        <pc:cxnChg chg="add">
          <ac:chgData name="Manh Son Nguyen" userId="a28ae06bf666aa56" providerId="LiveId" clId="{27FE0FFA-A80E-4EDD-8C7B-3E8BFD706AFE}" dt="2025-10-21T05:54:02.056" v="0"/>
          <ac:cxnSpMkLst>
            <pc:docMk/>
            <pc:sldMasterMk cId="423806719" sldId="2147483661"/>
            <ac:cxnSpMk id="4" creationId="{126F8FB4-B262-57C8-05A6-28927D895766}"/>
          </ac:cxnSpMkLst>
        </pc:cxnChg>
      </pc:sldMasterChg>
      <pc:sldMasterChg chg="addSp">
        <pc:chgData name="Manh Son Nguyen" userId="a28ae06bf666aa56" providerId="LiveId" clId="{27FE0FFA-A80E-4EDD-8C7B-3E8BFD706AFE}" dt="2025-10-21T05:55:38.914" v="7"/>
        <pc:sldMasterMkLst>
          <pc:docMk/>
          <pc:sldMasterMk cId="3048874737" sldId="2147483689"/>
        </pc:sldMasterMkLst>
        <pc:spChg chg="add">
          <ac:chgData name="Manh Son Nguyen" userId="a28ae06bf666aa56" providerId="LiveId" clId="{27FE0FFA-A80E-4EDD-8C7B-3E8BFD706AFE}" dt="2025-10-21T05:55:38.914" v="7"/>
          <ac:spMkLst>
            <pc:docMk/>
            <pc:sldMasterMk cId="3048874737" sldId="2147483689"/>
            <ac:spMk id="2" creationId="{F7839F3F-5A37-3540-F727-3794833DA2C0}"/>
          </ac:spMkLst>
        </pc:spChg>
        <pc:spChg chg="add">
          <ac:chgData name="Manh Son Nguyen" userId="a28ae06bf666aa56" providerId="LiveId" clId="{27FE0FFA-A80E-4EDD-8C7B-3E8BFD706AFE}" dt="2025-10-21T05:55:38.914" v="7"/>
          <ac:spMkLst>
            <pc:docMk/>
            <pc:sldMasterMk cId="3048874737" sldId="2147483689"/>
            <ac:spMk id="3" creationId="{32889FAF-519D-8E9C-8EA9-2B84C9544E33}"/>
          </ac:spMkLst>
        </pc:spChg>
        <pc:cxnChg chg="add">
          <ac:chgData name="Manh Son Nguyen" userId="a28ae06bf666aa56" providerId="LiveId" clId="{27FE0FFA-A80E-4EDD-8C7B-3E8BFD706AFE}" dt="2025-10-21T05:55:38.914" v="7"/>
          <ac:cxnSpMkLst>
            <pc:docMk/>
            <pc:sldMasterMk cId="3048874737" sldId="2147483689"/>
            <ac:cxnSpMk id="4" creationId="{FF626FF2-339E-D7A6-384B-D1B755249F29}"/>
          </ac:cxnSpMkLst>
        </pc:cxnChg>
      </pc:sldMasterChg>
      <pc:sldMasterChg chg="addSp modSldLayout">
        <pc:chgData name="Manh Son Nguyen" userId="a28ae06bf666aa56" providerId="LiveId" clId="{27FE0FFA-A80E-4EDD-8C7B-3E8BFD706AFE}" dt="2025-10-21T05:57:01.559" v="20" actId="404"/>
        <pc:sldMasterMkLst>
          <pc:docMk/>
          <pc:sldMasterMk cId="686281337" sldId="2147483717"/>
        </pc:sldMasterMkLst>
        <pc:spChg chg="add">
          <ac:chgData name="Manh Son Nguyen" userId="a28ae06bf666aa56" providerId="LiveId" clId="{27FE0FFA-A80E-4EDD-8C7B-3E8BFD706AFE}" dt="2025-10-21T05:55:41.247" v="8"/>
          <ac:spMkLst>
            <pc:docMk/>
            <pc:sldMasterMk cId="686281337" sldId="2147483717"/>
            <ac:spMk id="3" creationId="{549130F6-273D-FA6F-BB71-E7B824331536}"/>
          </ac:spMkLst>
        </pc:spChg>
        <pc:spChg chg="add">
          <ac:chgData name="Manh Son Nguyen" userId="a28ae06bf666aa56" providerId="LiveId" clId="{27FE0FFA-A80E-4EDD-8C7B-3E8BFD706AFE}" dt="2025-10-21T05:55:41.247" v="8"/>
          <ac:spMkLst>
            <pc:docMk/>
            <pc:sldMasterMk cId="686281337" sldId="2147483717"/>
            <ac:spMk id="4" creationId="{42D375D7-FDED-BE85-FAB6-5F9E7A352C25}"/>
          </ac:spMkLst>
        </pc:spChg>
        <pc:cxnChg chg="add">
          <ac:chgData name="Manh Son Nguyen" userId="a28ae06bf666aa56" providerId="LiveId" clId="{27FE0FFA-A80E-4EDD-8C7B-3E8BFD706AFE}" dt="2025-10-21T05:55:41.247" v="8"/>
          <ac:cxnSpMkLst>
            <pc:docMk/>
            <pc:sldMasterMk cId="686281337" sldId="2147483717"/>
            <ac:cxnSpMk id="5" creationId="{7F2550E4-4E49-2A9B-1302-D037C2BD4BC7}"/>
          </ac:cxnSpMkLst>
        </pc:cxnChg>
        <pc:sldLayoutChg chg="modSp">
          <pc:chgData name="Manh Son Nguyen" userId="a28ae06bf666aa56" providerId="LiveId" clId="{27FE0FFA-A80E-4EDD-8C7B-3E8BFD706AFE}" dt="2025-10-21T05:57:01.559" v="20" actId="404"/>
          <pc:sldLayoutMkLst>
            <pc:docMk/>
            <pc:sldMasterMk cId="686281337" sldId="2147483717"/>
            <pc:sldLayoutMk cId="1431692574" sldId="2147483720"/>
          </pc:sldLayoutMkLst>
          <pc:spChg chg="mod">
            <ac:chgData name="Manh Son Nguyen" userId="a28ae06bf666aa56" providerId="LiveId" clId="{27FE0FFA-A80E-4EDD-8C7B-3E8BFD706AFE}" dt="2025-10-21T05:57:01.559" v="20" actId="404"/>
            <ac:spMkLst>
              <pc:docMk/>
              <pc:sldMasterMk cId="686281337" sldId="2147483717"/>
              <pc:sldLayoutMk cId="1431692574" sldId="2147483720"/>
              <ac:spMk id="3" creationId="{00000000-0000-0000-0000-000000000000}"/>
            </ac:spMkLst>
          </pc:spChg>
          <pc:spChg chg="mod">
            <ac:chgData name="Manh Son Nguyen" userId="a28ae06bf666aa56" providerId="LiveId" clId="{27FE0FFA-A80E-4EDD-8C7B-3E8BFD706AFE}" dt="2025-10-21T05:56:49.419" v="18" actId="403"/>
            <ac:spMkLst>
              <pc:docMk/>
              <pc:sldMasterMk cId="686281337" sldId="2147483717"/>
              <pc:sldLayoutMk cId="1431692574" sldId="2147483720"/>
              <ac:spMk id="7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A0EF15C-36E0-713A-0717-DC9A5D4F98C3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7495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262" tIns="42131" rIns="84262" bIns="42131" numCol="1" anchor="t" anchorCtr="0" compatLnSpc="1">
            <a:prstTxWarp prst="textNoShape">
              <a:avLst/>
            </a:prstTxWarp>
          </a:bodyPr>
          <a:lstStyle>
            <a:lvl1pPr algn="l" defTabSz="842963">
              <a:defRPr sz="1100"/>
            </a:lvl1pPr>
          </a:lstStyle>
          <a:p>
            <a:endParaRPr lang="vi-VN" alt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6CB47D-9D85-E6A5-4F58-38FBC04BD1C9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xfrm>
            <a:off x="3592513" y="0"/>
            <a:ext cx="27495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262" tIns="42131" rIns="84262" bIns="42131" numCol="1" anchor="t" anchorCtr="0" compatLnSpc="1">
            <a:prstTxWarp prst="textNoShape">
              <a:avLst/>
            </a:prstTxWarp>
          </a:bodyPr>
          <a:lstStyle>
            <a:lvl1pPr defTabSz="842963">
              <a:defRPr sz="1100"/>
            </a:lvl1pPr>
          </a:lstStyle>
          <a:p>
            <a:fld id="{2FD610A5-0AF8-44B3-A317-89CCF007F08A}" type="datetimeFigureOut">
              <a:rPr lang="en-US" altLang="vi-VN"/>
              <a:pPr/>
              <a:t>10/21/2025</a:t>
            </a:fld>
            <a:endParaRPr lang="en-US" alt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0EF3EE-6937-DC7F-CB80-0B2E7226D5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 bwMode="auto">
          <a:xfrm>
            <a:off x="0" y="7980363"/>
            <a:ext cx="2749550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262" tIns="42131" rIns="84262" bIns="42131" numCol="1" anchor="b" anchorCtr="0" compatLnSpc="1">
            <a:prstTxWarp prst="textNoShape">
              <a:avLst/>
            </a:prstTxWarp>
          </a:bodyPr>
          <a:lstStyle>
            <a:lvl1pPr algn="l" defTabSz="842963">
              <a:defRPr sz="1100"/>
            </a:lvl1pPr>
          </a:lstStyle>
          <a:p>
            <a:endParaRPr lang="vi-VN" alt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1E2914-4625-E102-3784-6F7A7453C4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 bwMode="auto">
          <a:xfrm>
            <a:off x="3592513" y="7980363"/>
            <a:ext cx="2749550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262" tIns="42131" rIns="84262" bIns="42131" numCol="1" anchor="b" anchorCtr="0" compatLnSpc="1">
            <a:prstTxWarp prst="textNoShape">
              <a:avLst/>
            </a:prstTxWarp>
          </a:bodyPr>
          <a:lstStyle>
            <a:lvl1pPr defTabSz="842963">
              <a:defRPr sz="1100"/>
            </a:lvl1pPr>
          </a:lstStyle>
          <a:p>
            <a:fld id="{08885D81-3B38-43C9-BF19-CEFBC0326AE6}" type="slidenum">
              <a:rPr lang="en-US" altLang="vi-VN"/>
              <a:pPr/>
              <a:t>‹#›</a:t>
            </a:fld>
            <a:endParaRPr lang="en-US" alt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15A3899-618A-9227-DDD4-6FF34B98669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7495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262" tIns="42131" rIns="84262" bIns="42131" numCol="1" anchor="t" anchorCtr="0" compatLnSpc="1">
            <a:prstTxWarp prst="textNoShape">
              <a:avLst/>
            </a:prstTxWarp>
          </a:bodyPr>
          <a:lstStyle>
            <a:lvl1pPr algn="l" defTabSz="842963">
              <a:defRPr sz="1100"/>
            </a:lvl1pPr>
          </a:lstStyle>
          <a:p>
            <a:endParaRPr lang="vi-VN" altLang="vi-VN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221C2222-8657-81D7-D866-EBE890044CE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592513" y="0"/>
            <a:ext cx="27495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262" tIns="42131" rIns="84262" bIns="42131" numCol="1" anchor="t" anchorCtr="0" compatLnSpc="1">
            <a:prstTxWarp prst="textNoShape">
              <a:avLst/>
            </a:prstTxWarp>
          </a:bodyPr>
          <a:lstStyle>
            <a:lvl1pPr defTabSz="842963">
              <a:defRPr sz="1100"/>
            </a:lvl1pPr>
          </a:lstStyle>
          <a:p>
            <a:endParaRPr lang="vi-VN" altLang="vi-VN"/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5849171B-F68F-99A1-7644-8DD5A5789452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071563" y="630238"/>
            <a:ext cx="4202112" cy="31511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62525686-0B5F-9444-1A0F-22F3F791434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35000" y="3990975"/>
            <a:ext cx="5073650" cy="378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262" tIns="42131" rIns="84262" bIns="421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223D1CE7-6373-1FFF-B3AB-9DB5F242910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7980363"/>
            <a:ext cx="2749550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262" tIns="42131" rIns="84262" bIns="42131" numCol="1" anchor="b" anchorCtr="0" compatLnSpc="1">
            <a:prstTxWarp prst="textNoShape">
              <a:avLst/>
            </a:prstTxWarp>
          </a:bodyPr>
          <a:lstStyle>
            <a:lvl1pPr algn="l" defTabSz="842963">
              <a:defRPr sz="1100"/>
            </a:lvl1pPr>
          </a:lstStyle>
          <a:p>
            <a:endParaRPr lang="vi-VN" altLang="vi-VN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4F3C3412-CEB3-3156-1011-E72812BA0A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592513" y="7980363"/>
            <a:ext cx="2749550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262" tIns="42131" rIns="84262" bIns="42131" numCol="1" anchor="b" anchorCtr="0" compatLnSpc="1">
            <a:prstTxWarp prst="textNoShape">
              <a:avLst/>
            </a:prstTxWarp>
          </a:bodyPr>
          <a:lstStyle>
            <a:lvl1pPr defTabSz="842963">
              <a:defRPr sz="1100"/>
            </a:lvl1pPr>
          </a:lstStyle>
          <a:p>
            <a:fld id="{93989A3C-F736-494C-BD79-CAFABB4D49FA}" type="slidenum">
              <a:rPr lang="en-US" altLang="vi-VN"/>
              <a:pPr/>
              <a:t>‹#›</a:t>
            </a:fld>
            <a:endParaRPr lang="en-US" alt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Rectangle 2">
            <a:extLst>
              <a:ext uri="{FF2B5EF4-FFF2-40B4-BE49-F238E27FC236}">
                <a16:creationId xmlns:a16="http://schemas.microsoft.com/office/drawing/2014/main" id="{7D3E7332-29C1-6F6E-B443-40F1746AFCD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8691" name="Rectangle 3">
            <a:extLst>
              <a:ext uri="{FF2B5EF4-FFF2-40B4-BE49-F238E27FC236}">
                <a16:creationId xmlns:a16="http://schemas.microsoft.com/office/drawing/2014/main" id="{6FB198D5-A685-83B8-A189-10210BD6E5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vi-VN">
                <a:latin typeface="Arial" panose="020B0604020202020204" pitchFamily="34" charset="0"/>
              </a:rPr>
              <a:t>use jGRASP/DrJava Interactions window to create a list and add some elements, get them, check size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02" name="Rectangle 2">
            <a:extLst>
              <a:ext uri="{FF2B5EF4-FFF2-40B4-BE49-F238E27FC236}">
                <a16:creationId xmlns:a16="http://schemas.microsoft.com/office/drawing/2014/main" id="{289D69A5-1A05-3879-189F-A45DEF48C7F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FB2F0EBE-B5C0-8642-DE8E-A759A356DC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vi-VN">
                <a:latin typeface="Arial" panose="020B0604020202020204" pitchFamily="34" charset="0"/>
              </a:rPr>
              <a:t>examining each element once is like 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g bì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>
            <a:extLst>
              <a:ext uri="{FF2B5EF4-FFF2-40B4-BE49-F238E27FC236}">
                <a16:creationId xmlns:a16="http://schemas.microsoft.com/office/drawing/2014/main" id="{499D0EEA-80C8-0CDA-251E-1ECA8EA375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0495" y="2078018"/>
            <a:ext cx="5732807" cy="21811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33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0496" y="4535992"/>
            <a:ext cx="3830682" cy="1278213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rgbClr val="F9E3E6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1060847" y="1569800"/>
            <a:ext cx="5732859" cy="431800"/>
          </a:xfrm>
        </p:spPr>
        <p:txBody>
          <a:bodyPr anchor="ctr">
            <a:normAutofit/>
          </a:bodyPr>
          <a:lstStyle>
            <a:lvl1pPr marL="0" indent="0">
              <a:buNone/>
              <a:defRPr sz="135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0884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g nộ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>
            <a:extLst>
              <a:ext uri="{FF2B5EF4-FFF2-40B4-BE49-F238E27FC236}">
                <a16:creationId xmlns:a16="http://schemas.microsoft.com/office/drawing/2014/main" id="{CA0095A5-BCC1-53A6-18B1-7CC5B88C31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5" y="455613"/>
            <a:ext cx="384175" cy="50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0589" y="365126"/>
            <a:ext cx="7294762" cy="747683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CF294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659920" y="1285875"/>
            <a:ext cx="7855430" cy="4692650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500"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10415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F896497A-9577-09F6-A10D-C76C69DCE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F1E28E54-35A0-4730-9420-F7553D0021F6}" type="slidenum">
              <a:rPr lang="en-US" altLang="vi-VN" smtClean="0">
                <a:solidFill>
                  <a:schemeClr val="bg1"/>
                </a:solidFill>
                <a:latin typeface="Corbel" panose="020B0503020204020204" pitchFamily="34" charset="0"/>
              </a:rPr>
              <a:pPr algn="ctr" eaLnBrk="1" hangingPunct="1">
                <a:defRPr/>
              </a:pPr>
              <a:t>‹#›</a:t>
            </a:fld>
            <a:endParaRPr lang="en-US" altLang="vi-VN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sp>
        <p:nvSpPr>
          <p:cNvPr id="4" name="Text Box 18">
            <a:extLst>
              <a:ext uri="{FF2B5EF4-FFF2-40B4-BE49-F238E27FC236}">
                <a16:creationId xmlns:a16="http://schemas.microsoft.com/office/drawing/2014/main" id="{A67FB683-3DA7-D6B7-1247-B9AA5BBF5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6324600"/>
            <a:ext cx="28194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1211"/>
            <a:ext cx="8229600" cy="4800600"/>
          </a:xfrm>
        </p:spPr>
        <p:txBody>
          <a:bodyPr/>
          <a:lstStyle>
            <a:lvl1pPr marL="457200" indent="-457200">
              <a:buFont typeface="Wingdings" panose="05000000000000000000" pitchFamily="2" charset="2"/>
              <a:buChar char="§"/>
              <a:defRPr sz="2000" b="0">
                <a:latin typeface="Arial" pitchFamily="34" charset="0"/>
                <a:cs typeface="Arial" pitchFamily="34" charset="0"/>
              </a:defRPr>
            </a:lvl1pPr>
            <a:lvl2pPr>
              <a:defRPr sz="2000">
                <a:latin typeface="Arial" pitchFamily="34" charset="0"/>
                <a:cs typeface="Arial" pitchFamily="34" charset="0"/>
              </a:defRPr>
            </a:lvl2pPr>
            <a:lvl3pPr>
              <a:defRPr sz="1600">
                <a:latin typeface="Arial" pitchFamily="34" charset="0"/>
                <a:cs typeface="Arial" pitchFamily="34" charset="0"/>
              </a:defRPr>
            </a:lvl3pPr>
            <a:lvl4pPr>
              <a:defRPr sz="1400">
                <a:latin typeface="Arial" pitchFamily="34" charset="0"/>
                <a:cs typeface="Arial" pitchFamily="34" charset="0"/>
              </a:defRPr>
            </a:lvl4pPr>
            <a:lvl5pPr>
              <a:defRPr sz="14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28650" y="166687"/>
            <a:ext cx="7886700" cy="1325563"/>
          </a:xfrm>
        </p:spPr>
        <p:txBody>
          <a:bodyPr/>
          <a:lstStyle>
            <a:lvl1pPr>
              <a:defRPr sz="3600" b="1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6171B81-5975-EC14-FEF6-F609CF7CBC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692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9DE0D1-83EC-7027-66E1-5527CA11FCB7}"/>
              </a:ext>
            </a:extLst>
          </p:cNvPr>
          <p:cNvSpPr/>
          <p:nvPr/>
        </p:nvSpPr>
        <p:spPr>
          <a:xfrm>
            <a:off x="192088" y="265113"/>
            <a:ext cx="8763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endParaRPr lang="en-US" sz="135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51D6857-887D-D774-FDF8-1ECAEA79FDA1}"/>
              </a:ext>
            </a:extLst>
          </p:cNvPr>
          <p:cNvCxnSpPr/>
          <p:nvPr/>
        </p:nvCxnSpPr>
        <p:spPr>
          <a:xfrm>
            <a:off x="454025" y="1196975"/>
            <a:ext cx="8235950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9">
            <a:extLst>
              <a:ext uri="{FF2B5EF4-FFF2-40B4-BE49-F238E27FC236}">
                <a16:creationId xmlns:a16="http://schemas.microsoft.com/office/drawing/2014/main" id="{4275E3A6-F01A-BDA0-E107-867B1911DF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638" y="298450"/>
            <a:ext cx="668337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0906" y="448056"/>
            <a:ext cx="5157839" cy="640080"/>
          </a:xfrm>
        </p:spPr>
        <p:txBody>
          <a:bodyPr anchor="b">
            <a:normAutofit/>
          </a:bodyPr>
          <a:lstStyle>
            <a:lvl1pPr>
              <a:defRPr sz="2100" b="1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04622" y="1435608"/>
            <a:ext cx="3312414" cy="3977640"/>
          </a:xfrm>
        </p:spPr>
        <p:txBody>
          <a:bodyPr rtlCol="0">
            <a:normAutofit/>
          </a:bodyPr>
          <a:lstStyle>
            <a:lvl1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64F393-5715-F626-1E94-6E93E2BC2B37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404813" y="6203950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0E202DEB-6D32-4EB6-ACAD-EA7D376EF25F}" type="datetimeFigureOut">
              <a:rPr lang="en-US" smtClean="0"/>
              <a:pPr>
                <a:defRPr/>
              </a:pPr>
              <a:t>10/21/2025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974F845-07E6-E70E-143C-BCA519E5EB0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486150" y="62039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12B2C7B-1D3B-E571-1E41-C182F7FC624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278563" y="6203950"/>
            <a:ext cx="24574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595959"/>
                </a:solidFill>
              </a:defRPr>
            </a:lvl1pPr>
          </a:lstStyle>
          <a:p>
            <a:fld id="{B9D5DB9E-0089-4DBB-B4DE-FAE6F7E3BAB1}" type="slidenum">
              <a:rPr lang="en-US" altLang="vi-VN" smtClean="0"/>
              <a:pPr/>
              <a:t>‹#›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3021871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4203D2-400B-9200-77D9-43ED0E0F1436}"/>
              </a:ext>
            </a:extLst>
          </p:cNvPr>
          <p:cNvSpPr/>
          <p:nvPr/>
        </p:nvSpPr>
        <p:spPr>
          <a:xfrm>
            <a:off x="192088" y="265113"/>
            <a:ext cx="8763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endParaRPr lang="en-US" sz="135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ADFFC56-3731-1748-4FC9-8A60F8B92017}"/>
              </a:ext>
            </a:extLst>
          </p:cNvPr>
          <p:cNvCxnSpPr/>
          <p:nvPr/>
        </p:nvCxnSpPr>
        <p:spPr>
          <a:xfrm>
            <a:off x="454025" y="1196975"/>
            <a:ext cx="8235950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9">
            <a:extLst>
              <a:ext uri="{FF2B5EF4-FFF2-40B4-BE49-F238E27FC236}">
                <a16:creationId xmlns:a16="http://schemas.microsoft.com/office/drawing/2014/main" id="{E7E4A99D-C38B-A5AA-FF0E-256A90E10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638" y="298450"/>
            <a:ext cx="668337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0906" y="448056"/>
            <a:ext cx="5157839" cy="640080"/>
          </a:xfrm>
        </p:spPr>
        <p:txBody>
          <a:bodyPr anchor="b">
            <a:normAutofit/>
          </a:bodyPr>
          <a:lstStyle>
            <a:lvl1pPr>
              <a:defRPr sz="21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04622" y="1435608"/>
            <a:ext cx="3312414" cy="3977640"/>
          </a:xfrm>
        </p:spPr>
        <p:txBody>
          <a:bodyPr rtlCol="0">
            <a:normAutofit/>
          </a:bodyPr>
          <a:lstStyle>
            <a:lvl1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1B211CE-1FDC-A608-D1CC-BDB1469AC54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404813" y="6203950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40A13263-2013-4B2B-93DB-619AE6B11008}" type="datetimeFigureOut">
              <a:rPr lang="en-US" smtClean="0"/>
              <a:pPr>
                <a:defRPr/>
              </a:pPr>
              <a:t>10/21/2025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F649D21-537F-F232-117E-B00D1411608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486150" y="62039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17221F-7239-796E-D531-5C835F6E5A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278563" y="6203950"/>
            <a:ext cx="24574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595959"/>
                </a:solidFill>
              </a:defRPr>
            </a:lvl1pPr>
          </a:lstStyle>
          <a:p>
            <a:fld id="{B9D5DB9E-0089-4DBB-B4DE-FAE6F7E3BAB1}" type="slidenum">
              <a:rPr lang="en-US" altLang="vi-VN" smtClean="0"/>
              <a:pPr/>
              <a:t>‹#›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79272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383078-B482-0A4E-F989-70DDDE4790B9}"/>
              </a:ext>
            </a:extLst>
          </p:cNvPr>
          <p:cNvSpPr/>
          <p:nvPr/>
        </p:nvSpPr>
        <p:spPr>
          <a:xfrm>
            <a:off x="192088" y="265113"/>
            <a:ext cx="8763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endParaRPr lang="en-US" sz="135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E731A46-051D-C587-4480-F8FF1A03358B}"/>
              </a:ext>
            </a:extLst>
          </p:cNvPr>
          <p:cNvCxnSpPr/>
          <p:nvPr/>
        </p:nvCxnSpPr>
        <p:spPr>
          <a:xfrm>
            <a:off x="454025" y="1196975"/>
            <a:ext cx="8235950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9">
            <a:extLst>
              <a:ext uri="{FF2B5EF4-FFF2-40B4-BE49-F238E27FC236}">
                <a16:creationId xmlns:a16="http://schemas.microsoft.com/office/drawing/2014/main" id="{F416E08A-8254-3106-F9AE-FB744774A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638" y="298450"/>
            <a:ext cx="668337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0906" y="448056"/>
            <a:ext cx="5157839" cy="640080"/>
          </a:xfrm>
        </p:spPr>
        <p:txBody>
          <a:bodyPr anchor="b">
            <a:normAutofit/>
          </a:bodyPr>
          <a:lstStyle>
            <a:lvl1pPr>
              <a:defRPr sz="21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04622" y="1435608"/>
            <a:ext cx="3312414" cy="3977640"/>
          </a:xfrm>
        </p:spPr>
        <p:txBody>
          <a:bodyPr rtlCol="0">
            <a:normAutofit/>
          </a:bodyPr>
          <a:lstStyle>
            <a:lvl1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EC32539-9660-68A8-0E2D-513D35B1EC61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404813" y="6203950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69E2C70D-FA47-458F-9A38-2FC6059158B4}" type="datetimeFigureOut">
              <a:rPr lang="en-US" smtClean="0"/>
              <a:pPr>
                <a:defRPr/>
              </a:pPr>
              <a:t>10/21/2025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6F5685F-13B1-0864-3CA8-5075ADFD39E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486150" y="62039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B4B0B9-393F-B631-96B5-C10D5295B1F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278563" y="6203950"/>
            <a:ext cx="24574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595959"/>
                </a:solidFill>
              </a:defRPr>
            </a:lvl1pPr>
          </a:lstStyle>
          <a:p>
            <a:fld id="{B9D5DB9E-0089-4DBB-B4DE-FAE6F7E3BAB1}" type="slidenum">
              <a:rPr lang="en-US" altLang="vi-VN" smtClean="0"/>
              <a:pPr/>
              <a:t>‹#›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619328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83772E-025C-A120-49BA-1CCB513447B9}"/>
              </a:ext>
            </a:extLst>
          </p:cNvPr>
          <p:cNvSpPr/>
          <p:nvPr/>
        </p:nvSpPr>
        <p:spPr>
          <a:xfrm>
            <a:off x="192088" y="265113"/>
            <a:ext cx="8763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endParaRPr lang="en-US" sz="135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92B9F78-3F96-E063-DA4B-22FD601D540F}"/>
              </a:ext>
            </a:extLst>
          </p:cNvPr>
          <p:cNvCxnSpPr/>
          <p:nvPr/>
        </p:nvCxnSpPr>
        <p:spPr>
          <a:xfrm>
            <a:off x="454025" y="1196975"/>
            <a:ext cx="8235950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9">
            <a:extLst>
              <a:ext uri="{FF2B5EF4-FFF2-40B4-BE49-F238E27FC236}">
                <a16:creationId xmlns:a16="http://schemas.microsoft.com/office/drawing/2014/main" id="{7F2DE439-E3D8-C93F-3E99-0C0D29C809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638" y="298450"/>
            <a:ext cx="668337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0906" y="448056"/>
            <a:ext cx="5157839" cy="640080"/>
          </a:xfrm>
        </p:spPr>
        <p:txBody>
          <a:bodyPr anchor="b">
            <a:normAutofit/>
          </a:bodyPr>
          <a:lstStyle>
            <a:lvl1pPr>
              <a:defRPr sz="21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04622" y="1435608"/>
            <a:ext cx="3312414" cy="3977640"/>
          </a:xfrm>
        </p:spPr>
        <p:txBody>
          <a:bodyPr rtlCol="0">
            <a:normAutofit/>
          </a:bodyPr>
          <a:lstStyle>
            <a:lvl1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8FE1807-C609-2388-0336-2CA483F8245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404813" y="6203950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DC5E782B-99B3-44E3-8E46-F3B32BE72E8C}" type="datetimeFigureOut">
              <a:rPr lang="en-US" smtClean="0"/>
              <a:pPr>
                <a:defRPr/>
              </a:pPr>
              <a:t>10/21/2025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9151C26-E985-FB05-AFE5-0F654F1EFB7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486150" y="62039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538A67-0345-CEB1-4A37-FF6AA793584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278563" y="6203950"/>
            <a:ext cx="24574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595959"/>
                </a:solidFill>
              </a:defRPr>
            </a:lvl1pPr>
          </a:lstStyle>
          <a:p>
            <a:fld id="{B9D5DB9E-0089-4DBB-B4DE-FAE6F7E3BAB1}" type="slidenum">
              <a:rPr lang="en-US" altLang="vi-VN" smtClean="0"/>
              <a:pPr/>
              <a:t>‹#›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3912739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BCF24F-1463-C157-C9F7-834F8A0CDA48}"/>
              </a:ext>
            </a:extLst>
          </p:cNvPr>
          <p:cNvSpPr/>
          <p:nvPr/>
        </p:nvSpPr>
        <p:spPr>
          <a:xfrm>
            <a:off x="192088" y="265113"/>
            <a:ext cx="8763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endParaRPr lang="en-US" sz="135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D1E9DE8-4C78-84C3-7A7C-58446902EBFC}"/>
              </a:ext>
            </a:extLst>
          </p:cNvPr>
          <p:cNvCxnSpPr/>
          <p:nvPr/>
        </p:nvCxnSpPr>
        <p:spPr>
          <a:xfrm>
            <a:off x="454025" y="1196975"/>
            <a:ext cx="8235950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9">
            <a:extLst>
              <a:ext uri="{FF2B5EF4-FFF2-40B4-BE49-F238E27FC236}">
                <a16:creationId xmlns:a16="http://schemas.microsoft.com/office/drawing/2014/main" id="{17601AC3-FC2D-EE96-81D2-1CB05B830D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638" y="298450"/>
            <a:ext cx="668337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0906" y="448056"/>
            <a:ext cx="5157839" cy="640080"/>
          </a:xfrm>
        </p:spPr>
        <p:txBody>
          <a:bodyPr anchor="b">
            <a:normAutofit/>
          </a:bodyPr>
          <a:lstStyle>
            <a:lvl1pPr>
              <a:defRPr sz="21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04622" y="1435608"/>
            <a:ext cx="3312414" cy="3977640"/>
          </a:xfrm>
        </p:spPr>
        <p:txBody>
          <a:bodyPr rtlCol="0">
            <a:normAutofit/>
          </a:bodyPr>
          <a:lstStyle>
            <a:lvl1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BB3C0CA-4E02-10CE-38D1-D6EE10F02A42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404813" y="6203950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25923A45-E582-4E93-9DAB-982C056F1C2E}" type="datetimeFigureOut">
              <a:rPr lang="en-US" smtClean="0"/>
              <a:pPr>
                <a:defRPr/>
              </a:pPr>
              <a:t>10/21/2025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6F95EAF-96D5-15AB-E07E-CED62E9DA6E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486150" y="62039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CFABC1A-A521-888E-DCA9-EBAB9A2CF8F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278563" y="6203950"/>
            <a:ext cx="24574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595959"/>
                </a:solidFill>
              </a:defRPr>
            </a:lvl1pPr>
          </a:lstStyle>
          <a:p>
            <a:fld id="{B9D5DB9E-0089-4DBB-B4DE-FAE6F7E3BAB1}" type="slidenum">
              <a:rPr lang="en-US" altLang="vi-VN" smtClean="0"/>
              <a:pPr/>
              <a:t>‹#›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364592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A0E799-7E52-68DB-B633-D09EAA98588B}"/>
              </a:ext>
            </a:extLst>
          </p:cNvPr>
          <p:cNvSpPr/>
          <p:nvPr/>
        </p:nvSpPr>
        <p:spPr>
          <a:xfrm>
            <a:off x="192088" y="265113"/>
            <a:ext cx="8763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endParaRPr lang="en-US" sz="135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08343CA-7F05-D8D2-0DBF-A15E7B2D643F}"/>
              </a:ext>
            </a:extLst>
          </p:cNvPr>
          <p:cNvCxnSpPr/>
          <p:nvPr/>
        </p:nvCxnSpPr>
        <p:spPr>
          <a:xfrm>
            <a:off x="454025" y="1196975"/>
            <a:ext cx="8235950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9">
            <a:extLst>
              <a:ext uri="{FF2B5EF4-FFF2-40B4-BE49-F238E27FC236}">
                <a16:creationId xmlns:a16="http://schemas.microsoft.com/office/drawing/2014/main" id="{EB11B4DF-3C1F-08D2-FCC7-24D0FB9262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638" y="298450"/>
            <a:ext cx="668337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0906" y="448056"/>
            <a:ext cx="5157839" cy="640080"/>
          </a:xfrm>
        </p:spPr>
        <p:txBody>
          <a:bodyPr anchor="b">
            <a:normAutofit/>
          </a:bodyPr>
          <a:lstStyle>
            <a:lvl1pPr>
              <a:defRPr sz="21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04622" y="1435608"/>
            <a:ext cx="3312414" cy="3977640"/>
          </a:xfrm>
        </p:spPr>
        <p:txBody>
          <a:bodyPr rtlCol="0">
            <a:normAutofit/>
          </a:bodyPr>
          <a:lstStyle>
            <a:lvl1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FAD02E7-5119-FBF8-CFA2-593F16519F7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404813" y="6203950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18410FE8-115D-477B-8BA6-DC07A2CCBE07}" type="datetimeFigureOut">
              <a:rPr lang="en-US" smtClean="0"/>
              <a:pPr>
                <a:defRPr/>
              </a:pPr>
              <a:t>10/21/2025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835298B-3F43-B2F3-DC16-7AB7F0942C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486150" y="62039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882DB3C-0D40-EB6E-0695-6B980BCCAE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278563" y="6203950"/>
            <a:ext cx="24574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595959"/>
                </a:solidFill>
              </a:defRPr>
            </a:lvl1pPr>
          </a:lstStyle>
          <a:p>
            <a:fld id="{B9D5DB9E-0089-4DBB-B4DE-FAE6F7E3BAB1}" type="slidenum">
              <a:rPr lang="en-US" altLang="vi-VN" smtClean="0"/>
              <a:pPr/>
              <a:t>‹#›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2134551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8EEE3F-AAC8-8398-F54E-ED4E1B905C30}"/>
              </a:ext>
            </a:extLst>
          </p:cNvPr>
          <p:cNvSpPr/>
          <p:nvPr/>
        </p:nvSpPr>
        <p:spPr>
          <a:xfrm>
            <a:off x="192088" y="265113"/>
            <a:ext cx="8763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endParaRPr lang="en-US" sz="135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B70AD49-AC18-8FFE-B652-A8F062CD3ED4}"/>
              </a:ext>
            </a:extLst>
          </p:cNvPr>
          <p:cNvCxnSpPr/>
          <p:nvPr/>
        </p:nvCxnSpPr>
        <p:spPr>
          <a:xfrm>
            <a:off x="454025" y="1196975"/>
            <a:ext cx="8235950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9">
            <a:extLst>
              <a:ext uri="{FF2B5EF4-FFF2-40B4-BE49-F238E27FC236}">
                <a16:creationId xmlns:a16="http://schemas.microsoft.com/office/drawing/2014/main" id="{A3B308D8-164E-364E-55F5-C4572EC9C4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638" y="298450"/>
            <a:ext cx="668337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0906" y="448056"/>
            <a:ext cx="5157839" cy="640080"/>
          </a:xfrm>
        </p:spPr>
        <p:txBody>
          <a:bodyPr anchor="b">
            <a:normAutofit/>
          </a:bodyPr>
          <a:lstStyle>
            <a:lvl1pPr>
              <a:defRPr sz="21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04622" y="1435608"/>
            <a:ext cx="3312414" cy="3977640"/>
          </a:xfrm>
        </p:spPr>
        <p:txBody>
          <a:bodyPr rtlCol="0">
            <a:normAutofit/>
          </a:bodyPr>
          <a:lstStyle>
            <a:lvl1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2899C28-D855-12A7-6104-028719FC5F2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404813" y="6203950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904D55F6-64EA-46F1-AC5F-AD8BAB8855DC}" type="datetimeFigureOut">
              <a:rPr lang="en-US" smtClean="0"/>
              <a:pPr>
                <a:defRPr/>
              </a:pPr>
              <a:t>10/21/2025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3EDBF60-2AD8-0079-79F7-D02B0FC65D7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486150" y="62039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1A71436-040B-3D99-E611-6BECAAFCA7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278563" y="6203950"/>
            <a:ext cx="24574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595959"/>
                </a:solidFill>
              </a:defRPr>
            </a:lvl1pPr>
          </a:lstStyle>
          <a:p>
            <a:fld id="{B9D5DB9E-0089-4DBB-B4DE-FAE6F7E3BAB1}" type="slidenum">
              <a:rPr lang="en-US" altLang="vi-VN" smtClean="0"/>
              <a:pPr/>
              <a:t>‹#›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2477740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BC5A9A-5BBF-0CC0-598B-A5C6E67D5039}"/>
              </a:ext>
            </a:extLst>
          </p:cNvPr>
          <p:cNvSpPr/>
          <p:nvPr/>
        </p:nvSpPr>
        <p:spPr>
          <a:xfrm>
            <a:off x="192088" y="265113"/>
            <a:ext cx="8763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endParaRPr lang="en-US" sz="135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973AAE9-9A03-ACA0-7414-E14021182E4A}"/>
              </a:ext>
            </a:extLst>
          </p:cNvPr>
          <p:cNvCxnSpPr/>
          <p:nvPr/>
        </p:nvCxnSpPr>
        <p:spPr>
          <a:xfrm>
            <a:off x="454025" y="1196975"/>
            <a:ext cx="8235950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9">
            <a:extLst>
              <a:ext uri="{FF2B5EF4-FFF2-40B4-BE49-F238E27FC236}">
                <a16:creationId xmlns:a16="http://schemas.microsoft.com/office/drawing/2014/main" id="{556229EA-1741-1F52-8668-7015E6A271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638" y="298450"/>
            <a:ext cx="668337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0906" y="448056"/>
            <a:ext cx="5157839" cy="640080"/>
          </a:xfrm>
        </p:spPr>
        <p:txBody>
          <a:bodyPr anchor="b">
            <a:normAutofit/>
          </a:bodyPr>
          <a:lstStyle>
            <a:lvl1pPr>
              <a:defRPr sz="21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04622" y="1435608"/>
            <a:ext cx="3312414" cy="3977640"/>
          </a:xfrm>
        </p:spPr>
        <p:txBody>
          <a:bodyPr rtlCol="0">
            <a:normAutofit/>
          </a:bodyPr>
          <a:lstStyle>
            <a:lvl1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FC6F4FC-DE8C-E320-F838-B0F690A95F3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404813" y="6203950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DE306298-05A6-4D14-92C0-D35AB08D8250}" type="datetimeFigureOut">
              <a:rPr lang="en-US" smtClean="0"/>
              <a:pPr>
                <a:defRPr/>
              </a:pPr>
              <a:t>10/21/2025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AA489DC-DCD0-82EA-A025-526BBC30B30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486150" y="62039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DE2EEE3-978A-1F4E-3B26-7E9B082E6BB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278563" y="6203950"/>
            <a:ext cx="24574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595959"/>
                </a:solidFill>
              </a:defRPr>
            </a:lvl1pPr>
          </a:lstStyle>
          <a:p>
            <a:fld id="{B9D5DB9E-0089-4DBB-B4DE-FAE6F7E3BAB1}" type="slidenum">
              <a:rPr lang="en-US" altLang="vi-VN" smtClean="0"/>
              <a:pPr/>
              <a:t>‹#›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4032551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E3DF70-8CA4-0521-3C2A-E0EF95F9FA0F}"/>
              </a:ext>
            </a:extLst>
          </p:cNvPr>
          <p:cNvSpPr/>
          <p:nvPr/>
        </p:nvSpPr>
        <p:spPr>
          <a:xfrm>
            <a:off x="192088" y="265113"/>
            <a:ext cx="8763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endParaRPr lang="en-US" sz="135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96C7B40-7EA5-84EE-C018-E4E635048A29}"/>
              </a:ext>
            </a:extLst>
          </p:cNvPr>
          <p:cNvCxnSpPr/>
          <p:nvPr/>
        </p:nvCxnSpPr>
        <p:spPr>
          <a:xfrm>
            <a:off x="454025" y="1196975"/>
            <a:ext cx="8235950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9">
            <a:extLst>
              <a:ext uri="{FF2B5EF4-FFF2-40B4-BE49-F238E27FC236}">
                <a16:creationId xmlns:a16="http://schemas.microsoft.com/office/drawing/2014/main" id="{7601E8EF-01D1-45EE-E11A-4288FF230B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638" y="298450"/>
            <a:ext cx="668337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0906" y="448056"/>
            <a:ext cx="5157839" cy="640080"/>
          </a:xfrm>
        </p:spPr>
        <p:txBody>
          <a:bodyPr anchor="b">
            <a:normAutofit/>
          </a:bodyPr>
          <a:lstStyle>
            <a:lvl1pPr>
              <a:defRPr sz="21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04622" y="1435608"/>
            <a:ext cx="3312414" cy="3977640"/>
          </a:xfrm>
        </p:spPr>
        <p:txBody>
          <a:bodyPr rtlCol="0">
            <a:normAutofit/>
          </a:bodyPr>
          <a:lstStyle>
            <a:lvl1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18BDA30-9972-1853-CDB8-18F7B60EAE6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404813" y="6203950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F8EA2F9B-DFB0-4570-8578-9BFA86EB2CF4}" type="datetimeFigureOut">
              <a:rPr lang="en-US" smtClean="0"/>
              <a:pPr>
                <a:defRPr/>
              </a:pPr>
              <a:t>10/21/2025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DA0C8BC-58B8-E5D7-8558-1525B450772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486150" y="62039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92C9DD-86B2-FDA3-CDAD-8ED0768326C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278563" y="6203950"/>
            <a:ext cx="24574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595959"/>
                </a:solidFill>
              </a:defRPr>
            </a:lvl1pPr>
          </a:lstStyle>
          <a:p>
            <a:fld id="{B9D5DB9E-0089-4DBB-B4DE-FAE6F7E3BAB1}" type="slidenum">
              <a:rPr lang="en-US" altLang="vi-VN" smtClean="0"/>
              <a:pPr/>
              <a:t>‹#›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11655259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A3A1B1-4EBA-AE99-E7B0-AC15DE73DD85}"/>
              </a:ext>
            </a:extLst>
          </p:cNvPr>
          <p:cNvSpPr/>
          <p:nvPr/>
        </p:nvSpPr>
        <p:spPr>
          <a:xfrm>
            <a:off x="192088" y="265113"/>
            <a:ext cx="8763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endParaRPr lang="en-US" sz="135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3DC54DC-391C-82EA-D023-5F651256828F}"/>
              </a:ext>
            </a:extLst>
          </p:cNvPr>
          <p:cNvCxnSpPr/>
          <p:nvPr/>
        </p:nvCxnSpPr>
        <p:spPr>
          <a:xfrm>
            <a:off x="454025" y="1196975"/>
            <a:ext cx="8235950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9">
            <a:extLst>
              <a:ext uri="{FF2B5EF4-FFF2-40B4-BE49-F238E27FC236}">
                <a16:creationId xmlns:a16="http://schemas.microsoft.com/office/drawing/2014/main" id="{491A85B6-5D77-9C52-BBB0-3A1BC56FF8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638" y="298450"/>
            <a:ext cx="668337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0906" y="448056"/>
            <a:ext cx="5157839" cy="640080"/>
          </a:xfrm>
        </p:spPr>
        <p:txBody>
          <a:bodyPr anchor="b">
            <a:normAutofit/>
          </a:bodyPr>
          <a:lstStyle>
            <a:lvl1pPr>
              <a:defRPr sz="21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04622" y="1435608"/>
            <a:ext cx="3312414" cy="3977640"/>
          </a:xfrm>
        </p:spPr>
        <p:txBody>
          <a:bodyPr rtlCol="0">
            <a:normAutofit/>
          </a:bodyPr>
          <a:lstStyle>
            <a:lvl1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A172B98-1451-C2FE-93CF-E4B043E55EF1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404813" y="6203950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7F3DBBC3-85BA-4ED9-8EB8-CA6BD0CE2541}" type="datetimeFigureOut">
              <a:rPr lang="en-US" smtClean="0"/>
              <a:pPr>
                <a:defRPr/>
              </a:pPr>
              <a:t>10/21/2025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C41F3A3-1BDD-2067-D5A2-1A8984B57E2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486150" y="62039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25ED098-9D3A-1A16-B422-7B088BDE49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278563" y="6203950"/>
            <a:ext cx="24574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595959"/>
                </a:solidFill>
              </a:defRPr>
            </a:lvl1pPr>
          </a:lstStyle>
          <a:p>
            <a:fld id="{B9D5DB9E-0089-4DBB-B4DE-FAE6F7E3BAB1}" type="slidenum">
              <a:rPr lang="en-US" altLang="vi-VN" smtClean="0"/>
              <a:pPr/>
              <a:t>‹#›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17702754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4C082B-5A44-A2AA-F10D-B6D711EB6B14}"/>
              </a:ext>
            </a:extLst>
          </p:cNvPr>
          <p:cNvSpPr/>
          <p:nvPr/>
        </p:nvSpPr>
        <p:spPr>
          <a:xfrm>
            <a:off x="192088" y="265113"/>
            <a:ext cx="8763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endParaRPr lang="en-US" sz="135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8C5F153-1A98-15FE-7E56-7FD342C34BE5}"/>
              </a:ext>
            </a:extLst>
          </p:cNvPr>
          <p:cNvCxnSpPr/>
          <p:nvPr/>
        </p:nvCxnSpPr>
        <p:spPr>
          <a:xfrm>
            <a:off x="454025" y="1196975"/>
            <a:ext cx="8235950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9">
            <a:extLst>
              <a:ext uri="{FF2B5EF4-FFF2-40B4-BE49-F238E27FC236}">
                <a16:creationId xmlns:a16="http://schemas.microsoft.com/office/drawing/2014/main" id="{88D6C32E-3CFD-7214-12E3-DD539A4195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638" y="298450"/>
            <a:ext cx="668337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0906" y="448056"/>
            <a:ext cx="5157839" cy="640080"/>
          </a:xfrm>
        </p:spPr>
        <p:txBody>
          <a:bodyPr anchor="b">
            <a:normAutofit/>
          </a:bodyPr>
          <a:lstStyle>
            <a:lvl1pPr>
              <a:defRPr sz="21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04622" y="1435608"/>
            <a:ext cx="3312414" cy="3977640"/>
          </a:xfrm>
        </p:spPr>
        <p:txBody>
          <a:bodyPr rtlCol="0">
            <a:normAutofit/>
          </a:bodyPr>
          <a:lstStyle>
            <a:lvl1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2D03C6C-A2CB-C4D6-1880-4649D188523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404813" y="6203950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78C466B7-3604-4B4F-B62C-86E67B9D788F}" type="datetimeFigureOut">
              <a:rPr lang="en-US" smtClean="0"/>
              <a:pPr>
                <a:defRPr/>
              </a:pPr>
              <a:t>10/21/2025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BD2336A-54E0-9AE1-08D4-CCA402C1785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486150" y="62039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8734508-48E2-465F-13FD-0275B5F099E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278563" y="6203950"/>
            <a:ext cx="24574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595959"/>
                </a:solidFill>
              </a:defRPr>
            </a:lvl1pPr>
          </a:lstStyle>
          <a:p>
            <a:fld id="{B9D5DB9E-0089-4DBB-B4DE-FAE6F7E3BAB1}" type="slidenum">
              <a:rPr lang="en-US" altLang="vi-VN" smtClean="0"/>
              <a:pPr/>
              <a:t>‹#›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28309513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57EA5D-E905-8977-0BCE-6CEDDE91B26A}"/>
              </a:ext>
            </a:extLst>
          </p:cNvPr>
          <p:cNvSpPr/>
          <p:nvPr/>
        </p:nvSpPr>
        <p:spPr>
          <a:xfrm>
            <a:off x="192088" y="265113"/>
            <a:ext cx="8763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endParaRPr lang="en-US" sz="135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99337E7-2CE8-E847-118A-9D8482245623}"/>
              </a:ext>
            </a:extLst>
          </p:cNvPr>
          <p:cNvCxnSpPr/>
          <p:nvPr/>
        </p:nvCxnSpPr>
        <p:spPr>
          <a:xfrm>
            <a:off x="454025" y="1196975"/>
            <a:ext cx="8235950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9">
            <a:extLst>
              <a:ext uri="{FF2B5EF4-FFF2-40B4-BE49-F238E27FC236}">
                <a16:creationId xmlns:a16="http://schemas.microsoft.com/office/drawing/2014/main" id="{F205D697-6DD5-B3C0-986E-4782CE25F3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638" y="298450"/>
            <a:ext cx="668337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0906" y="448056"/>
            <a:ext cx="5157839" cy="640080"/>
          </a:xfrm>
        </p:spPr>
        <p:txBody>
          <a:bodyPr anchor="b">
            <a:normAutofit/>
          </a:bodyPr>
          <a:lstStyle>
            <a:lvl1pPr>
              <a:defRPr sz="21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04622" y="1435608"/>
            <a:ext cx="3312414" cy="3977640"/>
          </a:xfrm>
        </p:spPr>
        <p:txBody>
          <a:bodyPr rtlCol="0">
            <a:normAutofit/>
          </a:bodyPr>
          <a:lstStyle>
            <a:lvl1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5083930-7866-3FD2-4DAB-854A7E076126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404813" y="6203950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60D160EB-81FA-4259-9A91-CB4BCE7CF918}" type="datetimeFigureOut">
              <a:rPr lang="en-US" smtClean="0"/>
              <a:pPr>
                <a:defRPr/>
              </a:pPr>
              <a:t>10/21/2025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A9464AC-0360-9E1A-0599-4DDAAF0E3E8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486150" y="62039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FC4AACA-4482-4DB9-1D29-F57E3B757AF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278563" y="6203950"/>
            <a:ext cx="24574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595959"/>
                </a:solidFill>
              </a:defRPr>
            </a:lvl1pPr>
          </a:lstStyle>
          <a:p>
            <a:fld id="{B9D5DB9E-0089-4DBB-B4DE-FAE6F7E3BAB1}" type="slidenum">
              <a:rPr lang="en-US" altLang="vi-VN" smtClean="0"/>
              <a:pPr/>
              <a:t>‹#›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28496857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4C288B-0558-FD04-1497-54B11AFBF559}"/>
              </a:ext>
            </a:extLst>
          </p:cNvPr>
          <p:cNvSpPr/>
          <p:nvPr/>
        </p:nvSpPr>
        <p:spPr>
          <a:xfrm>
            <a:off x="192088" y="265113"/>
            <a:ext cx="8763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endParaRPr lang="en-US" sz="135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680B553-EE61-C8AE-BB5D-663F61046FAC}"/>
              </a:ext>
            </a:extLst>
          </p:cNvPr>
          <p:cNvCxnSpPr/>
          <p:nvPr/>
        </p:nvCxnSpPr>
        <p:spPr>
          <a:xfrm>
            <a:off x="454025" y="1196975"/>
            <a:ext cx="8235950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9">
            <a:extLst>
              <a:ext uri="{FF2B5EF4-FFF2-40B4-BE49-F238E27FC236}">
                <a16:creationId xmlns:a16="http://schemas.microsoft.com/office/drawing/2014/main" id="{E291132B-6609-7256-128B-ADE382747F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638" y="298450"/>
            <a:ext cx="668337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0906" y="448056"/>
            <a:ext cx="5157839" cy="640080"/>
          </a:xfrm>
        </p:spPr>
        <p:txBody>
          <a:bodyPr anchor="b">
            <a:normAutofit/>
          </a:bodyPr>
          <a:lstStyle>
            <a:lvl1pPr>
              <a:defRPr sz="21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04622" y="1435608"/>
            <a:ext cx="3312414" cy="3977640"/>
          </a:xfrm>
        </p:spPr>
        <p:txBody>
          <a:bodyPr rtlCol="0">
            <a:normAutofit/>
          </a:bodyPr>
          <a:lstStyle>
            <a:lvl1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62A7E3A-8B55-E2D4-B3EE-44D47968E8B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404813" y="6203950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27B93DD4-80F3-4807-B528-FA9629A8145D}" type="datetimeFigureOut">
              <a:rPr lang="en-US" smtClean="0"/>
              <a:pPr>
                <a:defRPr/>
              </a:pPr>
              <a:t>10/21/2025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0F89F96-FBA7-0C1A-ECAE-4EA79F91C4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486150" y="62039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F7F0F6B-9A2A-11CB-F35B-4FDAAB2456E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278563" y="6203950"/>
            <a:ext cx="24574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595959"/>
                </a:solidFill>
              </a:defRPr>
            </a:lvl1pPr>
          </a:lstStyle>
          <a:p>
            <a:fld id="{B9D5DB9E-0089-4DBB-B4DE-FAE6F7E3BAB1}" type="slidenum">
              <a:rPr lang="en-US" altLang="vi-VN" smtClean="0"/>
              <a:pPr/>
              <a:t>‹#›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31899939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121D6E-2B0D-83FD-008B-DF4DAE3EF346}"/>
              </a:ext>
            </a:extLst>
          </p:cNvPr>
          <p:cNvSpPr/>
          <p:nvPr/>
        </p:nvSpPr>
        <p:spPr>
          <a:xfrm>
            <a:off x="192088" y="265113"/>
            <a:ext cx="8763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endParaRPr lang="en-US" sz="135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11427C-5EC4-FA08-20BA-C6C5E631ADD9}"/>
              </a:ext>
            </a:extLst>
          </p:cNvPr>
          <p:cNvCxnSpPr/>
          <p:nvPr/>
        </p:nvCxnSpPr>
        <p:spPr>
          <a:xfrm>
            <a:off x="454025" y="1196975"/>
            <a:ext cx="8235950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9">
            <a:extLst>
              <a:ext uri="{FF2B5EF4-FFF2-40B4-BE49-F238E27FC236}">
                <a16:creationId xmlns:a16="http://schemas.microsoft.com/office/drawing/2014/main" id="{738EB1DC-D65C-51A5-2039-05848C0C9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638" y="298450"/>
            <a:ext cx="668337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0906" y="448056"/>
            <a:ext cx="5157839" cy="640080"/>
          </a:xfrm>
        </p:spPr>
        <p:txBody>
          <a:bodyPr anchor="b">
            <a:normAutofit/>
          </a:bodyPr>
          <a:lstStyle>
            <a:lvl1pPr>
              <a:defRPr sz="21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04622" y="1435608"/>
            <a:ext cx="3312414" cy="3977640"/>
          </a:xfrm>
        </p:spPr>
        <p:txBody>
          <a:bodyPr rtlCol="0">
            <a:normAutofit/>
          </a:bodyPr>
          <a:lstStyle>
            <a:lvl1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3AEA7D9-D3DF-21B0-EC7C-336B7F18A041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404813" y="6203950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26833BFE-3238-482A-AC29-26316922F391}" type="datetimeFigureOut">
              <a:rPr lang="en-US" smtClean="0"/>
              <a:pPr>
                <a:defRPr/>
              </a:pPr>
              <a:t>10/21/2025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D28F23-1973-7ECC-183A-DB7BCAE071B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486150" y="62039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8595DC4-C6BA-BEA3-2409-7866B79B7C3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278563" y="6203950"/>
            <a:ext cx="24574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595959"/>
                </a:solidFill>
              </a:defRPr>
            </a:lvl1pPr>
          </a:lstStyle>
          <a:p>
            <a:fld id="{B9D5DB9E-0089-4DBB-B4DE-FAE6F7E3BAB1}" type="slidenum">
              <a:rPr lang="en-US" altLang="vi-VN" smtClean="0"/>
              <a:pPr/>
              <a:t>‹#›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19591590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5D0477-0A5E-1DDA-8C00-1098B8E8EACE}"/>
              </a:ext>
            </a:extLst>
          </p:cNvPr>
          <p:cNvSpPr/>
          <p:nvPr/>
        </p:nvSpPr>
        <p:spPr>
          <a:xfrm>
            <a:off x="192088" y="265113"/>
            <a:ext cx="8763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endParaRPr lang="en-US" sz="135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CD2239-ADE0-8C43-C924-5DA58666816E}"/>
              </a:ext>
            </a:extLst>
          </p:cNvPr>
          <p:cNvCxnSpPr/>
          <p:nvPr/>
        </p:nvCxnSpPr>
        <p:spPr>
          <a:xfrm>
            <a:off x="454025" y="1196975"/>
            <a:ext cx="8235950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9">
            <a:extLst>
              <a:ext uri="{FF2B5EF4-FFF2-40B4-BE49-F238E27FC236}">
                <a16:creationId xmlns:a16="http://schemas.microsoft.com/office/drawing/2014/main" id="{195075D4-0A2A-1284-5A84-2E428BBEFB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638" y="298450"/>
            <a:ext cx="668337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0906" y="448056"/>
            <a:ext cx="5157839" cy="640080"/>
          </a:xfrm>
        </p:spPr>
        <p:txBody>
          <a:bodyPr anchor="b">
            <a:normAutofit/>
          </a:bodyPr>
          <a:lstStyle>
            <a:lvl1pPr>
              <a:defRPr sz="21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04622" y="1435608"/>
            <a:ext cx="3312414" cy="3977640"/>
          </a:xfrm>
        </p:spPr>
        <p:txBody>
          <a:bodyPr rtlCol="0">
            <a:normAutofit/>
          </a:bodyPr>
          <a:lstStyle>
            <a:lvl1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6BC806A-205F-8F5D-AD9F-BE86D68AD477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404813" y="6203950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02C8B8FC-BE97-407E-AD03-2B1E58C56AAB}" type="datetimeFigureOut">
              <a:rPr lang="en-US" smtClean="0"/>
              <a:pPr>
                <a:defRPr/>
              </a:pPr>
              <a:t>10/21/2025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1C78018-6CAC-9B0B-CFD1-0CAECD4AF18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486150" y="62039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15DE481-757F-E555-23F7-1C40DBB3A1C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278563" y="6203950"/>
            <a:ext cx="24574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595959"/>
                </a:solidFill>
              </a:defRPr>
            </a:lvl1pPr>
          </a:lstStyle>
          <a:p>
            <a:fld id="{B9D5DB9E-0089-4DBB-B4DE-FAE6F7E3BAB1}" type="slidenum">
              <a:rPr lang="en-US" altLang="vi-VN" smtClean="0"/>
              <a:pPr/>
              <a:t>‹#›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24774019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D01053-F0FC-7718-C789-5564BD2863D6}"/>
              </a:ext>
            </a:extLst>
          </p:cNvPr>
          <p:cNvSpPr/>
          <p:nvPr/>
        </p:nvSpPr>
        <p:spPr>
          <a:xfrm>
            <a:off x="192088" y="265113"/>
            <a:ext cx="8763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endParaRPr lang="en-US" sz="135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9932EDC-FE40-6762-D854-3EBB52B7F766}"/>
              </a:ext>
            </a:extLst>
          </p:cNvPr>
          <p:cNvCxnSpPr/>
          <p:nvPr/>
        </p:nvCxnSpPr>
        <p:spPr>
          <a:xfrm>
            <a:off x="454025" y="1196975"/>
            <a:ext cx="8235950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9">
            <a:extLst>
              <a:ext uri="{FF2B5EF4-FFF2-40B4-BE49-F238E27FC236}">
                <a16:creationId xmlns:a16="http://schemas.microsoft.com/office/drawing/2014/main" id="{38C41933-F283-297B-437C-7C7393928B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638" y="298450"/>
            <a:ext cx="668337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0906" y="448056"/>
            <a:ext cx="5157839" cy="640080"/>
          </a:xfrm>
        </p:spPr>
        <p:txBody>
          <a:bodyPr anchor="b">
            <a:normAutofit/>
          </a:bodyPr>
          <a:lstStyle>
            <a:lvl1pPr>
              <a:defRPr sz="21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04622" y="1435608"/>
            <a:ext cx="3312414" cy="3977640"/>
          </a:xfrm>
        </p:spPr>
        <p:txBody>
          <a:bodyPr rtlCol="0">
            <a:normAutofit/>
          </a:bodyPr>
          <a:lstStyle>
            <a:lvl1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68446C2-696C-4E50-D2DE-72DA7F1C858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404813" y="6203950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7C974DD1-624F-435C-AFD2-4167F5C88FBD}" type="datetimeFigureOut">
              <a:rPr lang="en-US" smtClean="0"/>
              <a:pPr>
                <a:defRPr/>
              </a:pPr>
              <a:t>10/21/2025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7967A49-A117-5192-4877-FEEBD01BC3B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486150" y="62039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9224E68-95DF-4D6E-FFDB-8F6D6685259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278563" y="6203950"/>
            <a:ext cx="24574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595959"/>
                </a:solidFill>
              </a:defRPr>
            </a:lvl1pPr>
          </a:lstStyle>
          <a:p>
            <a:fld id="{B9D5DB9E-0089-4DBB-B4DE-FAE6F7E3BAB1}" type="slidenum">
              <a:rPr lang="en-US" altLang="vi-VN" smtClean="0"/>
              <a:pPr/>
              <a:t>‹#›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37648176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C21B9A-3F27-15F7-FD86-0C871C6C3AC4}"/>
              </a:ext>
            </a:extLst>
          </p:cNvPr>
          <p:cNvSpPr/>
          <p:nvPr/>
        </p:nvSpPr>
        <p:spPr>
          <a:xfrm>
            <a:off x="192088" y="265113"/>
            <a:ext cx="8763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endParaRPr lang="en-US" sz="135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692CFF8-DC18-EEB4-CA05-FC8F9D205868}"/>
              </a:ext>
            </a:extLst>
          </p:cNvPr>
          <p:cNvCxnSpPr/>
          <p:nvPr/>
        </p:nvCxnSpPr>
        <p:spPr>
          <a:xfrm>
            <a:off x="454025" y="1196975"/>
            <a:ext cx="8235950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9">
            <a:extLst>
              <a:ext uri="{FF2B5EF4-FFF2-40B4-BE49-F238E27FC236}">
                <a16:creationId xmlns:a16="http://schemas.microsoft.com/office/drawing/2014/main" id="{0CB9C375-7BDE-B8AC-DC10-6BEC350097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638" y="298450"/>
            <a:ext cx="668337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0906" y="448056"/>
            <a:ext cx="5157839" cy="640080"/>
          </a:xfrm>
        </p:spPr>
        <p:txBody>
          <a:bodyPr anchor="b">
            <a:normAutofit/>
          </a:bodyPr>
          <a:lstStyle>
            <a:lvl1pPr>
              <a:defRPr sz="21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04622" y="1435608"/>
            <a:ext cx="3312414" cy="3977640"/>
          </a:xfrm>
        </p:spPr>
        <p:txBody>
          <a:bodyPr rtlCol="0">
            <a:normAutofit/>
          </a:bodyPr>
          <a:lstStyle>
            <a:lvl1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F409734-459A-5C04-5468-F2A37A050EE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404813" y="6203950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59A2893F-269E-42DA-9AFB-F21B4A6DDD2E}" type="datetimeFigureOut">
              <a:rPr lang="en-US" smtClean="0"/>
              <a:pPr>
                <a:defRPr/>
              </a:pPr>
              <a:t>10/21/2025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B131706-4462-2E73-5547-EDA2683E6A1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486150" y="62039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C8AA9AE-0341-8D37-2E83-666B200DA55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278563" y="6203950"/>
            <a:ext cx="24574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595959"/>
                </a:solidFill>
              </a:defRPr>
            </a:lvl1pPr>
          </a:lstStyle>
          <a:p>
            <a:fld id="{B9D5DB9E-0089-4DBB-B4DE-FAE6F7E3BAB1}" type="slidenum">
              <a:rPr lang="en-US" altLang="vi-VN" smtClean="0"/>
              <a:pPr/>
              <a:t>‹#›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8916469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AB485B-F046-48D2-8CAD-48C92D9E439E}"/>
              </a:ext>
            </a:extLst>
          </p:cNvPr>
          <p:cNvSpPr/>
          <p:nvPr/>
        </p:nvSpPr>
        <p:spPr>
          <a:xfrm>
            <a:off x="192088" y="265113"/>
            <a:ext cx="8763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endParaRPr lang="en-US" sz="135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825C358-E091-FE33-8EBB-7E90FB804CCD}"/>
              </a:ext>
            </a:extLst>
          </p:cNvPr>
          <p:cNvCxnSpPr/>
          <p:nvPr/>
        </p:nvCxnSpPr>
        <p:spPr>
          <a:xfrm>
            <a:off x="454025" y="1196975"/>
            <a:ext cx="8235950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9">
            <a:extLst>
              <a:ext uri="{FF2B5EF4-FFF2-40B4-BE49-F238E27FC236}">
                <a16:creationId xmlns:a16="http://schemas.microsoft.com/office/drawing/2014/main" id="{B73174F0-45FE-6767-1995-99976ECB21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638" y="298450"/>
            <a:ext cx="668337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0906" y="448056"/>
            <a:ext cx="5157839" cy="640080"/>
          </a:xfrm>
        </p:spPr>
        <p:txBody>
          <a:bodyPr anchor="b">
            <a:normAutofit/>
          </a:bodyPr>
          <a:lstStyle>
            <a:lvl1pPr>
              <a:defRPr sz="21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04622" y="1435608"/>
            <a:ext cx="3312414" cy="3977640"/>
          </a:xfrm>
        </p:spPr>
        <p:txBody>
          <a:bodyPr rtlCol="0">
            <a:normAutofit/>
          </a:bodyPr>
          <a:lstStyle>
            <a:lvl1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A7EA37F-1B3F-18CF-B956-BDB4D889F90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404813" y="6203950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A17DD7C2-6F2A-4655-B9B5-BAB6A24C62CD}" type="datetimeFigureOut">
              <a:rPr lang="en-US" smtClean="0"/>
              <a:pPr>
                <a:defRPr/>
              </a:pPr>
              <a:t>10/21/2025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62A9892-6281-4CC3-8A42-0ACB838DE8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486150" y="62039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DCBD7A6-7867-4DBC-96F7-E1E14230A09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278563" y="6203950"/>
            <a:ext cx="24574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595959"/>
                </a:solidFill>
              </a:defRPr>
            </a:lvl1pPr>
          </a:lstStyle>
          <a:p>
            <a:fld id="{B9D5DB9E-0089-4DBB-B4DE-FAE6F7E3BAB1}" type="slidenum">
              <a:rPr lang="en-US" altLang="vi-VN" smtClean="0"/>
              <a:pPr/>
              <a:t>‹#›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29453818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6B9953-3301-C4EB-5A53-BFE5A4746020}"/>
              </a:ext>
            </a:extLst>
          </p:cNvPr>
          <p:cNvSpPr/>
          <p:nvPr/>
        </p:nvSpPr>
        <p:spPr>
          <a:xfrm>
            <a:off x="192088" y="265113"/>
            <a:ext cx="8763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endParaRPr lang="en-US" sz="135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B88F98-5B60-EAF8-6F18-D9872A2C3C25}"/>
              </a:ext>
            </a:extLst>
          </p:cNvPr>
          <p:cNvCxnSpPr/>
          <p:nvPr/>
        </p:nvCxnSpPr>
        <p:spPr>
          <a:xfrm>
            <a:off x="454025" y="1196975"/>
            <a:ext cx="8235950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9">
            <a:extLst>
              <a:ext uri="{FF2B5EF4-FFF2-40B4-BE49-F238E27FC236}">
                <a16:creationId xmlns:a16="http://schemas.microsoft.com/office/drawing/2014/main" id="{698ED8A0-E5E4-6FA5-E3DE-E3DA150724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638" y="298450"/>
            <a:ext cx="668337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0906" y="448056"/>
            <a:ext cx="5157839" cy="640080"/>
          </a:xfrm>
        </p:spPr>
        <p:txBody>
          <a:bodyPr anchor="b">
            <a:normAutofit/>
          </a:bodyPr>
          <a:lstStyle>
            <a:lvl1pPr>
              <a:defRPr sz="21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04622" y="1435608"/>
            <a:ext cx="3312414" cy="3977640"/>
          </a:xfrm>
        </p:spPr>
        <p:txBody>
          <a:bodyPr rtlCol="0">
            <a:normAutofit/>
          </a:bodyPr>
          <a:lstStyle>
            <a:lvl1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8C0C815-06F8-823B-C3D1-405761A44E01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404813" y="6203950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C6BF3A2A-D568-46A1-B85B-65D70B5AF387}" type="datetimeFigureOut">
              <a:rPr lang="en-US" smtClean="0"/>
              <a:pPr>
                <a:defRPr/>
              </a:pPr>
              <a:t>10/21/2025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6214240-07BC-03B9-6EF9-67240378DBF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486150" y="62039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A8104C9-49D1-6FAB-B8B5-3DD22DB8911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278563" y="6203950"/>
            <a:ext cx="24574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595959"/>
                </a:solidFill>
              </a:defRPr>
            </a:lvl1pPr>
          </a:lstStyle>
          <a:p>
            <a:fld id="{B9D5DB9E-0089-4DBB-B4DE-FAE6F7E3BAB1}" type="slidenum">
              <a:rPr lang="en-US" altLang="vi-VN" smtClean="0"/>
              <a:pPr/>
              <a:t>‹#›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28836363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1CE1D7-4E53-2100-7CDB-EC5217761C94}"/>
              </a:ext>
            </a:extLst>
          </p:cNvPr>
          <p:cNvSpPr/>
          <p:nvPr/>
        </p:nvSpPr>
        <p:spPr>
          <a:xfrm>
            <a:off x="192088" y="265113"/>
            <a:ext cx="8763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endParaRPr lang="en-US" sz="135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97F953-A8E7-B96C-5326-E422BC30AF40}"/>
              </a:ext>
            </a:extLst>
          </p:cNvPr>
          <p:cNvCxnSpPr/>
          <p:nvPr/>
        </p:nvCxnSpPr>
        <p:spPr>
          <a:xfrm>
            <a:off x="454025" y="1196975"/>
            <a:ext cx="8235950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9">
            <a:extLst>
              <a:ext uri="{FF2B5EF4-FFF2-40B4-BE49-F238E27FC236}">
                <a16:creationId xmlns:a16="http://schemas.microsoft.com/office/drawing/2014/main" id="{514B9376-3378-DD0F-D2C0-913D9E5B5B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638" y="298450"/>
            <a:ext cx="668337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0906" y="448056"/>
            <a:ext cx="5157839" cy="640080"/>
          </a:xfrm>
        </p:spPr>
        <p:txBody>
          <a:bodyPr anchor="b">
            <a:normAutofit/>
          </a:bodyPr>
          <a:lstStyle>
            <a:lvl1pPr>
              <a:defRPr sz="21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04622" y="1435608"/>
            <a:ext cx="3312414" cy="3977640"/>
          </a:xfrm>
        </p:spPr>
        <p:txBody>
          <a:bodyPr rtlCol="0">
            <a:normAutofit/>
          </a:bodyPr>
          <a:lstStyle>
            <a:lvl1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2AFD4ED-32B2-D100-74BE-59BB20C6508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404813" y="6203950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707F4684-A95D-468D-BE0D-FCA56781590B}" type="datetimeFigureOut">
              <a:rPr lang="en-US" smtClean="0"/>
              <a:pPr>
                <a:defRPr/>
              </a:pPr>
              <a:t>10/21/2025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37B0C7C-B823-15F7-2A06-A6E9B9D2D92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486150" y="62039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A8CC313-55B2-FA47-7F10-40004E0A57C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278563" y="6203950"/>
            <a:ext cx="24574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595959"/>
                </a:solidFill>
              </a:defRPr>
            </a:lvl1pPr>
          </a:lstStyle>
          <a:p>
            <a:fld id="{B9D5DB9E-0089-4DBB-B4DE-FAE6F7E3BAB1}" type="slidenum">
              <a:rPr lang="en-US" altLang="vi-VN" smtClean="0"/>
              <a:pPr/>
              <a:t>‹#›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29681250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F91735-46AA-A5ED-8F79-B02E5824E982}"/>
              </a:ext>
            </a:extLst>
          </p:cNvPr>
          <p:cNvSpPr/>
          <p:nvPr/>
        </p:nvSpPr>
        <p:spPr>
          <a:xfrm>
            <a:off x="192088" y="265113"/>
            <a:ext cx="8763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endParaRPr lang="en-US" sz="135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B2B79FC-FAB6-F678-BF9C-DED69607E924}"/>
              </a:ext>
            </a:extLst>
          </p:cNvPr>
          <p:cNvCxnSpPr/>
          <p:nvPr/>
        </p:nvCxnSpPr>
        <p:spPr>
          <a:xfrm>
            <a:off x="454025" y="1196975"/>
            <a:ext cx="8235950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9">
            <a:extLst>
              <a:ext uri="{FF2B5EF4-FFF2-40B4-BE49-F238E27FC236}">
                <a16:creationId xmlns:a16="http://schemas.microsoft.com/office/drawing/2014/main" id="{7314F9AF-E1D3-302F-869D-3313B203F8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638" y="298450"/>
            <a:ext cx="668337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0906" y="448056"/>
            <a:ext cx="5157839" cy="640080"/>
          </a:xfrm>
        </p:spPr>
        <p:txBody>
          <a:bodyPr anchor="b">
            <a:normAutofit/>
          </a:bodyPr>
          <a:lstStyle>
            <a:lvl1pPr>
              <a:defRPr sz="21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04622" y="1435608"/>
            <a:ext cx="3312414" cy="3977640"/>
          </a:xfrm>
        </p:spPr>
        <p:txBody>
          <a:bodyPr rtlCol="0">
            <a:normAutofit/>
          </a:bodyPr>
          <a:lstStyle>
            <a:lvl1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67F2E5F-8946-0A13-C67C-6A95D87BA77F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404813" y="6203950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3EBAB59E-25B5-42E1-B969-8EC3253E5DDA}" type="datetimeFigureOut">
              <a:rPr lang="en-US" smtClean="0"/>
              <a:pPr>
                <a:defRPr/>
              </a:pPr>
              <a:t>10/21/2025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406114E-F67E-3029-C03C-C06F442C85A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486150" y="62039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7189D36-BEE1-AD7A-9B5F-ED1BEB3FE4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278563" y="6203950"/>
            <a:ext cx="24574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595959"/>
                </a:solidFill>
              </a:defRPr>
            </a:lvl1pPr>
          </a:lstStyle>
          <a:p>
            <a:fld id="{B9D5DB9E-0089-4DBB-B4DE-FAE6F7E3BAB1}" type="slidenum">
              <a:rPr lang="en-US" altLang="vi-VN" smtClean="0"/>
              <a:pPr/>
              <a:t>‹#›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1147474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4A9FCD-7F25-3E12-E446-9BA2B51EEF3A}"/>
              </a:ext>
            </a:extLst>
          </p:cNvPr>
          <p:cNvSpPr/>
          <p:nvPr/>
        </p:nvSpPr>
        <p:spPr>
          <a:xfrm>
            <a:off x="192088" y="265113"/>
            <a:ext cx="8763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endParaRPr lang="en-US" sz="135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338663B-BBF7-5E4D-17C9-EB9C79900CB3}"/>
              </a:ext>
            </a:extLst>
          </p:cNvPr>
          <p:cNvCxnSpPr/>
          <p:nvPr/>
        </p:nvCxnSpPr>
        <p:spPr>
          <a:xfrm>
            <a:off x="454025" y="1196975"/>
            <a:ext cx="8235950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9">
            <a:extLst>
              <a:ext uri="{FF2B5EF4-FFF2-40B4-BE49-F238E27FC236}">
                <a16:creationId xmlns:a16="http://schemas.microsoft.com/office/drawing/2014/main" id="{ABB48703-EC71-4AAF-F2EB-E4BA413199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638" y="298450"/>
            <a:ext cx="668337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0906" y="448056"/>
            <a:ext cx="5157839" cy="640080"/>
          </a:xfrm>
        </p:spPr>
        <p:txBody>
          <a:bodyPr anchor="b">
            <a:normAutofit/>
          </a:bodyPr>
          <a:lstStyle>
            <a:lvl1pPr>
              <a:defRPr sz="21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04622" y="1435608"/>
            <a:ext cx="3312414" cy="3977640"/>
          </a:xfrm>
        </p:spPr>
        <p:txBody>
          <a:bodyPr rtlCol="0">
            <a:normAutofit/>
          </a:bodyPr>
          <a:lstStyle>
            <a:lvl1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0587E0A-F6A2-25ED-8E49-177B8D849FF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404813" y="6203950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7D3E7BFF-FBCD-440F-B44C-FB69E2045B72}" type="datetimeFigureOut">
              <a:rPr lang="en-US" smtClean="0"/>
              <a:pPr>
                <a:defRPr/>
              </a:pPr>
              <a:t>10/21/2025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AD80150-BA50-E9C3-5449-8E702016F82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486150" y="62039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FAE85C9-F31B-E65B-9D95-46B0550A8A5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278563" y="6203950"/>
            <a:ext cx="24574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595959"/>
                </a:solidFill>
              </a:defRPr>
            </a:lvl1pPr>
          </a:lstStyle>
          <a:p>
            <a:fld id="{B9D5DB9E-0089-4DBB-B4DE-FAE6F7E3BAB1}" type="slidenum">
              <a:rPr lang="en-US" altLang="vi-VN" smtClean="0"/>
              <a:pPr/>
              <a:t>‹#›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25928500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F824CD-520C-A211-466D-F82C33190628}"/>
              </a:ext>
            </a:extLst>
          </p:cNvPr>
          <p:cNvSpPr/>
          <p:nvPr/>
        </p:nvSpPr>
        <p:spPr>
          <a:xfrm>
            <a:off x="192088" y="265113"/>
            <a:ext cx="8763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endParaRPr lang="en-US" sz="135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89BC949-DEAA-19B9-F3CB-37499F846A11}"/>
              </a:ext>
            </a:extLst>
          </p:cNvPr>
          <p:cNvCxnSpPr/>
          <p:nvPr/>
        </p:nvCxnSpPr>
        <p:spPr>
          <a:xfrm>
            <a:off x="454025" y="1196975"/>
            <a:ext cx="8235950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9">
            <a:extLst>
              <a:ext uri="{FF2B5EF4-FFF2-40B4-BE49-F238E27FC236}">
                <a16:creationId xmlns:a16="http://schemas.microsoft.com/office/drawing/2014/main" id="{2C2BABBD-251A-411B-FD94-B1CA4AD917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638" y="298450"/>
            <a:ext cx="668337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0906" y="448056"/>
            <a:ext cx="5157839" cy="640080"/>
          </a:xfrm>
        </p:spPr>
        <p:txBody>
          <a:bodyPr anchor="b">
            <a:normAutofit/>
          </a:bodyPr>
          <a:lstStyle>
            <a:lvl1pPr>
              <a:defRPr sz="21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04622" y="1435608"/>
            <a:ext cx="3312414" cy="3977640"/>
          </a:xfrm>
        </p:spPr>
        <p:txBody>
          <a:bodyPr rtlCol="0">
            <a:normAutofit/>
          </a:bodyPr>
          <a:lstStyle>
            <a:lvl1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9A4173A-9300-6216-BD9E-91D83F32A367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404813" y="6203950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3231C6CB-76A8-4335-BB96-9E3813A9DEE1}" type="datetimeFigureOut">
              <a:rPr lang="en-US" smtClean="0"/>
              <a:pPr>
                <a:defRPr/>
              </a:pPr>
              <a:t>10/21/2025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D690DA-23E4-3131-0F54-012E2FC6E42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486150" y="62039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107633-9E67-5E3E-2485-E235B9ED9D0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278563" y="6203950"/>
            <a:ext cx="24574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595959"/>
                </a:solidFill>
              </a:defRPr>
            </a:lvl1pPr>
          </a:lstStyle>
          <a:p>
            <a:fld id="{B9D5DB9E-0089-4DBB-B4DE-FAE6F7E3BAB1}" type="slidenum">
              <a:rPr lang="en-US" altLang="vi-VN" smtClean="0"/>
              <a:pPr/>
              <a:t>‹#›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16785288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091" y="2055278"/>
            <a:ext cx="6428445" cy="1810636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800" spc="-113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091" y="3941492"/>
            <a:ext cx="6428445" cy="133412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8AEA434C-A468-4EFE-9FBC-AB256CF45F63}" type="datetimeFigureOut">
              <a:rPr lang="vi-VN" smtClean="0"/>
              <a:t>21/10/2025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418EA4E1-D8CA-4C05-B0AF-F940E8B63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287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6A320DA-0F3A-CDE8-B00F-AACF6CBCA47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vi-VN" altLang="vi-VN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4B6CE7F3-9CDD-08B3-7062-2D6338BE6E4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vi-VN" altLang="vi-V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5DF576-8830-4D7E-243A-D1DF49DF8833}"/>
              </a:ext>
            </a:extLst>
          </p:cNvPr>
          <p:cNvSpPr txBox="1"/>
          <p:nvPr/>
        </p:nvSpPr>
        <p:spPr>
          <a:xfrm>
            <a:off x="7862888" y="6311900"/>
            <a:ext cx="1101725" cy="25400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vi-VN" sz="1000">
                <a:solidFill>
                  <a:srgbClr val="CF2941"/>
                </a:solidFill>
                <a:ea typeface="Roboto" panose="02000000000000000000" pitchFamily="2" charset="0"/>
                <a:cs typeface="Arial" panose="020B0604020202020204" pitchFamily="34" charset="0"/>
              </a:rPr>
              <a:t>Trang </a:t>
            </a:r>
            <a:fld id="{30F61A37-FD40-4C77-940C-4EA728291AFD}" type="slidenum">
              <a:rPr lang="en-US" altLang="vi-VN" sz="1000" smtClean="0">
                <a:solidFill>
                  <a:srgbClr val="CF2941"/>
                </a:solidFill>
                <a:ea typeface="Roboto" panose="02000000000000000000" pitchFamily="2" charset="0"/>
                <a:cs typeface="Arial" panose="020B0604020202020204" pitchFamily="34" charset="0"/>
              </a:rPr>
              <a:pPr eaLnBrk="1" hangingPunct="1">
                <a:defRPr/>
              </a:pPr>
              <a:t>‹#›</a:t>
            </a:fld>
            <a:endParaRPr lang="en-US" altLang="vi-VN" sz="1000">
              <a:solidFill>
                <a:srgbClr val="CF2941"/>
              </a:solidFill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48C3053-5CB4-04B4-99B9-673F5315A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1683501-2041-4834-BD46-418A443F85BB}" type="slidenum">
              <a:rPr lang="en-US" altLang="vi-VN" smtClean="0">
                <a:solidFill>
                  <a:schemeClr val="bg1"/>
                </a:solidFill>
                <a:latin typeface="Corbel" panose="020B0503020204020204" pitchFamily="34" charset="0"/>
              </a:rPr>
              <a:pPr algn="ctr" eaLnBrk="1" hangingPunct="1">
                <a:defRPr/>
              </a:pPr>
              <a:t>‹#›</a:t>
            </a:fld>
            <a:endParaRPr lang="en-US" altLang="vi-VN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pic>
        <p:nvPicPr>
          <p:cNvPr id="2" name="Picture 15" descr="&#10;textbook.tiff                                                  001A45B3Macintosh HD                   BBA79A4C:">
            <a:extLst>
              <a:ext uri="{FF2B5EF4-FFF2-40B4-BE49-F238E27FC236}">
                <a16:creationId xmlns:a16="http://schemas.microsoft.com/office/drawing/2014/main" id="{AD72B215-A0A7-A170-F91B-169616937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 cstate="print"/>
          <a:srcRect/>
          <a:stretch>
            <a:fillRect/>
          </a:stretch>
        </p:blipFill>
        <p:spPr bwMode="auto">
          <a:xfrm>
            <a:off x="8382000" y="6248400"/>
            <a:ext cx="473075" cy="533400"/>
          </a:xfrm>
          <a:prstGeom prst="rect">
            <a:avLst/>
          </a:prstGeom>
          <a:noFill/>
        </p:spPr>
      </p:pic>
      <p:sp>
        <p:nvSpPr>
          <p:cNvPr id="3" name="Rounded Rectangle 4">
            <a:extLst>
              <a:ext uri="{FF2B5EF4-FFF2-40B4-BE49-F238E27FC236}">
                <a16:creationId xmlns:a16="http://schemas.microsoft.com/office/drawing/2014/main" id="{549130F6-273D-FA6F-BB71-E7B8243315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5250" y="152400"/>
            <a:ext cx="8953500" cy="6553200"/>
          </a:xfrm>
          <a:prstGeom prst="roundRect">
            <a:avLst>
              <a:gd name="adj" fmla="val 5491"/>
            </a:avLst>
          </a:prstGeom>
          <a:solidFill>
            <a:srgbClr val="FFFFFF"/>
          </a:solidFill>
          <a:ln w="25400" algn="ctr">
            <a:solidFill>
              <a:srgbClr val="39275B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vi-VN" alt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375D7-FDED-BE85-FAB6-5F9E7A352C25}"/>
              </a:ext>
            </a:extLst>
          </p:cNvPr>
          <p:cNvSpPr txBox="1">
            <a:spLocks noGrp="1"/>
          </p:cNvSpPr>
          <p:nvPr userDrawn="1"/>
        </p:nvSpPr>
        <p:spPr>
          <a:xfrm>
            <a:off x="8305800" y="6477000"/>
            <a:ext cx="762000" cy="365125"/>
          </a:xfrm>
          <a:prstGeom prst="rect">
            <a:avLst/>
          </a:prstGeom>
          <a:noFill/>
        </p:spPr>
        <p:txBody>
          <a:bodyPr lIns="0" tIns="0" rIns="0" bIns="0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500"/>
              </a:spcBef>
            </a:pPr>
            <a:fld id="{87AD66DF-AC5B-4292-B8E9-FCDA67E72815}" type="slidenum">
              <a:rPr lang="en-US" altLang="vi-VN" sz="1200" b="1">
                <a:solidFill>
                  <a:srgbClr val="424242"/>
                </a:solidFill>
                <a:latin typeface="Calibri" panose="020F0502020204030204" pitchFamily="34" charset="0"/>
              </a:rPr>
              <a:pPr eaLnBrk="1" hangingPunct="1">
                <a:spcBef>
                  <a:spcPts val="500"/>
                </a:spcBef>
              </a:pPr>
              <a:t>‹#›</a:t>
            </a:fld>
            <a:endParaRPr lang="en-US" altLang="vi-VN" b="1">
              <a:latin typeface="Calibri" panose="020F0502020204030204" pitchFamily="34" charset="0"/>
            </a:endParaRPr>
          </a:p>
        </p:txBody>
      </p:sp>
      <p:cxnSp>
        <p:nvCxnSpPr>
          <p:cNvPr id="5" name="Straight Connector 6">
            <a:extLst>
              <a:ext uri="{FF2B5EF4-FFF2-40B4-BE49-F238E27FC236}">
                <a16:creationId xmlns:a16="http://schemas.microsoft.com/office/drawing/2014/main" id="{7F2550E4-4E49-2A9B-1302-D037C2BD4BC7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723900" y="1143000"/>
            <a:ext cx="7696200" cy="1588"/>
          </a:xfrm>
          <a:prstGeom prst="line">
            <a:avLst/>
          </a:prstGeom>
          <a:noFill/>
          <a:ln w="28575" algn="ctr">
            <a:solidFill>
              <a:srgbClr val="39275B"/>
            </a:solidFill>
            <a:round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686281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735" r:id="rId18"/>
    <p:sldLayoutId id="2147483736" r:id="rId19"/>
    <p:sldLayoutId id="2147483737" r:id="rId20"/>
    <p:sldLayoutId id="2147483738" r:id="rId21"/>
    <p:sldLayoutId id="2147483739" r:id="rId22"/>
    <p:sldLayoutId id="2147483740" r:id="rId23"/>
    <p:sldLayoutId id="2147483741" r:id="rId24"/>
    <p:sldLayoutId id="2147483742" r:id="rId25"/>
    <p:sldLayoutId id="2147483743" r:id="rId26"/>
    <p:sldLayoutId id="2147483744" r:id="rId27"/>
  </p:sldLayoutIdLst>
  <p:txStyles>
    <p:titleStyle>
      <a:lvl1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</a:defRPr>
      </a:lvl2pPr>
      <a:lvl3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</a:defRPr>
      </a:lvl3pPr>
      <a:lvl4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</a:defRPr>
      </a:lvl4pPr>
      <a:lvl5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algn="l" defTabSz="685800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initbinder.com/bunker/wp-content/uploads/2011/03/collections.png" TargetMode="Externa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C4593432-6271-B87B-0421-A7E96BBBFE1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endParaRPr lang="en-US" altLang="vi-VN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7BA31-4075-31BC-9203-3D379B5AE9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0600" y="2819400"/>
            <a:ext cx="7321505" cy="2181139"/>
          </a:xfrm>
        </p:spPr>
        <p:txBody>
          <a:bodyPr>
            <a:normAutofit fontScale="90000"/>
          </a:bodyPr>
          <a:lstStyle/>
          <a:p>
            <a:pPr algn="r"/>
            <a:r>
              <a:rPr lang="en-US" altLang="vi-VN" sz="4400" dirty="0"/>
              <a:t>Java Collection Framework</a:t>
            </a:r>
            <a:br>
              <a:rPr lang="en-US" altLang="vi-VN" sz="4400" dirty="0"/>
            </a:br>
            <a:br>
              <a:rPr lang="en-US" altLang="vi-VN" sz="4400" dirty="0"/>
            </a:br>
            <a:r>
              <a:rPr lang="en-US" altLang="vi-VN" sz="1400" dirty="0"/>
              <a:t>Tài </a:t>
            </a:r>
            <a:r>
              <a:rPr lang="en-US" altLang="vi-VN" sz="1400" dirty="0" err="1"/>
              <a:t>liệu</a:t>
            </a:r>
            <a:r>
              <a:rPr lang="en-US" altLang="vi-VN" sz="1400" dirty="0"/>
              <a:t> </a:t>
            </a:r>
            <a:r>
              <a:rPr lang="en-US" altLang="vi-VN" sz="1400" dirty="0" err="1"/>
              <a:t>tham</a:t>
            </a:r>
            <a:r>
              <a:rPr lang="en-US" altLang="vi-VN" sz="1400" dirty="0"/>
              <a:t> </a:t>
            </a:r>
            <a:r>
              <a:rPr lang="en-US" altLang="vi-VN" sz="1400" dirty="0" err="1"/>
              <a:t>khảo</a:t>
            </a:r>
            <a:endParaRPr lang="vi-VN" sz="4400" dirty="0"/>
          </a:p>
        </p:txBody>
      </p:sp>
    </p:spTree>
    <p:extLst>
      <p:ext uri="{BB962C8B-B14F-4D97-AF65-F5344CB8AC3E}">
        <p14:creationId xmlns:p14="http://schemas.microsoft.com/office/powerpoint/2010/main" val="4229262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7" name="Rectangle 3">
            <a:extLst>
              <a:ext uri="{FF2B5EF4-FFF2-40B4-BE49-F238E27FC236}">
                <a16:creationId xmlns:a16="http://schemas.microsoft.com/office/drawing/2014/main" id="{1A59EF56-6AAE-86E5-30AE-7E853C5F2F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tabLst>
                <a:tab pos="860425" algn="l"/>
                <a:tab pos="1143000" algn="l"/>
                <a:tab pos="1431925" algn="l"/>
                <a:tab pos="2170113" algn="l"/>
              </a:tabLst>
            </a:pPr>
            <a:r>
              <a:rPr lang="en-US" altLang="vi-VN" b="1">
                <a:solidFill>
                  <a:srgbClr val="262626"/>
                </a:solidFill>
              </a:rPr>
              <a:t>array</a:t>
            </a:r>
            <a:r>
              <a:rPr lang="en-US" altLang="vi-VN">
                <a:solidFill>
                  <a:srgbClr val="262626"/>
                </a:solidFill>
              </a:rPr>
              <a:t>: An object that stores many values of the same type.</a:t>
            </a:r>
          </a:p>
          <a:p>
            <a:pPr lvl="1">
              <a:tabLst>
                <a:tab pos="860425" algn="l"/>
                <a:tab pos="1143000" algn="l"/>
                <a:tab pos="1431925" algn="l"/>
                <a:tab pos="2170113" algn="l"/>
              </a:tabLst>
            </a:pPr>
            <a:r>
              <a:rPr lang="en-US" altLang="vi-VN" b="1">
                <a:solidFill>
                  <a:srgbClr val="404040"/>
                </a:solidFill>
              </a:rPr>
              <a:t>element</a:t>
            </a:r>
            <a:r>
              <a:rPr lang="en-US" altLang="vi-VN">
                <a:solidFill>
                  <a:srgbClr val="404040"/>
                </a:solidFill>
              </a:rPr>
              <a:t>:	One value in an array.</a:t>
            </a:r>
          </a:p>
          <a:p>
            <a:pPr lvl="1">
              <a:tabLst>
                <a:tab pos="860425" algn="l"/>
                <a:tab pos="1143000" algn="l"/>
                <a:tab pos="1431925" algn="l"/>
                <a:tab pos="2170113" algn="l"/>
              </a:tabLst>
            </a:pPr>
            <a:r>
              <a:rPr lang="en-US" altLang="vi-VN" b="1">
                <a:solidFill>
                  <a:srgbClr val="404040"/>
                </a:solidFill>
              </a:rPr>
              <a:t>index</a:t>
            </a:r>
            <a:r>
              <a:rPr lang="en-US" altLang="vi-VN">
                <a:solidFill>
                  <a:srgbClr val="404040"/>
                </a:solidFill>
              </a:rPr>
              <a:t>:	A 0-based integer to access an element from an array.</a:t>
            </a:r>
          </a:p>
          <a:p>
            <a:pPr lvl="1">
              <a:tabLst>
                <a:tab pos="860425" algn="l"/>
                <a:tab pos="1143000" algn="l"/>
                <a:tab pos="1431925" algn="l"/>
                <a:tab pos="2170113" algn="l"/>
              </a:tabLst>
            </a:pPr>
            <a:r>
              <a:rPr lang="en-US" altLang="vi-VN" b="1">
                <a:solidFill>
                  <a:srgbClr val="404040"/>
                </a:solidFill>
              </a:rPr>
              <a:t>length</a:t>
            </a:r>
            <a:r>
              <a:rPr lang="en-US" altLang="vi-VN">
                <a:solidFill>
                  <a:srgbClr val="404040"/>
                </a:solidFill>
              </a:rPr>
              <a:t>:	Number of elements in the array.</a:t>
            </a:r>
          </a:p>
          <a:p>
            <a:pPr>
              <a:tabLst>
                <a:tab pos="860425" algn="l"/>
                <a:tab pos="1143000" algn="l"/>
                <a:tab pos="1431925" algn="l"/>
                <a:tab pos="2170113" algn="l"/>
              </a:tabLst>
            </a:pPr>
            <a:endParaRPr lang="en-US" altLang="vi-VN">
              <a:solidFill>
                <a:srgbClr val="262626"/>
              </a:solidFill>
            </a:endParaRPr>
          </a:p>
        </p:txBody>
      </p:sp>
      <p:sp>
        <p:nvSpPr>
          <p:cNvPr id="533506" name="Rectangle 2">
            <a:extLst>
              <a:ext uri="{FF2B5EF4-FFF2-40B4-BE49-F238E27FC236}">
                <a16:creationId xmlns:a16="http://schemas.microsoft.com/office/drawing/2014/main" id="{0E6F213F-D3B7-19D5-338D-0D7A0C4CC5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 dirty="0"/>
              <a:t>Arrays</a:t>
            </a:r>
          </a:p>
        </p:txBody>
      </p:sp>
      <p:graphicFrame>
        <p:nvGraphicFramePr>
          <p:cNvPr id="1824772" name="Group 4">
            <a:extLst>
              <a:ext uri="{FF2B5EF4-FFF2-40B4-BE49-F238E27FC236}">
                <a16:creationId xmlns:a16="http://schemas.microsoft.com/office/drawing/2014/main" id="{7FF2EAC5-9049-D3A1-1E7B-FD3E6998E40C}"/>
              </a:ext>
            </a:extLst>
          </p:cNvPr>
          <p:cNvGraphicFramePr>
            <a:graphicFrameLocks noGrp="1"/>
          </p:cNvGraphicFramePr>
          <p:nvPr/>
        </p:nvGraphicFramePr>
        <p:xfrm>
          <a:off x="746125" y="3479800"/>
          <a:ext cx="6416675" cy="1041400"/>
        </p:xfrm>
        <a:graphic>
          <a:graphicData uri="http://schemas.openxmlformats.org/drawingml/2006/table">
            <a:tbl>
              <a:tblPr/>
              <a:tblGrid>
                <a:gridCol w="874713">
                  <a:extLst>
                    <a:ext uri="{9D8B030D-6E8A-4147-A177-3AD203B41FA5}">
                      <a16:colId xmlns:a16="http://schemas.microsoft.com/office/drawing/2014/main" val="4042573020"/>
                    </a:ext>
                  </a:extLst>
                </a:gridCol>
                <a:gridCol w="554037">
                  <a:extLst>
                    <a:ext uri="{9D8B030D-6E8A-4147-A177-3AD203B41FA5}">
                      <a16:colId xmlns:a16="http://schemas.microsoft.com/office/drawing/2014/main" val="95674097"/>
                    </a:ext>
                  </a:extLst>
                </a:gridCol>
                <a:gridCol w="554038">
                  <a:extLst>
                    <a:ext uri="{9D8B030D-6E8A-4147-A177-3AD203B41FA5}">
                      <a16:colId xmlns:a16="http://schemas.microsoft.com/office/drawing/2014/main" val="3310737274"/>
                    </a:ext>
                  </a:extLst>
                </a:gridCol>
                <a:gridCol w="554037">
                  <a:extLst>
                    <a:ext uri="{9D8B030D-6E8A-4147-A177-3AD203B41FA5}">
                      <a16:colId xmlns:a16="http://schemas.microsoft.com/office/drawing/2014/main" val="1882492680"/>
                    </a:ext>
                  </a:extLst>
                </a:gridCol>
                <a:gridCol w="554038">
                  <a:extLst>
                    <a:ext uri="{9D8B030D-6E8A-4147-A177-3AD203B41FA5}">
                      <a16:colId xmlns:a16="http://schemas.microsoft.com/office/drawing/2014/main" val="3989623597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3817129879"/>
                    </a:ext>
                  </a:extLst>
                </a:gridCol>
                <a:gridCol w="554037">
                  <a:extLst>
                    <a:ext uri="{9D8B030D-6E8A-4147-A177-3AD203B41FA5}">
                      <a16:colId xmlns:a16="http://schemas.microsoft.com/office/drawing/2014/main" val="3668870797"/>
                    </a:ext>
                  </a:extLst>
                </a:gridCol>
                <a:gridCol w="554038">
                  <a:extLst>
                    <a:ext uri="{9D8B030D-6E8A-4147-A177-3AD203B41FA5}">
                      <a16:colId xmlns:a16="http://schemas.microsoft.com/office/drawing/2014/main" val="2318765089"/>
                    </a:ext>
                  </a:extLst>
                </a:gridCol>
                <a:gridCol w="554037">
                  <a:extLst>
                    <a:ext uri="{9D8B030D-6E8A-4147-A177-3AD203B41FA5}">
                      <a16:colId xmlns:a16="http://schemas.microsoft.com/office/drawing/2014/main" val="1949348002"/>
                    </a:ext>
                  </a:extLst>
                </a:gridCol>
                <a:gridCol w="554038">
                  <a:extLst>
                    <a:ext uri="{9D8B030D-6E8A-4147-A177-3AD203B41FA5}">
                      <a16:colId xmlns:a16="http://schemas.microsoft.com/office/drawing/2014/main" val="3560521618"/>
                    </a:ext>
                  </a:extLst>
                </a:gridCol>
                <a:gridCol w="554037">
                  <a:extLst>
                    <a:ext uri="{9D8B030D-6E8A-4147-A177-3AD203B41FA5}">
                      <a16:colId xmlns:a16="http://schemas.microsoft.com/office/drawing/2014/main" val="686166675"/>
                    </a:ext>
                  </a:extLst>
                </a:gridCol>
              </a:tblGrid>
              <a:tr h="5207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625475" indent="-27940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indent="-17462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03325" indent="-17303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97025" indent="-2206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542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5114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686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4258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index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625475" indent="-27940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indent="-17462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03325" indent="-17303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97025" indent="-2206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542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5114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686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4258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625475" indent="-27940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indent="-17462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03325" indent="-17303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97025" indent="-2206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542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5114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686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4258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625475" indent="-27940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indent="-17462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03325" indent="-17303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97025" indent="-2206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542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5114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686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4258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625475" indent="-27940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indent="-17462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03325" indent="-17303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97025" indent="-2206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542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5114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686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4258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625475" indent="-27940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indent="-17462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03325" indent="-17303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97025" indent="-2206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542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5114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686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4258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625475" indent="-27940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indent="-17462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03325" indent="-17303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97025" indent="-2206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542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5114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686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4258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625475" indent="-27940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indent="-17462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03325" indent="-17303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97025" indent="-2206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542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5114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686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4258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625475" indent="-27940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indent="-17462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03325" indent="-17303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97025" indent="-2206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542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5114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686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4258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625475" indent="-27940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indent="-17462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03325" indent="-17303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97025" indent="-2206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542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5114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686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4258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625475" indent="-27940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indent="-17462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03325" indent="-17303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97025" indent="-2206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542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5114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686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4258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8137155"/>
                  </a:ext>
                </a:extLst>
              </a:tr>
              <a:tr h="5207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625475" indent="-27940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indent="-17462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03325" indent="-17303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97025" indent="-2206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542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5114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686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4258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625475" indent="-27940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indent="-17462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03325" indent="-17303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97025" indent="-2206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542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5114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686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4258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625475" indent="-27940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indent="-17462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03325" indent="-17303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97025" indent="-2206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542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5114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686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4258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49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625475" indent="-27940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indent="-17462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03325" indent="-17303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97025" indent="-2206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542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5114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686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4258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625475" indent="-27940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indent="-17462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03325" indent="-17303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97025" indent="-2206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542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5114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686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4258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625475" indent="-27940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indent="-17462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03325" indent="-17303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97025" indent="-2206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542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5114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686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4258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625475" indent="-27940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indent="-17462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03325" indent="-17303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97025" indent="-2206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542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5114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686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4258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625475" indent="-27940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indent="-17462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03325" indent="-17303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97025" indent="-2206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542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5114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686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4258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-6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625475" indent="-27940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indent="-17462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03325" indent="-17303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97025" indent="-2206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542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5114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686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4258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625475" indent="-27940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indent="-17462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03325" indent="-17303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97025" indent="-2206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542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5114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686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4258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72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625475" indent="-27940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indent="-17462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03325" indent="-17303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97025" indent="-2206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542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5114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686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4258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450136"/>
                  </a:ext>
                </a:extLst>
              </a:tr>
            </a:tbl>
          </a:graphicData>
        </a:graphic>
      </p:graphicFrame>
      <p:grpSp>
        <p:nvGrpSpPr>
          <p:cNvPr id="2" name="Group 55">
            <a:extLst>
              <a:ext uri="{FF2B5EF4-FFF2-40B4-BE49-F238E27FC236}">
                <a16:creationId xmlns:a16="http://schemas.microsoft.com/office/drawing/2014/main" id="{F48D0DEB-7DE3-E94F-E7D7-54D21F6F5D61}"/>
              </a:ext>
            </a:extLst>
          </p:cNvPr>
          <p:cNvGrpSpPr>
            <a:grpSpLocks/>
          </p:cNvGrpSpPr>
          <p:nvPr/>
        </p:nvGrpSpPr>
        <p:grpSpPr bwMode="auto">
          <a:xfrm>
            <a:off x="1281113" y="4622800"/>
            <a:ext cx="6276975" cy="863600"/>
            <a:chOff x="999" y="3600"/>
            <a:chExt cx="3954" cy="544"/>
          </a:xfrm>
        </p:grpSpPr>
        <p:grpSp>
          <p:nvGrpSpPr>
            <p:cNvPr id="533545" name="Group 56">
              <a:extLst>
                <a:ext uri="{FF2B5EF4-FFF2-40B4-BE49-F238E27FC236}">
                  <a16:creationId xmlns:a16="http://schemas.microsoft.com/office/drawing/2014/main" id="{7DAD18D5-80AB-6E35-B28B-C44450F9A6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9" y="3600"/>
              <a:ext cx="825" cy="544"/>
              <a:chOff x="999" y="3600"/>
              <a:chExt cx="825" cy="544"/>
            </a:xfrm>
          </p:grpSpPr>
          <p:sp>
            <p:nvSpPr>
              <p:cNvPr id="533546" name="Line 57">
                <a:extLst>
                  <a:ext uri="{FF2B5EF4-FFF2-40B4-BE49-F238E27FC236}">
                    <a16:creationId xmlns:a16="http://schemas.microsoft.com/office/drawing/2014/main" id="{8D8B1ED5-1E32-CCB5-FA41-B1BA0F274D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92" y="360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vi-VN"/>
              </a:p>
            </p:txBody>
          </p:sp>
          <p:sp>
            <p:nvSpPr>
              <p:cNvPr id="533547" name="Text Box 58">
                <a:extLst>
                  <a:ext uri="{FF2B5EF4-FFF2-40B4-BE49-F238E27FC236}">
                    <a16:creationId xmlns:a16="http://schemas.microsoft.com/office/drawing/2014/main" id="{E202ED07-C12A-471E-6B21-8B6D61D072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9" y="3888"/>
                <a:ext cx="825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/>
                <a:r>
                  <a:rPr lang="en-US" altLang="vi-VN" sz="2000">
                    <a:latin typeface="Tahoma" panose="020B0604030504040204" pitchFamily="34" charset="0"/>
                    <a:cs typeface="Times New Roman" panose="02020603050405020304" pitchFamily="18" charset="0"/>
                  </a:rPr>
                  <a:t>element 0</a:t>
                </a:r>
              </a:p>
            </p:txBody>
          </p:sp>
        </p:grpSp>
        <p:grpSp>
          <p:nvGrpSpPr>
            <p:cNvPr id="533548" name="Group 59">
              <a:extLst>
                <a:ext uri="{FF2B5EF4-FFF2-40B4-BE49-F238E27FC236}">
                  <a16:creationId xmlns:a16="http://schemas.microsoft.com/office/drawing/2014/main" id="{F999131B-7712-3A40-5143-9387271E7F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1" y="3600"/>
              <a:ext cx="825" cy="544"/>
              <a:chOff x="999" y="3600"/>
              <a:chExt cx="825" cy="544"/>
            </a:xfrm>
          </p:grpSpPr>
          <p:sp>
            <p:nvSpPr>
              <p:cNvPr id="533549" name="Line 60">
                <a:extLst>
                  <a:ext uri="{FF2B5EF4-FFF2-40B4-BE49-F238E27FC236}">
                    <a16:creationId xmlns:a16="http://schemas.microsoft.com/office/drawing/2014/main" id="{E92AADA1-F849-444B-5448-3BD5674FEA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92" y="360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vi-VN"/>
              </a:p>
            </p:txBody>
          </p:sp>
          <p:sp>
            <p:nvSpPr>
              <p:cNvPr id="533550" name="Text Box 61">
                <a:extLst>
                  <a:ext uri="{FF2B5EF4-FFF2-40B4-BE49-F238E27FC236}">
                    <a16:creationId xmlns:a16="http://schemas.microsoft.com/office/drawing/2014/main" id="{2A0FC3B8-E255-98C3-9372-FE27C18499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9" y="3888"/>
                <a:ext cx="825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/>
                <a:r>
                  <a:rPr lang="en-US" altLang="vi-VN" sz="2000">
                    <a:latin typeface="Tahoma" panose="020B0604030504040204" pitchFamily="34" charset="0"/>
                    <a:cs typeface="Times New Roman" panose="02020603050405020304" pitchFamily="18" charset="0"/>
                  </a:rPr>
                  <a:t>element 4</a:t>
                </a:r>
              </a:p>
            </p:txBody>
          </p:sp>
        </p:grpSp>
        <p:grpSp>
          <p:nvGrpSpPr>
            <p:cNvPr id="533551" name="Group 62">
              <a:extLst>
                <a:ext uri="{FF2B5EF4-FFF2-40B4-BE49-F238E27FC236}">
                  <a16:creationId xmlns:a16="http://schemas.microsoft.com/office/drawing/2014/main" id="{9396D6A2-92C2-86D5-1274-B9143386AB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3600"/>
              <a:ext cx="825" cy="544"/>
              <a:chOff x="999" y="3600"/>
              <a:chExt cx="825" cy="544"/>
            </a:xfrm>
          </p:grpSpPr>
          <p:sp>
            <p:nvSpPr>
              <p:cNvPr id="533552" name="Line 63">
                <a:extLst>
                  <a:ext uri="{FF2B5EF4-FFF2-40B4-BE49-F238E27FC236}">
                    <a16:creationId xmlns:a16="http://schemas.microsoft.com/office/drawing/2014/main" id="{1771F5CA-C221-7410-07AB-C34553C983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92" y="360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vi-VN"/>
              </a:p>
            </p:txBody>
          </p:sp>
          <p:sp>
            <p:nvSpPr>
              <p:cNvPr id="533553" name="Text Box 64">
                <a:extLst>
                  <a:ext uri="{FF2B5EF4-FFF2-40B4-BE49-F238E27FC236}">
                    <a16:creationId xmlns:a16="http://schemas.microsoft.com/office/drawing/2014/main" id="{FA78D683-85C8-E1EA-9A3E-C5D8EFCC16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9" y="3888"/>
                <a:ext cx="825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/>
                <a:r>
                  <a:rPr lang="en-US" altLang="vi-VN" sz="2000">
                    <a:latin typeface="Tahoma" panose="020B0604030504040204" pitchFamily="34" charset="0"/>
                    <a:cs typeface="Times New Roman" panose="02020603050405020304" pitchFamily="18" charset="0"/>
                  </a:rPr>
                  <a:t>element 9</a:t>
                </a:r>
              </a:p>
            </p:txBody>
          </p:sp>
        </p:grpSp>
      </p:grpSp>
      <p:sp>
        <p:nvSpPr>
          <p:cNvPr id="533554" name="Text Box 64">
            <a:extLst>
              <a:ext uri="{FF2B5EF4-FFF2-40B4-BE49-F238E27FC236}">
                <a16:creationId xmlns:a16="http://schemas.microsoft.com/office/drawing/2014/main" id="{A87B34CE-5D1C-E79E-C66F-E9FF0963F2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3438" y="3733800"/>
            <a:ext cx="15033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vi-VN" sz="2000" i="1">
                <a:latin typeface="Tahoma" panose="020B0604030504040204" pitchFamily="34" charset="0"/>
                <a:cs typeface="Times New Roman" panose="02020603050405020304" pitchFamily="18" charset="0"/>
              </a:rPr>
              <a:t>length =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1" name="Rectangle 3">
            <a:extLst>
              <a:ext uri="{FF2B5EF4-FFF2-40B4-BE49-F238E27FC236}">
                <a16:creationId xmlns:a16="http://schemas.microsoft.com/office/drawing/2014/main" id="{D2DAC6EE-6BC5-8B95-2678-48F4C86737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vi-VN" b="1">
                <a:solidFill>
                  <a:srgbClr val="262626"/>
                </a:solidFill>
              </a:rPr>
              <a:t>	type</a:t>
            </a: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[] </a:t>
            </a:r>
            <a:r>
              <a:rPr lang="en-US" altLang="vi-VN" b="1">
                <a:solidFill>
                  <a:srgbClr val="262626"/>
                </a:solidFill>
              </a:rPr>
              <a:t>name</a:t>
            </a: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 = new </a:t>
            </a:r>
            <a:r>
              <a:rPr lang="en-US" altLang="vi-VN" b="1">
                <a:solidFill>
                  <a:srgbClr val="262626"/>
                </a:solidFill>
              </a:rPr>
              <a:t>type</a:t>
            </a: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[</a:t>
            </a:r>
            <a:r>
              <a:rPr lang="en-US" altLang="vi-VN" b="1">
                <a:solidFill>
                  <a:srgbClr val="262626"/>
                </a:solidFill>
              </a:rPr>
              <a:t>length</a:t>
            </a: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];</a:t>
            </a:r>
          </a:p>
          <a:p>
            <a:pPr lvl="1"/>
            <a:r>
              <a:rPr lang="en-US" altLang="vi-VN">
                <a:solidFill>
                  <a:srgbClr val="404040"/>
                </a:solidFill>
              </a:rPr>
              <a:t>Length explicitly provided.  All elements' values initially 0.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vi-VN" sz="100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	int[] numbers = new int[5];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vi-VN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vi-VN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vi-VN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altLang="vi-VN" b="1">
                <a:solidFill>
                  <a:srgbClr val="262626"/>
                </a:solidFill>
              </a:rPr>
              <a:t>	type</a:t>
            </a: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[] </a:t>
            </a:r>
            <a:r>
              <a:rPr lang="en-US" altLang="vi-VN" b="1">
                <a:solidFill>
                  <a:srgbClr val="262626"/>
                </a:solidFill>
              </a:rPr>
              <a:t>name</a:t>
            </a: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 = {</a:t>
            </a:r>
            <a:r>
              <a:rPr lang="en-US" altLang="vi-VN" b="1">
                <a:solidFill>
                  <a:srgbClr val="262626"/>
                </a:solidFill>
              </a:rPr>
              <a:t>value</a:t>
            </a: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, </a:t>
            </a:r>
            <a:r>
              <a:rPr lang="en-US" altLang="vi-VN" b="1">
                <a:solidFill>
                  <a:srgbClr val="262626"/>
                </a:solidFill>
              </a:rPr>
              <a:t>value</a:t>
            </a: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,</a:t>
            </a:r>
            <a:r>
              <a:rPr lang="en-US" altLang="vi-VN">
                <a:solidFill>
                  <a:srgbClr val="262626"/>
                </a:solidFill>
              </a:rPr>
              <a:t> … </a:t>
            </a:r>
            <a:r>
              <a:rPr lang="en-US" altLang="vi-VN" b="1">
                <a:solidFill>
                  <a:srgbClr val="262626"/>
                </a:solidFill>
              </a:rPr>
              <a:t>value</a:t>
            </a: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};</a:t>
            </a:r>
            <a:endParaRPr lang="en-US" altLang="vi-VN">
              <a:solidFill>
                <a:srgbClr val="262626"/>
              </a:solidFill>
            </a:endParaRPr>
          </a:p>
          <a:p>
            <a:pPr lvl="1"/>
            <a:r>
              <a:rPr lang="en-US" altLang="vi-VN">
                <a:solidFill>
                  <a:srgbClr val="404040"/>
                </a:solidFill>
              </a:rPr>
              <a:t>Infers length from number of values provided.  Example: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vi-VN" sz="100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	int[] numbers = {12, 49, -2, 26, 5, 17, -6};</a:t>
            </a:r>
          </a:p>
        </p:txBody>
      </p:sp>
      <p:sp>
        <p:nvSpPr>
          <p:cNvPr id="534530" name="Rectangle 2">
            <a:extLst>
              <a:ext uri="{FF2B5EF4-FFF2-40B4-BE49-F238E27FC236}">
                <a16:creationId xmlns:a16="http://schemas.microsoft.com/office/drawing/2014/main" id="{08D4E7C7-286E-4ACF-81BA-0CD26E87BA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/>
              <a:t>Array declaration</a:t>
            </a:r>
          </a:p>
        </p:txBody>
      </p:sp>
      <p:graphicFrame>
        <p:nvGraphicFramePr>
          <p:cNvPr id="534532" name="Group 4">
            <a:extLst>
              <a:ext uri="{FF2B5EF4-FFF2-40B4-BE49-F238E27FC236}">
                <a16:creationId xmlns:a16="http://schemas.microsoft.com/office/drawing/2014/main" id="{334B6446-785B-5AD2-406F-3DC6938B3F15}"/>
              </a:ext>
            </a:extLst>
          </p:cNvPr>
          <p:cNvGraphicFramePr>
            <a:graphicFrameLocks noGrp="1"/>
          </p:cNvGraphicFramePr>
          <p:nvPr/>
        </p:nvGraphicFramePr>
        <p:xfrm>
          <a:off x="5562600" y="2486025"/>
          <a:ext cx="3352800" cy="792480"/>
        </p:xfrm>
        <a:graphic>
          <a:graphicData uri="http://schemas.openxmlformats.org/drawingml/2006/table">
            <a:tbl>
              <a:tblPr/>
              <a:tblGrid>
                <a:gridCol w="804863">
                  <a:extLst>
                    <a:ext uri="{9D8B030D-6E8A-4147-A177-3AD203B41FA5}">
                      <a16:colId xmlns:a16="http://schemas.microsoft.com/office/drawing/2014/main" val="3546930602"/>
                    </a:ext>
                  </a:extLst>
                </a:gridCol>
                <a:gridCol w="509587">
                  <a:extLst>
                    <a:ext uri="{9D8B030D-6E8A-4147-A177-3AD203B41FA5}">
                      <a16:colId xmlns:a16="http://schemas.microsoft.com/office/drawing/2014/main" val="128131174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0113595"/>
                    </a:ext>
                  </a:extLst>
                </a:gridCol>
                <a:gridCol w="509588">
                  <a:extLst>
                    <a:ext uri="{9D8B030D-6E8A-4147-A177-3AD203B41FA5}">
                      <a16:colId xmlns:a16="http://schemas.microsoft.com/office/drawing/2014/main" val="1615590896"/>
                    </a:ext>
                  </a:extLst>
                </a:gridCol>
                <a:gridCol w="509587">
                  <a:extLst>
                    <a:ext uri="{9D8B030D-6E8A-4147-A177-3AD203B41FA5}">
                      <a16:colId xmlns:a16="http://schemas.microsoft.com/office/drawing/2014/main" val="3574867428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3287528180"/>
                    </a:ext>
                  </a:extLst>
                </a:gridCol>
              </a:tblGrid>
              <a:tr h="2159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625475" indent="-27940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indent="-17462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03325" indent="-17303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97025" indent="-2206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542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5114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686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4258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index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625475" indent="-27940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indent="-17462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03325" indent="-17303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97025" indent="-2206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542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5114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686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4258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625475" indent="-27940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indent="-17462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03325" indent="-17303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97025" indent="-2206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542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5114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686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4258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625475" indent="-27940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indent="-17462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03325" indent="-17303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97025" indent="-2206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542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5114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686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4258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625475" indent="-27940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indent="-17462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03325" indent="-17303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97025" indent="-2206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542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5114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686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4258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625475" indent="-27940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indent="-17462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03325" indent="-17303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97025" indent="-2206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542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5114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686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4258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7249054"/>
                  </a:ext>
                </a:extLst>
              </a:tr>
              <a:tr h="2159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625475" indent="-27940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indent="-17462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03325" indent="-17303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97025" indent="-2206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542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5114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686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4258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625475" indent="-27940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indent="-17462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03325" indent="-17303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97025" indent="-2206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542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5114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686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4258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625475" indent="-27940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indent="-17462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03325" indent="-17303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97025" indent="-2206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542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5114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686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4258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625475" indent="-27940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indent="-17462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03325" indent="-17303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97025" indent="-2206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542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5114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686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4258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625475" indent="-27940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indent="-17462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03325" indent="-17303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97025" indent="-2206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542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5114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686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4258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625475" indent="-27940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indent="-17462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03325" indent="-17303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97025" indent="-2206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542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5114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686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425825" indent="-22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1695150"/>
                  </a:ext>
                </a:extLst>
              </a:tr>
            </a:tbl>
          </a:graphicData>
        </a:graphic>
      </p:graphicFrame>
      <p:graphicFrame>
        <p:nvGraphicFramePr>
          <p:cNvPr id="534553" name="Group 25">
            <a:extLst>
              <a:ext uri="{FF2B5EF4-FFF2-40B4-BE49-F238E27FC236}">
                <a16:creationId xmlns:a16="http://schemas.microsoft.com/office/drawing/2014/main" id="{5968533F-5E4E-7042-24EB-AD7778CA412C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5153025"/>
          <a:ext cx="4318000" cy="792480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13283553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83366069"/>
                    </a:ext>
                  </a:extLst>
                </a:gridCol>
                <a:gridCol w="500062">
                  <a:extLst>
                    <a:ext uri="{9D8B030D-6E8A-4147-A177-3AD203B41FA5}">
                      <a16:colId xmlns:a16="http://schemas.microsoft.com/office/drawing/2014/main" val="3175925199"/>
                    </a:ext>
                  </a:extLst>
                </a:gridCol>
                <a:gridCol w="500063">
                  <a:extLst>
                    <a:ext uri="{9D8B030D-6E8A-4147-A177-3AD203B41FA5}">
                      <a16:colId xmlns:a16="http://schemas.microsoft.com/office/drawing/2014/main" val="4081579175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323547305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1328689736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992423108"/>
                    </a:ext>
                  </a:extLst>
                </a:gridCol>
                <a:gridCol w="500062">
                  <a:extLst>
                    <a:ext uri="{9D8B030D-6E8A-4147-A177-3AD203B41FA5}">
                      <a16:colId xmlns:a16="http://schemas.microsoft.com/office/drawing/2014/main" val="3167747008"/>
                    </a:ext>
                  </a:extLst>
                </a:gridCol>
              </a:tblGrid>
              <a:tr h="1397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index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610644"/>
                  </a:ext>
                </a:extLst>
              </a:tr>
              <a:tr h="1397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49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-6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095363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5" name="Rectangle 3">
            <a:extLst>
              <a:ext uri="{FF2B5EF4-FFF2-40B4-BE49-F238E27FC236}">
                <a16:creationId xmlns:a16="http://schemas.microsoft.com/office/drawing/2014/main" id="{D1C3740B-86B5-041E-8703-22E5EBC211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vi-VN" b="1" dirty="0">
                <a:solidFill>
                  <a:srgbClr val="262626"/>
                </a:solidFill>
              </a:rPr>
              <a:t>		name</a:t>
            </a:r>
            <a:r>
              <a:rPr lang="en-US" altLang="vi-VN" dirty="0">
                <a:solidFill>
                  <a:srgbClr val="262626"/>
                </a:solidFill>
                <a:latin typeface="Courier New" panose="02070309020205020404" pitchFamily="49" charset="0"/>
              </a:rPr>
              <a:t>[</a:t>
            </a:r>
            <a:r>
              <a:rPr lang="en-US" altLang="vi-VN" b="1" dirty="0">
                <a:solidFill>
                  <a:srgbClr val="262626"/>
                </a:solidFill>
              </a:rPr>
              <a:t>index</a:t>
            </a:r>
            <a:r>
              <a:rPr lang="en-US" altLang="vi-VN" dirty="0">
                <a:solidFill>
                  <a:srgbClr val="262626"/>
                </a:solidFill>
                <a:latin typeface="Courier New" panose="02070309020205020404" pitchFamily="49" charset="0"/>
              </a:rPr>
              <a:t>]	             </a:t>
            </a:r>
            <a:r>
              <a:rPr lang="en-US" altLang="vi-VN" b="1" dirty="0">
                <a:solidFill>
                  <a:srgbClr val="008080"/>
                </a:solidFill>
                <a:latin typeface="Courier New" panose="02070309020205020404" pitchFamily="49" charset="0"/>
              </a:rPr>
              <a:t>// access</a:t>
            </a:r>
            <a:endParaRPr lang="en-US" altLang="vi-VN" b="1" dirty="0">
              <a:solidFill>
                <a:srgbClr val="008080"/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vi-VN" b="1" dirty="0">
                <a:solidFill>
                  <a:srgbClr val="262626"/>
                </a:solidFill>
              </a:rPr>
              <a:t>		name</a:t>
            </a:r>
            <a:r>
              <a:rPr lang="en-US" altLang="vi-VN" dirty="0">
                <a:solidFill>
                  <a:srgbClr val="262626"/>
                </a:solidFill>
                <a:latin typeface="Courier New" panose="02070309020205020404" pitchFamily="49" charset="0"/>
              </a:rPr>
              <a:t>[</a:t>
            </a:r>
            <a:r>
              <a:rPr lang="en-US" altLang="vi-VN" b="1" dirty="0">
                <a:solidFill>
                  <a:srgbClr val="262626"/>
                </a:solidFill>
              </a:rPr>
              <a:t>index</a:t>
            </a:r>
            <a:r>
              <a:rPr lang="en-US" altLang="vi-VN" dirty="0">
                <a:solidFill>
                  <a:srgbClr val="262626"/>
                </a:solidFill>
                <a:latin typeface="Courier New" panose="02070309020205020404" pitchFamily="49" charset="0"/>
              </a:rPr>
              <a:t>] = </a:t>
            </a:r>
            <a:r>
              <a:rPr lang="en-US" altLang="vi-VN" b="1" dirty="0">
                <a:solidFill>
                  <a:srgbClr val="262626"/>
                </a:solidFill>
              </a:rPr>
              <a:t>value</a:t>
            </a:r>
            <a:r>
              <a:rPr lang="en-US" altLang="vi-VN" dirty="0">
                <a:solidFill>
                  <a:srgbClr val="262626"/>
                </a:solidFill>
                <a:latin typeface="Courier New" panose="02070309020205020404" pitchFamily="49" charset="0"/>
              </a:rPr>
              <a:t>;	   </a:t>
            </a:r>
            <a:r>
              <a:rPr lang="en-US" altLang="vi-VN" b="1" dirty="0">
                <a:solidFill>
                  <a:srgbClr val="008080"/>
                </a:solidFill>
                <a:latin typeface="Courier New" panose="02070309020205020404" pitchFamily="49" charset="0"/>
              </a:rPr>
              <a:t>// modify</a:t>
            </a:r>
            <a:endParaRPr lang="en-US" altLang="vi-VN" sz="1500" dirty="0">
              <a:solidFill>
                <a:srgbClr val="262626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 b="1" dirty="0">
                <a:solidFill>
                  <a:srgbClr val="262626"/>
                </a:solidFill>
              </a:rPr>
              <a:t>		</a:t>
            </a:r>
            <a:r>
              <a:rPr lang="en-US" altLang="vi-VN" b="1" dirty="0" err="1">
                <a:solidFill>
                  <a:srgbClr val="262626"/>
                </a:solidFill>
              </a:rPr>
              <a:t>name</a:t>
            </a:r>
            <a:r>
              <a:rPr lang="en-US" altLang="vi-VN" dirty="0" err="1">
                <a:solidFill>
                  <a:srgbClr val="262626"/>
                </a:solidFill>
                <a:latin typeface="Courier New" panose="02070309020205020404" pitchFamily="49" charset="0"/>
              </a:rPr>
              <a:t>.length</a:t>
            </a:r>
            <a:endParaRPr lang="en-US" altLang="vi-VN" dirty="0">
              <a:solidFill>
                <a:srgbClr val="262626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80000"/>
              </a:lnSpc>
            </a:pPr>
            <a:endParaRPr lang="en-US" altLang="vi-VN" sz="1000" dirty="0">
              <a:solidFill>
                <a:srgbClr val="404040"/>
              </a:solidFill>
            </a:endParaRPr>
          </a:p>
          <a:p>
            <a:r>
              <a:rPr lang="en-US" altLang="vi-VN" dirty="0">
                <a:solidFill>
                  <a:srgbClr val="262626"/>
                </a:solidFill>
              </a:rPr>
              <a:t>Legal indexes: between </a:t>
            </a:r>
            <a:r>
              <a:rPr lang="en-US" altLang="vi-VN" b="1" dirty="0">
                <a:solidFill>
                  <a:srgbClr val="262626"/>
                </a:solidFill>
              </a:rPr>
              <a:t>0</a:t>
            </a:r>
            <a:r>
              <a:rPr lang="en-US" altLang="vi-VN" dirty="0">
                <a:solidFill>
                  <a:srgbClr val="262626"/>
                </a:solidFill>
              </a:rPr>
              <a:t> and the </a:t>
            </a:r>
            <a:r>
              <a:rPr lang="en-US" altLang="vi-VN" b="1" dirty="0">
                <a:solidFill>
                  <a:srgbClr val="262626"/>
                </a:solidFill>
              </a:rPr>
              <a:t>array's length - 1</a:t>
            </a:r>
            <a:r>
              <a:rPr lang="en-US" altLang="vi-VN" dirty="0">
                <a:solidFill>
                  <a:srgbClr val="262626"/>
                </a:solidFill>
              </a:rPr>
              <a:t>.</a:t>
            </a:r>
            <a:endParaRPr lang="en-US" altLang="vi-VN" sz="900" dirty="0">
              <a:solidFill>
                <a:srgbClr val="262626"/>
              </a:solidFill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 sz="900" dirty="0">
                <a:solidFill>
                  <a:srgbClr val="404040"/>
                </a:solidFill>
                <a:latin typeface="Courier New" panose="02070309020205020404" pitchFamily="49" charset="0"/>
              </a:rPr>
              <a:t>	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 dirty="0">
                <a:solidFill>
                  <a:srgbClr val="404040"/>
                </a:solidFill>
                <a:latin typeface="Courier New" panose="02070309020205020404" pitchFamily="49" charset="0"/>
              </a:rPr>
              <a:t>	</a:t>
            </a:r>
            <a:r>
              <a:rPr lang="en-US" altLang="vi-VN" b="1" dirty="0">
                <a:solidFill>
                  <a:srgbClr val="404040"/>
                </a:solidFill>
                <a:latin typeface="Courier New" panose="02070309020205020404" pitchFamily="49" charset="0"/>
              </a:rPr>
              <a:t>numbers[3]</a:t>
            </a:r>
            <a:r>
              <a:rPr lang="en-US" altLang="vi-VN" dirty="0">
                <a:solidFill>
                  <a:srgbClr val="404040"/>
                </a:solidFill>
                <a:latin typeface="Courier New" panose="02070309020205020404" pitchFamily="49" charset="0"/>
              </a:rPr>
              <a:t> = 88;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 dirty="0">
                <a:solidFill>
                  <a:srgbClr val="404040"/>
                </a:solidFill>
                <a:latin typeface="Courier New" panose="02070309020205020404" pitchFamily="49" charset="0"/>
              </a:rPr>
              <a:t>	for (int </a:t>
            </a:r>
            <a:r>
              <a:rPr lang="en-US" altLang="vi-VN" dirty="0" err="1">
                <a:solidFill>
                  <a:srgbClr val="404040"/>
                </a:solidFill>
                <a:latin typeface="Courier New" panose="02070309020205020404" pitchFamily="49" charset="0"/>
              </a:rPr>
              <a:t>i</a:t>
            </a:r>
            <a:r>
              <a:rPr lang="en-US" altLang="vi-VN" dirty="0">
                <a:solidFill>
                  <a:srgbClr val="404040"/>
                </a:solidFill>
                <a:latin typeface="Courier New" panose="02070309020205020404" pitchFamily="49" charset="0"/>
              </a:rPr>
              <a:t> = 0; </a:t>
            </a:r>
            <a:r>
              <a:rPr lang="en-US" altLang="vi-VN" dirty="0" err="1">
                <a:solidFill>
                  <a:srgbClr val="404040"/>
                </a:solidFill>
                <a:latin typeface="Courier New" panose="02070309020205020404" pitchFamily="49" charset="0"/>
              </a:rPr>
              <a:t>i</a:t>
            </a:r>
            <a:r>
              <a:rPr lang="en-US" altLang="vi-VN" dirty="0">
                <a:solidFill>
                  <a:srgbClr val="404040"/>
                </a:solidFill>
                <a:latin typeface="Courier New" panose="02070309020205020404" pitchFamily="49" charset="0"/>
              </a:rPr>
              <a:t> &lt; </a:t>
            </a:r>
            <a:r>
              <a:rPr lang="en-US" altLang="vi-VN" b="1" dirty="0" err="1">
                <a:solidFill>
                  <a:srgbClr val="404040"/>
                </a:solidFill>
                <a:latin typeface="Courier New" panose="02070309020205020404" pitchFamily="49" charset="0"/>
              </a:rPr>
              <a:t>numbers.length</a:t>
            </a:r>
            <a:r>
              <a:rPr lang="en-US" altLang="vi-VN" dirty="0">
                <a:solidFill>
                  <a:srgbClr val="404040"/>
                </a:solidFill>
                <a:latin typeface="Courier New" panose="02070309020205020404" pitchFamily="49" charset="0"/>
              </a:rPr>
              <a:t>; </a:t>
            </a:r>
            <a:r>
              <a:rPr lang="en-US" altLang="vi-VN" dirty="0" err="1">
                <a:solidFill>
                  <a:srgbClr val="404040"/>
                </a:solidFill>
                <a:latin typeface="Courier New" panose="02070309020205020404" pitchFamily="49" charset="0"/>
              </a:rPr>
              <a:t>i</a:t>
            </a:r>
            <a:r>
              <a:rPr lang="en-US" altLang="vi-VN" dirty="0">
                <a:solidFill>
                  <a:srgbClr val="404040"/>
                </a:solidFill>
                <a:latin typeface="Courier New" panose="02070309020205020404" pitchFamily="49" charset="0"/>
              </a:rPr>
              <a:t>++) {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 dirty="0">
                <a:solidFill>
                  <a:srgbClr val="404040"/>
                </a:solidFill>
                <a:latin typeface="Courier New" panose="02070309020205020404" pitchFamily="49" charset="0"/>
              </a:rPr>
              <a:t>	    </a:t>
            </a:r>
            <a:r>
              <a:rPr lang="en-US" altLang="vi-VN" dirty="0" err="1">
                <a:solidFill>
                  <a:srgbClr val="404040"/>
                </a:solidFill>
                <a:latin typeface="Courier New" panose="02070309020205020404" pitchFamily="49" charset="0"/>
              </a:rPr>
              <a:t>System.out.print</a:t>
            </a:r>
            <a:r>
              <a:rPr lang="en-US" altLang="vi-VN" dirty="0">
                <a:solidFill>
                  <a:srgbClr val="404040"/>
                </a:solidFill>
                <a:latin typeface="Courier New" panose="02070309020205020404" pitchFamily="49" charset="0"/>
              </a:rPr>
              <a:t>(</a:t>
            </a:r>
            <a:r>
              <a:rPr lang="en-US" altLang="vi-VN" b="1" dirty="0">
                <a:solidFill>
                  <a:srgbClr val="404040"/>
                </a:solidFill>
                <a:latin typeface="Courier New" panose="02070309020205020404" pitchFamily="49" charset="0"/>
              </a:rPr>
              <a:t>numbers[</a:t>
            </a:r>
            <a:r>
              <a:rPr lang="en-US" altLang="vi-VN" b="1" dirty="0" err="1">
                <a:solidFill>
                  <a:srgbClr val="404040"/>
                </a:solidFill>
                <a:latin typeface="Courier New" panose="02070309020205020404" pitchFamily="49" charset="0"/>
              </a:rPr>
              <a:t>i</a:t>
            </a:r>
            <a:r>
              <a:rPr lang="en-US" altLang="vi-VN" b="1" dirty="0">
                <a:solidFill>
                  <a:srgbClr val="404040"/>
                </a:solidFill>
                <a:latin typeface="Courier New" panose="02070309020205020404" pitchFamily="49" charset="0"/>
              </a:rPr>
              <a:t>]</a:t>
            </a:r>
            <a:r>
              <a:rPr lang="en-US" altLang="vi-VN" dirty="0">
                <a:solidFill>
                  <a:srgbClr val="404040"/>
                </a:solidFill>
                <a:latin typeface="Courier New" panose="02070309020205020404" pitchFamily="49" charset="0"/>
              </a:rPr>
              <a:t> + " ");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 dirty="0">
                <a:solidFill>
                  <a:srgbClr val="404040"/>
                </a:solidFill>
                <a:latin typeface="Courier New" panose="02070309020205020404" pitchFamily="49" charset="0"/>
              </a:rPr>
              <a:t>	}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 b="1" dirty="0">
                <a:solidFill>
                  <a:srgbClr val="800000"/>
                </a:solidFill>
                <a:latin typeface="Courier New" panose="02070309020205020404" pitchFamily="49" charset="0"/>
              </a:rPr>
              <a:t>	</a:t>
            </a:r>
            <a:r>
              <a:rPr lang="en-US" altLang="vi-VN" b="1" dirty="0" err="1">
                <a:solidFill>
                  <a:srgbClr val="8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vi-VN" b="1" dirty="0">
                <a:solidFill>
                  <a:srgbClr val="800000"/>
                </a:solidFill>
                <a:latin typeface="Courier New" panose="02070309020205020404" pitchFamily="49" charset="0"/>
              </a:rPr>
              <a:t>(numbers[-1]);  // exception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 b="1" dirty="0">
                <a:solidFill>
                  <a:srgbClr val="800000"/>
                </a:solidFill>
                <a:latin typeface="Courier New" panose="02070309020205020404" pitchFamily="49" charset="0"/>
              </a:rPr>
              <a:t>	</a:t>
            </a:r>
            <a:r>
              <a:rPr lang="en-US" altLang="vi-VN" b="1" dirty="0" err="1">
                <a:solidFill>
                  <a:srgbClr val="8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vi-VN" b="1" dirty="0">
                <a:solidFill>
                  <a:srgbClr val="800000"/>
                </a:solidFill>
                <a:latin typeface="Courier New" panose="02070309020205020404" pitchFamily="49" charset="0"/>
              </a:rPr>
              <a:t>(numbers[7]);   // exception</a:t>
            </a:r>
          </a:p>
        </p:txBody>
      </p:sp>
      <p:sp>
        <p:nvSpPr>
          <p:cNvPr id="535554" name="Rectangle 2">
            <a:extLst>
              <a:ext uri="{FF2B5EF4-FFF2-40B4-BE49-F238E27FC236}">
                <a16:creationId xmlns:a16="http://schemas.microsoft.com/office/drawing/2014/main" id="{F1670363-4D69-4AC2-A2EB-C9190328C6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/>
              <a:t>Accessing elements; length</a:t>
            </a:r>
          </a:p>
        </p:txBody>
      </p:sp>
      <p:graphicFrame>
        <p:nvGraphicFramePr>
          <p:cNvPr id="535556" name="Group 4">
            <a:extLst>
              <a:ext uri="{FF2B5EF4-FFF2-40B4-BE49-F238E27FC236}">
                <a16:creationId xmlns:a16="http://schemas.microsoft.com/office/drawing/2014/main" id="{A1EC27B4-4D31-DFFF-CBC6-84F225DD0822}"/>
              </a:ext>
            </a:extLst>
          </p:cNvPr>
          <p:cNvGraphicFramePr>
            <a:graphicFrameLocks noGrp="1"/>
          </p:cNvGraphicFramePr>
          <p:nvPr/>
        </p:nvGraphicFramePr>
        <p:xfrm>
          <a:off x="2133600" y="5534025"/>
          <a:ext cx="4800600" cy="792480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13245532"/>
                    </a:ext>
                  </a:extLst>
                </a:gridCol>
                <a:gridCol w="557213">
                  <a:extLst>
                    <a:ext uri="{9D8B030D-6E8A-4147-A177-3AD203B41FA5}">
                      <a16:colId xmlns:a16="http://schemas.microsoft.com/office/drawing/2014/main" val="368949188"/>
                    </a:ext>
                  </a:extLst>
                </a:gridCol>
                <a:gridCol w="557212">
                  <a:extLst>
                    <a:ext uri="{9D8B030D-6E8A-4147-A177-3AD203B41FA5}">
                      <a16:colId xmlns:a16="http://schemas.microsoft.com/office/drawing/2014/main" val="32311985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411105285"/>
                    </a:ext>
                  </a:extLst>
                </a:gridCol>
                <a:gridCol w="557213">
                  <a:extLst>
                    <a:ext uri="{9D8B030D-6E8A-4147-A177-3AD203B41FA5}">
                      <a16:colId xmlns:a16="http://schemas.microsoft.com/office/drawing/2014/main" val="3213195532"/>
                    </a:ext>
                  </a:extLst>
                </a:gridCol>
                <a:gridCol w="557212">
                  <a:extLst>
                    <a:ext uri="{9D8B030D-6E8A-4147-A177-3AD203B41FA5}">
                      <a16:colId xmlns:a16="http://schemas.microsoft.com/office/drawing/2014/main" val="2253354758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4078205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3744306438"/>
                    </a:ext>
                  </a:extLst>
                </a:gridCol>
              </a:tblGrid>
              <a:tr h="1397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index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5159002"/>
                  </a:ext>
                </a:extLst>
              </a:tr>
              <a:tr h="1397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49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88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-6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11877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9" name="Rectangle 3">
            <a:extLst>
              <a:ext uri="{FF2B5EF4-FFF2-40B4-BE49-F238E27FC236}">
                <a16:creationId xmlns:a16="http://schemas.microsoft.com/office/drawing/2014/main" id="{F47CF49F-9835-0448-DC4E-8A59BFEFD4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r>
              <a:rPr lang="en-US" altLang="vi-VN">
                <a:solidFill>
                  <a:srgbClr val="262626"/>
                </a:solidFill>
              </a:rPr>
              <a:t>Arrays are useful, but they have many flaws and limitations:</a:t>
            </a:r>
          </a:p>
          <a:p>
            <a:pPr lvl="1"/>
            <a:r>
              <a:rPr lang="en-US" altLang="vi-VN">
                <a:solidFill>
                  <a:srgbClr val="404040"/>
                </a:solidFill>
              </a:rPr>
              <a:t>size cannot be changed after the array has been constructed</a:t>
            </a:r>
          </a:p>
          <a:p>
            <a:pPr lvl="1"/>
            <a:r>
              <a:rPr lang="en-US" altLang="vi-VN">
                <a:solidFill>
                  <a:srgbClr val="404040"/>
                </a:solidFill>
              </a:rPr>
              <a:t>no built-in way to print the array</a:t>
            </a:r>
          </a:p>
          <a:p>
            <a:pPr lvl="1"/>
            <a:r>
              <a:rPr lang="en-US" altLang="vi-VN">
                <a:solidFill>
                  <a:srgbClr val="404040"/>
                </a:solidFill>
              </a:rPr>
              <a:t>no built-in way to insert/remove an element</a:t>
            </a:r>
          </a:p>
          <a:p>
            <a:pPr lvl="1"/>
            <a:r>
              <a:rPr lang="en-US" altLang="vi-VN">
                <a:solidFill>
                  <a:srgbClr val="404040"/>
                </a:solidFill>
              </a:rPr>
              <a:t>no search feature</a:t>
            </a:r>
          </a:p>
          <a:p>
            <a:pPr lvl="1"/>
            <a:r>
              <a:rPr lang="en-US" altLang="vi-VN">
                <a:solidFill>
                  <a:srgbClr val="404040"/>
                </a:solidFill>
              </a:rPr>
              <a:t>no sort feature</a:t>
            </a:r>
          </a:p>
          <a:p>
            <a:pPr lvl="1"/>
            <a:r>
              <a:rPr lang="en-US" altLang="vi-VN">
                <a:solidFill>
                  <a:srgbClr val="404040"/>
                </a:solidFill>
              </a:rPr>
              <a:t>no easy duplicate detection/removal</a:t>
            </a:r>
          </a:p>
          <a:p>
            <a:pPr lvl="1"/>
            <a:r>
              <a:rPr lang="en-US" altLang="vi-VN">
                <a:solidFill>
                  <a:srgbClr val="404040"/>
                </a:solidFill>
              </a:rPr>
              <a:t>inconsistent syntax with other objects (length vs. length() vs. size())</a:t>
            </a:r>
          </a:p>
          <a:p>
            <a:pPr lvl="1"/>
            <a:r>
              <a:rPr lang="en-US" altLang="vi-VN">
                <a:solidFill>
                  <a:srgbClr val="404040"/>
                </a:solidFill>
              </a:rPr>
              <a:t>...</a:t>
            </a:r>
          </a:p>
        </p:txBody>
      </p:sp>
      <p:sp>
        <p:nvSpPr>
          <p:cNvPr id="536578" name="Rectangle 2">
            <a:extLst>
              <a:ext uri="{FF2B5EF4-FFF2-40B4-BE49-F238E27FC236}">
                <a16:creationId xmlns:a16="http://schemas.microsoft.com/office/drawing/2014/main" id="{31C6562E-95EB-F072-C44D-78654D98FD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/>
              <a:t>Limitations of arrays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619" name="Rectangle 3">
            <a:extLst>
              <a:ext uri="{FF2B5EF4-FFF2-40B4-BE49-F238E27FC236}">
                <a16:creationId xmlns:a16="http://schemas.microsoft.com/office/drawing/2014/main" id="{7DE2FB49-F757-7082-9519-1385886BA6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r>
              <a:rPr lang="en-US" altLang="vi-VN" b="1" dirty="0">
                <a:solidFill>
                  <a:srgbClr val="262626"/>
                </a:solidFill>
              </a:rPr>
              <a:t>collection</a:t>
            </a:r>
            <a:r>
              <a:rPr lang="en-US" altLang="vi-VN" dirty="0">
                <a:solidFill>
                  <a:srgbClr val="262626"/>
                </a:solidFill>
              </a:rPr>
              <a:t>: An object that stores data (objects) inside it.</a:t>
            </a:r>
          </a:p>
          <a:p>
            <a:pPr lvl="1"/>
            <a:r>
              <a:rPr lang="en-US" altLang="vi-VN" dirty="0">
                <a:solidFill>
                  <a:srgbClr val="404040"/>
                </a:solidFill>
              </a:rPr>
              <a:t>the objects of data stored are called </a:t>
            </a:r>
            <a:r>
              <a:rPr lang="en-US" altLang="vi-VN" b="1" dirty="0">
                <a:solidFill>
                  <a:srgbClr val="404040"/>
                </a:solidFill>
              </a:rPr>
              <a:t>elements</a:t>
            </a:r>
            <a:endParaRPr lang="en-US" altLang="vi-VN" dirty="0">
              <a:solidFill>
                <a:srgbClr val="404040"/>
              </a:solidFill>
            </a:endParaRPr>
          </a:p>
          <a:p>
            <a:pPr lvl="1"/>
            <a:r>
              <a:rPr lang="en-US" altLang="vi-VN" dirty="0">
                <a:solidFill>
                  <a:srgbClr val="404040"/>
                </a:solidFill>
              </a:rPr>
              <a:t>typical operations: </a:t>
            </a:r>
            <a:r>
              <a:rPr lang="en-US" altLang="vi-VN" i="1" dirty="0">
                <a:solidFill>
                  <a:srgbClr val="404040"/>
                </a:solidFill>
              </a:rPr>
              <a:t>add</a:t>
            </a:r>
            <a:r>
              <a:rPr lang="en-US" altLang="vi-VN" dirty="0">
                <a:solidFill>
                  <a:srgbClr val="404040"/>
                </a:solidFill>
              </a:rPr>
              <a:t>, </a:t>
            </a:r>
            <a:r>
              <a:rPr lang="en-US" altLang="vi-VN" i="1" dirty="0">
                <a:solidFill>
                  <a:srgbClr val="404040"/>
                </a:solidFill>
              </a:rPr>
              <a:t>remove</a:t>
            </a:r>
            <a:r>
              <a:rPr lang="en-US" altLang="vi-VN" dirty="0">
                <a:solidFill>
                  <a:srgbClr val="404040"/>
                </a:solidFill>
              </a:rPr>
              <a:t>, </a:t>
            </a:r>
            <a:r>
              <a:rPr lang="en-US" altLang="vi-VN" i="1" dirty="0">
                <a:solidFill>
                  <a:srgbClr val="404040"/>
                </a:solidFill>
              </a:rPr>
              <a:t>clear</a:t>
            </a:r>
            <a:r>
              <a:rPr lang="en-US" altLang="vi-VN" dirty="0">
                <a:solidFill>
                  <a:srgbClr val="404040"/>
                </a:solidFill>
              </a:rPr>
              <a:t>, </a:t>
            </a:r>
            <a:r>
              <a:rPr lang="en-US" altLang="vi-VN" i="1" dirty="0">
                <a:solidFill>
                  <a:srgbClr val="404040"/>
                </a:solidFill>
              </a:rPr>
              <a:t>contains</a:t>
            </a:r>
            <a:r>
              <a:rPr lang="en-US" altLang="vi-VN" dirty="0">
                <a:solidFill>
                  <a:srgbClr val="404040"/>
                </a:solidFill>
              </a:rPr>
              <a:t> (search), </a:t>
            </a:r>
            <a:r>
              <a:rPr lang="en-US" altLang="vi-VN" i="1" dirty="0">
                <a:solidFill>
                  <a:srgbClr val="404040"/>
                </a:solidFill>
              </a:rPr>
              <a:t>size</a:t>
            </a:r>
            <a:endParaRPr lang="en-US" altLang="vi-VN" dirty="0">
              <a:solidFill>
                <a:srgbClr val="404040"/>
              </a:solidFill>
            </a:endParaRPr>
          </a:p>
          <a:p>
            <a:pPr lvl="1"/>
            <a:r>
              <a:rPr lang="en-US" altLang="vi-VN" dirty="0">
                <a:solidFill>
                  <a:srgbClr val="404040"/>
                </a:solidFill>
              </a:rPr>
              <a:t>some collections maintain an ordering; some allow duplicates</a:t>
            </a:r>
          </a:p>
          <a:p>
            <a:pPr lvl="1"/>
            <a:endParaRPr lang="en-US" altLang="vi-VN" b="1" dirty="0">
              <a:solidFill>
                <a:srgbClr val="404040"/>
              </a:solidFill>
            </a:endParaRPr>
          </a:p>
          <a:p>
            <a:pPr lvl="1"/>
            <a:r>
              <a:rPr lang="en-US" altLang="vi-VN" b="1" dirty="0">
                <a:solidFill>
                  <a:srgbClr val="404040"/>
                </a:solidFill>
              </a:rPr>
              <a:t>data structure</a:t>
            </a:r>
            <a:r>
              <a:rPr lang="en-US" altLang="vi-VN" dirty="0">
                <a:solidFill>
                  <a:srgbClr val="404040"/>
                </a:solidFill>
              </a:rPr>
              <a:t>: underlying implementation of a collection's behavior</a:t>
            </a:r>
            <a:endParaRPr lang="en-US" altLang="vi-VN" i="1" dirty="0">
              <a:solidFill>
                <a:srgbClr val="404040"/>
              </a:solidFill>
            </a:endParaRPr>
          </a:p>
          <a:p>
            <a:pPr lvl="2"/>
            <a:r>
              <a:rPr lang="en-US" altLang="vi-VN" dirty="0"/>
              <a:t>most collections are based on an array or a set of linked node objects</a:t>
            </a:r>
          </a:p>
          <a:p>
            <a:pPr lvl="1"/>
            <a:endParaRPr lang="en-US" altLang="vi-VN" dirty="0">
              <a:solidFill>
                <a:srgbClr val="404040"/>
              </a:solidFill>
            </a:endParaRPr>
          </a:p>
          <a:p>
            <a:pPr lvl="1"/>
            <a:r>
              <a:rPr lang="en-US" altLang="vi-VN" dirty="0">
                <a:solidFill>
                  <a:srgbClr val="404040"/>
                </a:solidFill>
              </a:rPr>
              <a:t>examples found in the Java class libraries:</a:t>
            </a:r>
          </a:p>
          <a:p>
            <a:pPr lvl="2"/>
            <a:r>
              <a:rPr lang="en-US" altLang="vi-VN" dirty="0" err="1">
                <a:latin typeface="Courier New" panose="02070309020205020404" pitchFamily="49" charset="0"/>
              </a:rPr>
              <a:t>ArrayList</a:t>
            </a:r>
            <a:r>
              <a:rPr lang="en-US" altLang="vi-VN" dirty="0"/>
              <a:t>, </a:t>
            </a:r>
            <a:r>
              <a:rPr lang="en-US" altLang="vi-VN" dirty="0">
                <a:latin typeface="Courier New" panose="02070309020205020404" pitchFamily="49" charset="0"/>
              </a:rPr>
              <a:t>LinkedList</a:t>
            </a:r>
            <a:r>
              <a:rPr lang="en-US" altLang="vi-VN" dirty="0"/>
              <a:t>, </a:t>
            </a:r>
            <a:r>
              <a:rPr lang="en-US" altLang="vi-VN" dirty="0">
                <a:latin typeface="Courier New" panose="02070309020205020404" pitchFamily="49" charset="0"/>
              </a:rPr>
              <a:t>HashMap</a:t>
            </a:r>
            <a:r>
              <a:rPr lang="en-US" altLang="vi-VN" dirty="0"/>
              <a:t>, </a:t>
            </a:r>
            <a:r>
              <a:rPr lang="en-US" altLang="vi-VN" dirty="0" err="1">
                <a:latin typeface="Courier New" panose="02070309020205020404" pitchFamily="49" charset="0"/>
              </a:rPr>
              <a:t>TreeSet</a:t>
            </a:r>
            <a:r>
              <a:rPr lang="en-US" altLang="vi-VN" dirty="0"/>
              <a:t>, </a:t>
            </a:r>
            <a:r>
              <a:rPr lang="en-US" altLang="vi-VN" dirty="0" err="1">
                <a:latin typeface="Courier New" panose="02070309020205020404" pitchFamily="49" charset="0"/>
              </a:rPr>
              <a:t>PriorityQueue</a:t>
            </a:r>
            <a:endParaRPr lang="en-US" altLang="vi-VN" dirty="0">
              <a:latin typeface="Courier New" panose="02070309020205020404" pitchFamily="49" charset="0"/>
            </a:endParaRPr>
          </a:p>
          <a:p>
            <a:pPr lvl="2"/>
            <a:endParaRPr lang="en-US" altLang="vi-VN" dirty="0">
              <a:latin typeface="Courier New" panose="02070309020205020404" pitchFamily="49" charset="0"/>
            </a:endParaRPr>
          </a:p>
          <a:p>
            <a:pPr lvl="1"/>
            <a:r>
              <a:rPr lang="en-US" altLang="vi-VN" dirty="0">
                <a:solidFill>
                  <a:srgbClr val="404040"/>
                </a:solidFill>
              </a:rPr>
              <a:t>all collections are in the </a:t>
            </a:r>
            <a:r>
              <a:rPr lang="en-US" altLang="vi-VN" dirty="0" err="1">
                <a:solidFill>
                  <a:srgbClr val="404040"/>
                </a:solidFill>
                <a:latin typeface="Courier New" panose="02070309020205020404" pitchFamily="49" charset="0"/>
              </a:rPr>
              <a:t>java.util</a:t>
            </a:r>
            <a:r>
              <a:rPr lang="en-US" altLang="vi-VN" dirty="0">
                <a:solidFill>
                  <a:srgbClr val="404040"/>
                </a:solidFill>
              </a:rPr>
              <a:t> package</a:t>
            </a:r>
          </a:p>
          <a:p>
            <a:pPr lvl="2">
              <a:buFontTx/>
              <a:buNone/>
            </a:pPr>
            <a:r>
              <a:rPr lang="en-US" altLang="vi-VN" dirty="0">
                <a:latin typeface="Courier New" panose="02070309020205020404" pitchFamily="49" charset="0"/>
              </a:rPr>
              <a:t>	import </a:t>
            </a:r>
            <a:r>
              <a:rPr lang="en-US" altLang="vi-VN" dirty="0" err="1">
                <a:latin typeface="Courier New" panose="02070309020205020404" pitchFamily="49" charset="0"/>
              </a:rPr>
              <a:t>java.util</a:t>
            </a:r>
            <a:r>
              <a:rPr lang="en-US" altLang="vi-VN" dirty="0">
                <a:latin typeface="Courier New" panose="02070309020205020404" pitchFamily="49" charset="0"/>
              </a:rPr>
              <a:t>.*;</a:t>
            </a:r>
          </a:p>
        </p:txBody>
      </p:sp>
      <p:sp>
        <p:nvSpPr>
          <p:cNvPr id="495618" name="Rectangle 2">
            <a:extLst>
              <a:ext uri="{FF2B5EF4-FFF2-40B4-BE49-F238E27FC236}">
                <a16:creationId xmlns:a16="http://schemas.microsoft.com/office/drawing/2014/main" id="{4E679551-8402-CF11-1CE7-D6082F0F1E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/>
              <a:t>Collections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2" name="Rectangle 2">
            <a:extLst>
              <a:ext uri="{FF2B5EF4-FFF2-40B4-BE49-F238E27FC236}">
                <a16:creationId xmlns:a16="http://schemas.microsoft.com/office/drawing/2014/main" id="{7F69F9ED-AB5F-73E2-ABD7-B277A635BA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/>
              <a:t>Java collection framework</a:t>
            </a:r>
          </a:p>
        </p:txBody>
      </p:sp>
      <p:pic>
        <p:nvPicPr>
          <p:cNvPr id="496643" name="Picture 3">
            <a:extLst>
              <a:ext uri="{FF2B5EF4-FFF2-40B4-BE49-F238E27FC236}">
                <a16:creationId xmlns:a16="http://schemas.microsoft.com/office/drawing/2014/main" id="{263F7466-65EE-77BB-D338-385055ECB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19200"/>
            <a:ext cx="8534400" cy="545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27" name="Rectangle 3">
            <a:extLst>
              <a:ext uri="{FF2B5EF4-FFF2-40B4-BE49-F238E27FC236}">
                <a16:creationId xmlns:a16="http://schemas.microsoft.com/office/drawing/2014/main" id="{C6D67B9B-360F-3B53-4FC2-0268414FE7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tabLst>
                <a:tab pos="860425" algn="l"/>
                <a:tab pos="1143000" algn="l"/>
                <a:tab pos="1431925" algn="l"/>
                <a:tab pos="1774825" algn="l"/>
                <a:tab pos="5486400" algn="l"/>
              </a:tabLst>
            </a:pPr>
            <a:r>
              <a:rPr lang="en-US" altLang="vi-VN" b="1">
                <a:solidFill>
                  <a:srgbClr val="262626"/>
                </a:solidFill>
              </a:rPr>
              <a:t>abstract data type (ADT)</a:t>
            </a:r>
            <a:r>
              <a:rPr lang="en-US" altLang="vi-VN">
                <a:solidFill>
                  <a:srgbClr val="262626"/>
                </a:solidFill>
              </a:rPr>
              <a:t>: A specification of a collection of data and the operations that can be performed on it.</a:t>
            </a:r>
          </a:p>
          <a:p>
            <a:pPr lvl="1">
              <a:tabLst>
                <a:tab pos="860425" algn="l"/>
                <a:tab pos="1143000" algn="l"/>
                <a:tab pos="1431925" algn="l"/>
                <a:tab pos="1774825" algn="l"/>
                <a:tab pos="5486400" algn="l"/>
              </a:tabLst>
            </a:pPr>
            <a:r>
              <a:rPr lang="en-US" altLang="vi-VN">
                <a:solidFill>
                  <a:srgbClr val="404040"/>
                </a:solidFill>
              </a:rPr>
              <a:t>Describes </a:t>
            </a:r>
            <a:r>
              <a:rPr lang="en-US" altLang="vi-VN" i="1">
                <a:solidFill>
                  <a:srgbClr val="404040"/>
                </a:solidFill>
              </a:rPr>
              <a:t>what</a:t>
            </a:r>
            <a:r>
              <a:rPr lang="en-US" altLang="vi-VN">
                <a:solidFill>
                  <a:srgbClr val="404040"/>
                </a:solidFill>
              </a:rPr>
              <a:t> a collection does, not </a:t>
            </a:r>
            <a:r>
              <a:rPr lang="en-US" altLang="vi-VN" i="1">
                <a:solidFill>
                  <a:srgbClr val="404040"/>
                </a:solidFill>
              </a:rPr>
              <a:t>how</a:t>
            </a:r>
            <a:r>
              <a:rPr lang="en-US" altLang="vi-VN">
                <a:solidFill>
                  <a:srgbClr val="404040"/>
                </a:solidFill>
              </a:rPr>
              <a:t> it does it.</a:t>
            </a:r>
          </a:p>
          <a:p>
            <a:pPr lvl="1">
              <a:tabLst>
                <a:tab pos="860425" algn="l"/>
                <a:tab pos="1143000" algn="l"/>
                <a:tab pos="1431925" algn="l"/>
                <a:tab pos="1774825" algn="l"/>
                <a:tab pos="5486400" algn="l"/>
              </a:tabLst>
            </a:pPr>
            <a:endParaRPr lang="en-US" altLang="vi-VN">
              <a:solidFill>
                <a:srgbClr val="404040"/>
              </a:solidFill>
            </a:endParaRPr>
          </a:p>
          <a:p>
            <a:pPr>
              <a:tabLst>
                <a:tab pos="860425" algn="l"/>
                <a:tab pos="1143000" algn="l"/>
                <a:tab pos="1431925" algn="l"/>
                <a:tab pos="1774825" algn="l"/>
                <a:tab pos="5486400" algn="l"/>
              </a:tabLst>
            </a:pPr>
            <a:r>
              <a:rPr lang="en-US" altLang="vi-VN">
                <a:solidFill>
                  <a:srgbClr val="262626"/>
                </a:solidFill>
              </a:rPr>
              <a:t>Java's collection framework uses interfaces to describe ADTs:</a:t>
            </a:r>
          </a:p>
          <a:p>
            <a:pPr lvl="1">
              <a:tabLst>
                <a:tab pos="860425" algn="l"/>
                <a:tab pos="1143000" algn="l"/>
                <a:tab pos="1431925" algn="l"/>
                <a:tab pos="1774825" algn="l"/>
                <a:tab pos="5486400" algn="l"/>
              </a:tabLst>
            </a:pP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Collection</a:t>
            </a:r>
            <a:r>
              <a:rPr lang="en-US" altLang="vi-VN">
                <a:solidFill>
                  <a:srgbClr val="404040"/>
                </a:solidFill>
              </a:rPr>
              <a:t>, 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Deque</a:t>
            </a:r>
            <a:r>
              <a:rPr lang="en-US" altLang="vi-VN">
                <a:solidFill>
                  <a:srgbClr val="404040"/>
                </a:solidFill>
              </a:rPr>
              <a:t>, 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List</a:t>
            </a:r>
            <a:r>
              <a:rPr lang="en-US" altLang="vi-VN">
                <a:solidFill>
                  <a:srgbClr val="404040"/>
                </a:solidFill>
              </a:rPr>
              <a:t>, 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Map</a:t>
            </a:r>
            <a:r>
              <a:rPr lang="en-US" altLang="vi-VN">
                <a:solidFill>
                  <a:srgbClr val="404040"/>
                </a:solidFill>
              </a:rPr>
              <a:t>, 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Queue</a:t>
            </a:r>
            <a:r>
              <a:rPr lang="en-US" altLang="vi-VN">
                <a:solidFill>
                  <a:srgbClr val="404040"/>
                </a:solidFill>
              </a:rPr>
              <a:t>, 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Set</a:t>
            </a:r>
          </a:p>
          <a:p>
            <a:pPr lvl="1">
              <a:tabLst>
                <a:tab pos="860425" algn="l"/>
                <a:tab pos="1143000" algn="l"/>
                <a:tab pos="1431925" algn="l"/>
                <a:tab pos="1774825" algn="l"/>
                <a:tab pos="5486400" algn="l"/>
              </a:tabLst>
            </a:pPr>
            <a:endParaRPr lang="en-US" altLang="vi-VN">
              <a:solidFill>
                <a:srgbClr val="404040"/>
              </a:solidFill>
            </a:endParaRPr>
          </a:p>
          <a:p>
            <a:pPr>
              <a:tabLst>
                <a:tab pos="860425" algn="l"/>
                <a:tab pos="1143000" algn="l"/>
                <a:tab pos="1431925" algn="l"/>
                <a:tab pos="1774825" algn="l"/>
                <a:tab pos="5486400" algn="l"/>
              </a:tabLst>
            </a:pPr>
            <a:r>
              <a:rPr lang="en-US" altLang="vi-VN">
                <a:solidFill>
                  <a:srgbClr val="262626"/>
                </a:solidFill>
              </a:rPr>
              <a:t>An ADT can be implemented in multiple ways by classes:</a:t>
            </a:r>
          </a:p>
          <a:p>
            <a:pPr lvl="1">
              <a:tabLst>
                <a:tab pos="860425" algn="l"/>
                <a:tab pos="1143000" algn="l"/>
                <a:tab pos="1431925" algn="l"/>
                <a:tab pos="1774825" algn="l"/>
                <a:tab pos="5486400" algn="l"/>
              </a:tabLst>
            </a:pP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ArrayList</a:t>
            </a:r>
            <a:r>
              <a:rPr lang="en-US" altLang="vi-VN">
                <a:solidFill>
                  <a:srgbClr val="404040"/>
                </a:solidFill>
              </a:rPr>
              <a:t> and 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LinkedList</a:t>
            </a:r>
            <a:r>
              <a:rPr lang="en-US" altLang="vi-VN">
                <a:solidFill>
                  <a:srgbClr val="404040"/>
                </a:solidFill>
              </a:rPr>
              <a:t>	implement 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List</a:t>
            </a:r>
          </a:p>
          <a:p>
            <a:pPr lvl="1">
              <a:tabLst>
                <a:tab pos="860425" algn="l"/>
                <a:tab pos="1143000" algn="l"/>
                <a:tab pos="1431925" algn="l"/>
                <a:tab pos="1774825" algn="l"/>
                <a:tab pos="5486400" algn="l"/>
              </a:tabLst>
            </a:pP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HashSet</a:t>
            </a:r>
            <a:r>
              <a:rPr lang="en-US" altLang="vi-VN">
                <a:solidFill>
                  <a:srgbClr val="404040"/>
                </a:solidFill>
              </a:rPr>
              <a:t> and 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TreeSet</a:t>
            </a:r>
            <a:r>
              <a:rPr lang="en-US" altLang="vi-VN">
                <a:solidFill>
                  <a:srgbClr val="404040"/>
                </a:solidFill>
              </a:rPr>
              <a:t>	implement 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Set</a:t>
            </a:r>
          </a:p>
          <a:p>
            <a:pPr lvl="1">
              <a:tabLst>
                <a:tab pos="860425" algn="l"/>
                <a:tab pos="1143000" algn="l"/>
                <a:tab pos="1431925" algn="l"/>
                <a:tab pos="1774825" algn="l"/>
                <a:tab pos="5486400" algn="l"/>
              </a:tabLst>
            </a:pP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LinkedList</a:t>
            </a:r>
            <a:r>
              <a:rPr lang="en-US" altLang="vi-VN">
                <a:solidFill>
                  <a:srgbClr val="404040"/>
                </a:solidFill>
              </a:rPr>
              <a:t> , 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ArrayDeque</a:t>
            </a:r>
            <a:r>
              <a:rPr lang="en-US" altLang="vi-VN">
                <a:solidFill>
                  <a:srgbClr val="404040"/>
                </a:solidFill>
              </a:rPr>
              <a:t>, etc.	implement 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Queue</a:t>
            </a:r>
          </a:p>
        </p:txBody>
      </p:sp>
      <p:sp>
        <p:nvSpPr>
          <p:cNvPr id="513026" name="Rectangle 2">
            <a:extLst>
              <a:ext uri="{FF2B5EF4-FFF2-40B4-BE49-F238E27FC236}">
                <a16:creationId xmlns:a16="http://schemas.microsoft.com/office/drawing/2014/main" id="{0E5AD457-22E4-5F71-9B72-C8535C031E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/>
              <a:t>Abstract data types (ADTs)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87" name="Rectangle 3">
            <a:extLst>
              <a:ext uri="{FF2B5EF4-FFF2-40B4-BE49-F238E27FC236}">
                <a16:creationId xmlns:a16="http://schemas.microsoft.com/office/drawing/2014/main" id="{564DF954-01E5-1135-F0F8-B951C1AF92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vi-VN" b="1">
                <a:solidFill>
                  <a:srgbClr val="262626"/>
                </a:solidFill>
              </a:rPr>
              <a:t>		Interface</a:t>
            </a: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&lt;</a:t>
            </a:r>
            <a:r>
              <a:rPr lang="en-US" altLang="vi-VN" b="1">
                <a:solidFill>
                  <a:srgbClr val="262626"/>
                </a:solidFill>
              </a:rPr>
              <a:t>Type</a:t>
            </a: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&gt; </a:t>
            </a:r>
            <a:r>
              <a:rPr lang="en-US" altLang="vi-VN" b="1">
                <a:solidFill>
                  <a:srgbClr val="262626"/>
                </a:solidFill>
              </a:rPr>
              <a:t>name</a:t>
            </a: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 = new </a:t>
            </a:r>
            <a:r>
              <a:rPr lang="en-US" altLang="vi-VN" b="1">
                <a:solidFill>
                  <a:srgbClr val="262626"/>
                </a:solidFill>
              </a:rPr>
              <a:t>Class</a:t>
            </a: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&lt;</a:t>
            </a:r>
            <a:r>
              <a:rPr lang="en-US" altLang="vi-VN" b="1">
                <a:solidFill>
                  <a:srgbClr val="262626"/>
                </a:solidFill>
              </a:rPr>
              <a:t>Type</a:t>
            </a: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&gt;();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vi-VN">
              <a:solidFill>
                <a:srgbClr val="262626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vi-VN">
                <a:solidFill>
                  <a:srgbClr val="262626"/>
                </a:solidFill>
              </a:rPr>
              <a:t>Use the ADT interface as the variable type.</a:t>
            </a:r>
          </a:p>
          <a:p>
            <a:pPr lvl="1">
              <a:lnSpc>
                <a:spcPct val="90000"/>
              </a:lnSpc>
            </a:pPr>
            <a:r>
              <a:rPr lang="en-US" altLang="vi-VN">
                <a:solidFill>
                  <a:srgbClr val="404040"/>
                </a:solidFill>
              </a:rPr>
              <a:t>Use the specific collection implementation class on the right.</a:t>
            </a:r>
          </a:p>
          <a:p>
            <a:pPr lvl="1">
              <a:lnSpc>
                <a:spcPct val="90000"/>
              </a:lnSpc>
            </a:pPr>
            <a:endParaRPr lang="en-US" altLang="vi-VN">
              <a:solidFill>
                <a:srgbClr val="40404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vi-VN">
                <a:solidFill>
                  <a:srgbClr val="262626"/>
                </a:solidFill>
              </a:rPr>
              <a:t>Specify the type of its elements between </a:t>
            </a: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&lt;</a:t>
            </a:r>
            <a:r>
              <a:rPr lang="en-US" altLang="vi-VN">
                <a:solidFill>
                  <a:srgbClr val="262626"/>
                </a:solidFill>
              </a:rPr>
              <a:t> and </a:t>
            </a: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&gt;</a:t>
            </a:r>
            <a:r>
              <a:rPr lang="en-US" altLang="vi-VN">
                <a:solidFill>
                  <a:srgbClr val="262626"/>
                </a:solidFill>
              </a:rPr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vi-VN">
                <a:solidFill>
                  <a:srgbClr val="404040"/>
                </a:solidFill>
              </a:rPr>
              <a:t>This is called a </a:t>
            </a:r>
            <a:r>
              <a:rPr lang="en-US" altLang="vi-VN" i="1">
                <a:solidFill>
                  <a:srgbClr val="404040"/>
                </a:solidFill>
              </a:rPr>
              <a:t>type parameter</a:t>
            </a:r>
            <a:r>
              <a:rPr lang="en-US" altLang="vi-VN">
                <a:solidFill>
                  <a:srgbClr val="404040"/>
                </a:solidFill>
              </a:rPr>
              <a:t> or a </a:t>
            </a:r>
            <a:r>
              <a:rPr lang="en-US" altLang="vi-VN" i="1">
                <a:solidFill>
                  <a:srgbClr val="404040"/>
                </a:solidFill>
              </a:rPr>
              <a:t>generic </a:t>
            </a:r>
            <a:r>
              <a:rPr lang="en-US" altLang="vi-VN">
                <a:solidFill>
                  <a:srgbClr val="404040"/>
                </a:solidFill>
              </a:rPr>
              <a:t>class.</a:t>
            </a:r>
          </a:p>
          <a:p>
            <a:pPr lvl="1">
              <a:lnSpc>
                <a:spcPct val="90000"/>
              </a:lnSpc>
            </a:pPr>
            <a:r>
              <a:rPr lang="en-US" altLang="vi-VN">
                <a:solidFill>
                  <a:srgbClr val="404040"/>
                </a:solidFill>
              </a:rPr>
              <a:t>Allows the same 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ArrayList</a:t>
            </a:r>
            <a:r>
              <a:rPr lang="en-US" altLang="vi-VN">
                <a:solidFill>
                  <a:srgbClr val="404040"/>
                </a:solidFill>
              </a:rPr>
              <a:t> class to store lists of different types.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vi-VN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List&lt;String&gt; names = new ArrayList&lt;String&gt;();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names.add("Marty Stepp");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names.add("Stuart Reges");</a:t>
            </a:r>
          </a:p>
        </p:txBody>
      </p:sp>
      <p:sp>
        <p:nvSpPr>
          <p:cNvPr id="502786" name="Rectangle 2">
            <a:extLst>
              <a:ext uri="{FF2B5EF4-FFF2-40B4-BE49-F238E27FC236}">
                <a16:creationId xmlns:a16="http://schemas.microsoft.com/office/drawing/2014/main" id="{836CC3EE-39FB-6803-BDD4-AC39E80BBA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/>
              <a:t>Constructing a collection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099" name="Rectangle 3">
            <a:extLst>
              <a:ext uri="{FF2B5EF4-FFF2-40B4-BE49-F238E27FC236}">
                <a16:creationId xmlns:a16="http://schemas.microsoft.com/office/drawing/2014/main" id="{91E8B0E1-A142-2402-7C51-F4DFD5AA80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r>
              <a:rPr lang="en-US" altLang="vi-VN" b="1">
                <a:solidFill>
                  <a:srgbClr val="262626"/>
                </a:solidFill>
              </a:rPr>
              <a:t>Q:</a:t>
            </a:r>
            <a:r>
              <a:rPr lang="en-US" altLang="vi-VN">
                <a:solidFill>
                  <a:srgbClr val="262626"/>
                </a:solidFill>
              </a:rPr>
              <a:t> Why would we want more than one kind of list, queue, etc.?</a:t>
            </a:r>
          </a:p>
          <a:p>
            <a:pPr lvl="1"/>
            <a:r>
              <a:rPr lang="en-US" altLang="vi-VN">
                <a:solidFill>
                  <a:srgbClr val="404040"/>
                </a:solidFill>
              </a:rPr>
              <a:t>(e.g. Why do we need both 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altLang="vi-VN">
                <a:solidFill>
                  <a:srgbClr val="404040"/>
                </a:solidFill>
              </a:rPr>
              <a:t> and 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LinkedList</a:t>
            </a:r>
            <a:r>
              <a:rPr lang="en-US" altLang="vi-VN">
                <a:solidFill>
                  <a:srgbClr val="404040"/>
                </a:solidFill>
              </a:rPr>
              <a:t>?)</a:t>
            </a:r>
          </a:p>
          <a:p>
            <a:pPr lvl="1"/>
            <a:endParaRPr lang="en-US" altLang="vi-VN" sz="1000">
              <a:solidFill>
                <a:srgbClr val="404040"/>
              </a:solidFill>
            </a:endParaRPr>
          </a:p>
          <a:p>
            <a:r>
              <a:rPr lang="en-US" altLang="vi-VN" b="1">
                <a:solidFill>
                  <a:srgbClr val="262626"/>
                </a:solidFill>
              </a:rPr>
              <a:t>A:</a:t>
            </a:r>
            <a:r>
              <a:rPr lang="en-US" altLang="vi-VN">
                <a:solidFill>
                  <a:srgbClr val="262626"/>
                </a:solidFill>
              </a:rPr>
              <a:t> Each implementation is more efficient at certain tasks.</a:t>
            </a:r>
          </a:p>
          <a:p>
            <a:pPr lvl="1"/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ArrayList</a:t>
            </a:r>
            <a:r>
              <a:rPr lang="en-US" altLang="vi-VN">
                <a:solidFill>
                  <a:srgbClr val="404040"/>
                </a:solidFill>
              </a:rPr>
              <a:t> is faster for adding/removing at the end;</a:t>
            </a:r>
            <a:br>
              <a:rPr lang="en-US" altLang="vi-VN">
                <a:solidFill>
                  <a:srgbClr val="404040"/>
                </a:solidFill>
              </a:rPr>
            </a:b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LinkedList</a:t>
            </a:r>
            <a:r>
              <a:rPr lang="en-US" altLang="vi-VN">
                <a:solidFill>
                  <a:srgbClr val="404040"/>
                </a:solidFill>
              </a:rPr>
              <a:t> is faster for adding/removing at the front/middle.</a:t>
            </a:r>
          </a:p>
          <a:p>
            <a:pPr lvl="1"/>
            <a:r>
              <a:rPr lang="en-US" altLang="vi-VN">
                <a:solidFill>
                  <a:srgbClr val="404040"/>
                </a:solidFill>
              </a:rPr>
              <a:t>You choose the optimal implementation for your task, and if the rest  of your code is written to use the ADT interfaces, it will work.</a:t>
            </a:r>
          </a:p>
          <a:p>
            <a:pPr lvl="1"/>
            <a:endParaRPr lang="en-US" altLang="vi-VN">
              <a:solidFill>
                <a:srgbClr val="404040"/>
              </a:solidFill>
            </a:endParaRPr>
          </a:p>
          <a:p>
            <a:r>
              <a:rPr lang="en-US" altLang="vi-VN" b="1">
                <a:solidFill>
                  <a:srgbClr val="262626"/>
                </a:solidFill>
              </a:rPr>
              <a:t>Q:</a:t>
            </a:r>
            <a:r>
              <a:rPr lang="en-US" altLang="vi-VN">
                <a:solidFill>
                  <a:srgbClr val="262626"/>
                </a:solidFill>
              </a:rPr>
              <a:t> Why declare our variables using interface types (e.g. </a:t>
            </a: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US" altLang="vi-VN">
                <a:solidFill>
                  <a:srgbClr val="262626"/>
                </a:solidFill>
              </a:rPr>
              <a:t>)?</a:t>
            </a:r>
          </a:p>
          <a:p>
            <a:pPr lvl="1"/>
            <a:r>
              <a:rPr lang="en-US" altLang="vi-VN">
                <a:solidFill>
                  <a:srgbClr val="404040"/>
                </a:solidFill>
              </a:rPr>
              <a:t>(e.g. </a:t>
            </a:r>
            <a:r>
              <a:rPr lang="en-US" altLang="vi-VN" sz="1800">
                <a:solidFill>
                  <a:srgbClr val="40404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List&lt;String&gt; list = new ArrayList&lt;String&gt;();</a:t>
            </a:r>
            <a:r>
              <a:rPr lang="en-US" altLang="vi-VN">
                <a:solidFill>
                  <a:srgbClr val="404040"/>
                </a:solidFill>
              </a:rPr>
              <a:t> )</a:t>
            </a:r>
          </a:p>
          <a:p>
            <a:pPr lvl="1"/>
            <a:endParaRPr lang="en-US" altLang="vi-VN" sz="1000">
              <a:solidFill>
                <a:srgbClr val="404040"/>
              </a:solidFill>
            </a:endParaRPr>
          </a:p>
          <a:p>
            <a:r>
              <a:rPr lang="en-US" altLang="vi-VN" b="1">
                <a:solidFill>
                  <a:srgbClr val="262626"/>
                </a:solidFill>
              </a:rPr>
              <a:t>A:</a:t>
            </a:r>
            <a:r>
              <a:rPr lang="en-US" altLang="vi-VN">
                <a:solidFill>
                  <a:srgbClr val="262626"/>
                </a:solidFill>
              </a:rPr>
              <a:t> So that the program could be changed to use a different implementation later without needing to change the code much.</a:t>
            </a:r>
          </a:p>
        </p:txBody>
      </p:sp>
      <p:sp>
        <p:nvSpPr>
          <p:cNvPr id="516098" name="Rectangle 2">
            <a:extLst>
              <a:ext uri="{FF2B5EF4-FFF2-40B4-BE49-F238E27FC236}">
                <a16:creationId xmlns:a16="http://schemas.microsoft.com/office/drawing/2014/main" id="{AA812790-0485-EA8C-F342-30DFD8F08F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/>
              <a:t>Why use ADTs?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6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16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16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16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16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16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667" name="Rectangle 3">
            <a:extLst>
              <a:ext uri="{FF2B5EF4-FFF2-40B4-BE49-F238E27FC236}">
                <a16:creationId xmlns:a16="http://schemas.microsoft.com/office/drawing/2014/main" id="{54B9944B-717D-F311-A94D-3B7BF39892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r>
              <a:rPr lang="en-US" altLang="vi-VN" b="1">
                <a:solidFill>
                  <a:srgbClr val="262626"/>
                </a:solidFill>
              </a:rPr>
              <a:t>list</a:t>
            </a:r>
            <a:r>
              <a:rPr lang="en-US" altLang="vi-VN">
                <a:solidFill>
                  <a:srgbClr val="262626"/>
                </a:solidFill>
              </a:rPr>
              <a:t>: a collection storing an ordered sequence of elements</a:t>
            </a:r>
          </a:p>
          <a:p>
            <a:pPr lvl="1"/>
            <a:r>
              <a:rPr lang="en-US" altLang="vi-VN">
                <a:solidFill>
                  <a:srgbClr val="404040"/>
                </a:solidFill>
              </a:rPr>
              <a:t>each element is accessible by a 0-based </a:t>
            </a:r>
            <a:r>
              <a:rPr lang="en-US" altLang="vi-VN" b="1">
                <a:solidFill>
                  <a:srgbClr val="404040"/>
                </a:solidFill>
              </a:rPr>
              <a:t>index</a:t>
            </a:r>
          </a:p>
          <a:p>
            <a:pPr lvl="1"/>
            <a:r>
              <a:rPr lang="en-US" altLang="vi-VN">
                <a:solidFill>
                  <a:srgbClr val="404040"/>
                </a:solidFill>
              </a:rPr>
              <a:t>a list has a </a:t>
            </a:r>
            <a:r>
              <a:rPr lang="en-US" altLang="vi-VN" b="1">
                <a:solidFill>
                  <a:srgbClr val="404040"/>
                </a:solidFill>
              </a:rPr>
              <a:t>size</a:t>
            </a:r>
            <a:r>
              <a:rPr lang="en-US" altLang="vi-VN">
                <a:solidFill>
                  <a:srgbClr val="404040"/>
                </a:solidFill>
              </a:rPr>
              <a:t> (number of elements that have been added)</a:t>
            </a:r>
          </a:p>
          <a:p>
            <a:pPr lvl="1"/>
            <a:r>
              <a:rPr lang="en-US" altLang="vi-VN">
                <a:solidFill>
                  <a:srgbClr val="404040"/>
                </a:solidFill>
              </a:rPr>
              <a:t>elements can be added to the front, back, or elsewhere</a:t>
            </a:r>
          </a:p>
          <a:p>
            <a:pPr lvl="1"/>
            <a:r>
              <a:rPr lang="en-US" altLang="vi-VN">
                <a:solidFill>
                  <a:srgbClr val="404040"/>
                </a:solidFill>
              </a:rPr>
              <a:t>in Java, represented by the 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US" altLang="vi-VN">
                <a:solidFill>
                  <a:srgbClr val="404040"/>
                </a:solidFill>
              </a:rPr>
              <a:t> interface, implemented</a:t>
            </a:r>
            <a:br>
              <a:rPr lang="en-US" altLang="vi-VN">
                <a:solidFill>
                  <a:srgbClr val="404040"/>
                </a:solidFill>
              </a:rPr>
            </a:br>
            <a:r>
              <a:rPr lang="en-US" altLang="vi-VN">
                <a:solidFill>
                  <a:srgbClr val="404040"/>
                </a:solidFill>
              </a:rPr>
              <a:t>by the 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ArrayList</a:t>
            </a:r>
            <a:r>
              <a:rPr lang="en-US" altLang="vi-VN">
                <a:solidFill>
                  <a:srgbClr val="404040"/>
                </a:solidFill>
              </a:rPr>
              <a:t> and 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LinkedList</a:t>
            </a:r>
            <a:r>
              <a:rPr lang="en-US" altLang="vi-VN">
                <a:solidFill>
                  <a:srgbClr val="404040"/>
                </a:solidFill>
              </a:rPr>
              <a:t> classes</a:t>
            </a:r>
          </a:p>
        </p:txBody>
      </p:sp>
      <p:sp>
        <p:nvSpPr>
          <p:cNvPr id="497666" name="Rectangle 2">
            <a:extLst>
              <a:ext uri="{FF2B5EF4-FFF2-40B4-BE49-F238E27FC236}">
                <a16:creationId xmlns:a16="http://schemas.microsoft.com/office/drawing/2014/main" id="{AA18DAE9-107A-16FA-8B59-33BB926657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/>
              <a:t>Lists</a:t>
            </a:r>
          </a:p>
        </p:txBody>
      </p:sp>
      <p:pic>
        <p:nvPicPr>
          <p:cNvPr id="497668" name="Picture 4">
            <a:extLst>
              <a:ext uri="{FF2B5EF4-FFF2-40B4-BE49-F238E27FC236}">
                <a16:creationId xmlns:a16="http://schemas.microsoft.com/office/drawing/2014/main" id="{F2C00C5D-46AA-F843-586A-2F6AC8BC0CE3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714750"/>
            <a:ext cx="6934200" cy="283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>
            <a:extLst>
              <a:ext uri="{FF2B5EF4-FFF2-40B4-BE49-F238E27FC236}">
                <a16:creationId xmlns:a16="http://schemas.microsoft.com/office/drawing/2014/main" id="{A5260C4E-3FB2-B557-29B8-E879B03BAC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>
                <a:latin typeface="Courier New" panose="02070309020205020404" pitchFamily="49" charset="0"/>
              </a:rPr>
              <a:t>List</a:t>
            </a:r>
            <a:r>
              <a:rPr lang="en-US" altLang="vi-VN"/>
              <a:t> methods</a:t>
            </a:r>
          </a:p>
        </p:txBody>
      </p:sp>
      <p:graphicFrame>
        <p:nvGraphicFramePr>
          <p:cNvPr id="500782" name="Group 46">
            <a:extLst>
              <a:ext uri="{FF2B5EF4-FFF2-40B4-BE49-F238E27FC236}">
                <a16:creationId xmlns:a16="http://schemas.microsoft.com/office/drawing/2014/main" id="{E87033AB-4869-659C-B50B-5D5AC4095D35}"/>
              </a:ext>
            </a:extLst>
          </p:cNvPr>
          <p:cNvGraphicFramePr>
            <a:graphicFrameLocks noGrp="1"/>
          </p:cNvGraphicFramePr>
          <p:nvPr/>
        </p:nvGraphicFramePr>
        <p:xfrm>
          <a:off x="381000" y="1346200"/>
          <a:ext cx="8382000" cy="5096703"/>
        </p:xfrm>
        <a:graphic>
          <a:graphicData uri="http://schemas.openxmlformats.org/drawingml/2006/table">
            <a:tbl>
              <a:tblPr/>
              <a:tblGrid>
                <a:gridCol w="2916238">
                  <a:extLst>
                    <a:ext uri="{9D8B030D-6E8A-4147-A177-3AD203B41FA5}">
                      <a16:colId xmlns:a16="http://schemas.microsoft.com/office/drawing/2014/main" val="1051845071"/>
                    </a:ext>
                  </a:extLst>
                </a:gridCol>
                <a:gridCol w="5465762">
                  <a:extLst>
                    <a:ext uri="{9D8B030D-6E8A-4147-A177-3AD203B41FA5}">
                      <a16:colId xmlns:a16="http://schemas.microsoft.com/office/drawing/2014/main" val="3168623668"/>
                    </a:ext>
                  </a:extLst>
                </a:gridCol>
              </a:tblGrid>
              <a:tr h="17462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Courier New" panose="02070309020205020404" pitchFamily="49" charset="0"/>
                        </a:rPr>
                        <a:t>constructor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b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kumimoji="0" lang="en-US" altLang="vi-V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Courier New" panose="02070309020205020404" pitchFamily="49" charset="0"/>
                        </a:rPr>
                        <a:t>constructor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kumimoji="0" lang="en-US" altLang="vi-V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Courier New" panose="02070309020205020404" pitchFamily="49" charset="0"/>
                        </a:rPr>
                        <a:t>list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creates a new empty list,</a:t>
                      </a:r>
                      <a:b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or a set based on the elements of another list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2737780"/>
                  </a:ext>
                </a:extLst>
              </a:tr>
              <a:tr h="17462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add(</a:t>
                      </a:r>
                      <a:r>
                        <a:rPr kumimoji="0" lang="en-US" altLang="vi-V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Verdana" panose="020B060403050404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appends value at end of list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9127644"/>
                  </a:ext>
                </a:extLst>
              </a:tr>
              <a:tr h="1841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add(</a:t>
                      </a:r>
                      <a:r>
                        <a:rPr kumimoji="0" lang="en-US" altLang="vi-V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Verdana" panose="020B0604030504040204" pitchFamily="34" charset="0"/>
                          <a:cs typeface="Times New Roman" panose="02020603050405020304" pitchFamily="18" charset="0"/>
                        </a:rPr>
                        <a:t>index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0" lang="en-US" altLang="vi-V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Verdana" panose="020B060403050404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inserts given value just before the given index, shifting subsequent values to the right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0217247"/>
                  </a:ext>
                </a:extLst>
              </a:tr>
              <a:tr h="17462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clear()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removes all elements of the list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3312159"/>
                  </a:ext>
                </a:extLst>
              </a:tr>
              <a:tr h="1841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indexOf(</a:t>
                      </a:r>
                      <a:r>
                        <a:rPr kumimoji="0" lang="en-US" altLang="vi-V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Verdana" panose="020B060403050404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returns first index where given value is found in list (-1 if not found)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6934646"/>
                  </a:ext>
                </a:extLst>
              </a:tr>
              <a:tr h="1841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get(</a:t>
                      </a:r>
                      <a:r>
                        <a:rPr kumimoji="0" lang="en-US" altLang="vi-V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Verdana" panose="020B0604030504040204" pitchFamily="34" charset="0"/>
                          <a:cs typeface="Times New Roman" panose="02020603050405020304" pitchFamily="18" charset="0"/>
                        </a:rPr>
                        <a:t>index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returns the value at given index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6780589"/>
                  </a:ext>
                </a:extLst>
              </a:tr>
              <a:tr h="1841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remove(</a:t>
                      </a:r>
                      <a:r>
                        <a:rPr kumimoji="0" lang="en-US" altLang="vi-V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Verdana" panose="020B0604030504040204" pitchFamily="34" charset="0"/>
                          <a:cs typeface="Times New Roman" panose="02020603050405020304" pitchFamily="18" charset="0"/>
                        </a:rPr>
                        <a:t>index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removes/returns value at given index, shifting subsequent values to the left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9845243"/>
                  </a:ext>
                </a:extLst>
              </a:tr>
              <a:tr h="17462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set(</a:t>
                      </a:r>
                      <a:r>
                        <a:rPr kumimoji="0" lang="en-US" altLang="vi-V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Verdana" panose="020B0604030504040204" pitchFamily="34" charset="0"/>
                          <a:cs typeface="Times New Roman" panose="02020603050405020304" pitchFamily="18" charset="0"/>
                        </a:rPr>
                        <a:t>index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0" lang="en-US" altLang="vi-V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Verdana" panose="020B060403050404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replaces value at given index with given value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5727308"/>
                  </a:ext>
                </a:extLst>
              </a:tr>
              <a:tr h="39528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size()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returns the number of elements in list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5519723"/>
                  </a:ext>
                </a:extLst>
              </a:tr>
              <a:tr h="17462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toString()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returns a string representation of the list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such as 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"[3, 42, -7, 15]"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56487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Rectangle 2">
            <a:extLst>
              <a:ext uri="{FF2B5EF4-FFF2-40B4-BE49-F238E27FC236}">
                <a16:creationId xmlns:a16="http://schemas.microsoft.com/office/drawing/2014/main" id="{06AEEF2A-AC15-5B30-B36D-3C27625112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>
                <a:latin typeface="Courier New" panose="02070309020205020404" pitchFamily="49" charset="0"/>
              </a:rPr>
              <a:t>List</a:t>
            </a:r>
            <a:r>
              <a:rPr lang="en-US" altLang="vi-VN"/>
              <a:t> methods 2</a:t>
            </a:r>
          </a:p>
        </p:txBody>
      </p:sp>
      <p:graphicFrame>
        <p:nvGraphicFramePr>
          <p:cNvPr id="501763" name="Group 3">
            <a:extLst>
              <a:ext uri="{FF2B5EF4-FFF2-40B4-BE49-F238E27FC236}">
                <a16:creationId xmlns:a16="http://schemas.microsoft.com/office/drawing/2014/main" id="{044A15FA-52AB-5E25-7929-E80CCBB8939C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295400"/>
          <a:ext cx="8840788" cy="4846320"/>
        </p:xfrm>
        <a:graphic>
          <a:graphicData uri="http://schemas.openxmlformats.org/drawingml/2006/table">
            <a:tbl>
              <a:tblPr/>
              <a:tblGrid>
                <a:gridCol w="2654300">
                  <a:extLst>
                    <a:ext uri="{9D8B030D-6E8A-4147-A177-3AD203B41FA5}">
                      <a16:colId xmlns:a16="http://schemas.microsoft.com/office/drawing/2014/main" val="3710159933"/>
                    </a:ext>
                  </a:extLst>
                </a:gridCol>
                <a:gridCol w="6186488">
                  <a:extLst>
                    <a:ext uri="{9D8B030D-6E8A-4147-A177-3AD203B41FA5}">
                      <a16:colId xmlns:a16="http://schemas.microsoft.com/office/drawing/2014/main" val="1704330991"/>
                    </a:ext>
                  </a:extLst>
                </a:gridCol>
              </a:tblGrid>
              <a:tr h="1841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addAll(</a:t>
                      </a:r>
                      <a:r>
                        <a:rPr kumimoji="0" lang="en-US" altLang="vi-V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Verdana" panose="020B0604030504040204" pitchFamily="34" charset="0"/>
                          <a:cs typeface="Times New Roman" panose="02020603050405020304" pitchFamily="18" charset="0"/>
                        </a:rPr>
                        <a:t>list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addAll(</a:t>
                      </a:r>
                      <a:r>
                        <a:rPr kumimoji="0" lang="en-US" altLang="vi-V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Verdana" panose="020B0604030504040204" pitchFamily="34" charset="0"/>
                          <a:cs typeface="Times New Roman" panose="02020603050405020304" pitchFamily="18" charset="0"/>
                        </a:rPr>
                        <a:t>index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0" lang="en-US" altLang="vi-V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Verdana" panose="020B0604030504040204" pitchFamily="34" charset="0"/>
                          <a:cs typeface="Times New Roman" panose="02020603050405020304" pitchFamily="18" charset="0"/>
                        </a:rPr>
                        <a:t>list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adds all elements from the given list to this list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(at the end of the list, or inserts them at the given index)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749258"/>
                  </a:ext>
                </a:extLst>
              </a:tr>
              <a:tr h="17462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contains(</a:t>
                      </a:r>
                      <a:r>
                        <a:rPr kumimoji="0" lang="en-US" altLang="vi-V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Verdana" panose="020B060403050404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returns true if given value is found somewhere in this list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827750"/>
                  </a:ext>
                </a:extLst>
              </a:tr>
              <a:tr h="1841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containsAll(</a:t>
                      </a:r>
                      <a:r>
                        <a:rPr kumimoji="0" lang="en-US" altLang="vi-V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Verdana" panose="020B0604030504040204" pitchFamily="34" charset="0"/>
                          <a:cs typeface="Times New Roman" panose="02020603050405020304" pitchFamily="18" charset="0"/>
                        </a:rPr>
                        <a:t>list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returns true if this list contains every element from given list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045422"/>
                  </a:ext>
                </a:extLst>
              </a:tr>
              <a:tr h="1841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equals(</a:t>
                      </a:r>
                      <a:r>
                        <a:rPr kumimoji="0" lang="en-US" altLang="vi-V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Verdana" panose="020B0604030504040204" pitchFamily="34" charset="0"/>
                          <a:cs typeface="Times New Roman" panose="02020603050405020304" pitchFamily="18" charset="0"/>
                        </a:rPr>
                        <a:t>list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returns true if given other list contains the same elements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891668"/>
                  </a:ext>
                </a:extLst>
              </a:tr>
              <a:tr h="1841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iterator()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listIterator()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returns an object used to examine the contents of the list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6595347"/>
                  </a:ext>
                </a:extLst>
              </a:tr>
              <a:tr h="1841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lastIndexOf(</a:t>
                      </a:r>
                      <a:r>
                        <a:rPr kumimoji="0" lang="en-US" altLang="vi-V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Verdana" panose="020B060403050404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returns last index value is found in list (-1 if not found)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7392882"/>
                  </a:ext>
                </a:extLst>
              </a:tr>
              <a:tr h="1841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remove(</a:t>
                      </a:r>
                      <a:r>
                        <a:rPr kumimoji="0" lang="en-US" altLang="vi-V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Verdana" panose="020B060403050404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finds and removes the given value from this list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79096"/>
                  </a:ext>
                </a:extLst>
              </a:tr>
              <a:tr h="1841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removeAll(</a:t>
                      </a:r>
                      <a:r>
                        <a:rPr kumimoji="0" lang="en-US" altLang="vi-V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Verdana" panose="020B0604030504040204" pitchFamily="34" charset="0"/>
                          <a:cs typeface="Times New Roman" panose="02020603050405020304" pitchFamily="18" charset="0"/>
                        </a:rPr>
                        <a:t>list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removes any elements found in the given list from this list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973739"/>
                  </a:ext>
                </a:extLst>
              </a:tr>
              <a:tr h="1841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retainAll(</a:t>
                      </a:r>
                      <a:r>
                        <a:rPr kumimoji="0" lang="en-US" altLang="vi-V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Verdana" panose="020B0604030504040204" pitchFamily="34" charset="0"/>
                          <a:cs typeface="Times New Roman" panose="02020603050405020304" pitchFamily="18" charset="0"/>
                        </a:rPr>
                        <a:t>list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removes any elements </a:t>
                      </a:r>
                      <a:r>
                        <a:rPr kumimoji="0" lang="en-US" altLang="vi-VN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not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found in given list from this list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7589202"/>
                  </a:ext>
                </a:extLst>
              </a:tr>
              <a:tr h="1841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subList(</a:t>
                      </a:r>
                      <a:r>
                        <a:rPr kumimoji="0" lang="en-US" altLang="vi-V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Verdana" panose="020B0604030504040204" pitchFamily="34" charset="0"/>
                          <a:cs typeface="Times New Roman" panose="02020603050405020304" pitchFamily="18" charset="0"/>
                        </a:rPr>
                        <a:t>from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0" lang="en-US" altLang="vi-V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Verdana" panose="020B0604030504040204" pitchFamily="34" charset="0"/>
                          <a:cs typeface="Times New Roman" panose="02020603050405020304" pitchFamily="18" charset="0"/>
                        </a:rPr>
                        <a:t>to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returns the sub-portion of the list between</a:t>
                      </a:r>
                      <a:b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indexes </a:t>
                      </a:r>
                      <a:r>
                        <a:rPr kumimoji="0" lang="en-US" altLang="vi-V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from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(inclusive) and </a:t>
                      </a:r>
                      <a:r>
                        <a:rPr kumimoji="0" lang="en-US" altLang="vi-V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to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(exclusive)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711718"/>
                  </a:ext>
                </a:extLst>
              </a:tr>
              <a:tr h="1841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toArray()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returns the elements in this list as an array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7516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750" name="Rectangle 150">
            <a:extLst>
              <a:ext uri="{FF2B5EF4-FFF2-40B4-BE49-F238E27FC236}">
                <a16:creationId xmlns:a16="http://schemas.microsoft.com/office/drawing/2014/main" id="{AA8C73C2-AF66-BB47-4510-EC3033D02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152650"/>
            <a:ext cx="5943600" cy="1371600"/>
          </a:xfrm>
          <a:prstGeom prst="rect">
            <a:avLst/>
          </a:prstGeom>
          <a:solidFill>
            <a:srgbClr val="E6E6E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r"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r"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r"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r"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150000"/>
              </a:lnSpc>
            </a:pPr>
            <a:endParaRPr lang="vi-VN" altLang="vi-VN">
              <a:latin typeface="Tahoma" panose="020B0604030504040204" pitchFamily="34" charset="0"/>
            </a:endParaRPr>
          </a:p>
        </p:txBody>
      </p:sp>
      <p:sp>
        <p:nvSpPr>
          <p:cNvPr id="537603" name="Rectangle 3">
            <a:extLst>
              <a:ext uri="{FF2B5EF4-FFF2-40B4-BE49-F238E27FC236}">
                <a16:creationId xmlns:a16="http://schemas.microsoft.com/office/drawing/2014/main" id="{03386F4F-77D8-F268-302B-07613B77F7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r>
              <a:rPr lang="en-US" altLang="vi-VN" dirty="0" err="1">
                <a:solidFill>
                  <a:srgbClr val="26262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altLang="vi-VN" dirty="0">
                <a:solidFill>
                  <a:srgbClr val="262626"/>
                </a:solidFill>
              </a:rPr>
              <a:t> is built using an internal "unfilled" array and a size field to remember how many elements have been added</a:t>
            </a:r>
          </a:p>
          <a:p>
            <a:pPr lvl="1"/>
            <a:endParaRPr lang="en-US" altLang="vi-VN" dirty="0">
              <a:solidFill>
                <a:srgbClr val="404040"/>
              </a:solidFill>
            </a:endParaRPr>
          </a:p>
          <a:p>
            <a:pPr lvl="1"/>
            <a:endParaRPr lang="en-US" altLang="vi-VN" dirty="0">
              <a:solidFill>
                <a:srgbClr val="404040"/>
              </a:solidFill>
            </a:endParaRPr>
          </a:p>
          <a:p>
            <a:pPr lvl="1"/>
            <a:endParaRPr lang="en-US" altLang="vi-VN" dirty="0">
              <a:solidFill>
                <a:srgbClr val="404040"/>
              </a:solidFill>
            </a:endParaRPr>
          </a:p>
          <a:p>
            <a:pPr lvl="1"/>
            <a:endParaRPr lang="en-US" altLang="vi-VN" dirty="0">
              <a:solidFill>
                <a:srgbClr val="404040"/>
              </a:solidFill>
            </a:endParaRPr>
          </a:p>
          <a:p>
            <a:pPr lvl="1"/>
            <a:endParaRPr lang="en-US" altLang="vi-VN" dirty="0">
              <a:solidFill>
                <a:srgbClr val="404040"/>
              </a:solidFill>
            </a:endParaRPr>
          </a:p>
          <a:p>
            <a:r>
              <a:rPr lang="en-US" altLang="vi-VN" dirty="0">
                <a:solidFill>
                  <a:srgbClr val="26262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LinkedList</a:t>
            </a:r>
            <a:r>
              <a:rPr lang="en-US" altLang="vi-VN" dirty="0">
                <a:solidFill>
                  <a:srgbClr val="262626"/>
                </a:solidFill>
              </a:rPr>
              <a:t> is built using a chain of small "node" objects, one for each element of the data, with a link to a "next" node object</a:t>
            </a:r>
          </a:p>
        </p:txBody>
      </p:sp>
      <p:sp>
        <p:nvSpPr>
          <p:cNvPr id="537602" name="Rectangle 2">
            <a:extLst>
              <a:ext uri="{FF2B5EF4-FFF2-40B4-BE49-F238E27FC236}">
                <a16:creationId xmlns:a16="http://schemas.microsoft.com/office/drawing/2014/main" id="{7C4AEC6A-153C-6B16-13E1-CE1F0CC475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/>
              <a:t>List implementation</a:t>
            </a:r>
          </a:p>
        </p:txBody>
      </p:sp>
      <p:graphicFrame>
        <p:nvGraphicFramePr>
          <p:cNvPr id="537707" name="Group 107">
            <a:extLst>
              <a:ext uri="{FF2B5EF4-FFF2-40B4-BE49-F238E27FC236}">
                <a16:creationId xmlns:a16="http://schemas.microsoft.com/office/drawing/2014/main" id="{3D8C544E-B5A5-B644-2428-1D1C8E0578AB}"/>
              </a:ext>
            </a:extLst>
          </p:cNvPr>
          <p:cNvGraphicFramePr>
            <a:graphicFrameLocks noGrp="1"/>
          </p:cNvGraphicFramePr>
          <p:nvPr/>
        </p:nvGraphicFramePr>
        <p:xfrm>
          <a:off x="1573213" y="2185988"/>
          <a:ext cx="5818187" cy="118872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1521645957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653581653"/>
                    </a:ext>
                  </a:extLst>
                </a:gridCol>
                <a:gridCol w="500063">
                  <a:extLst>
                    <a:ext uri="{9D8B030D-6E8A-4147-A177-3AD203B41FA5}">
                      <a16:colId xmlns:a16="http://schemas.microsoft.com/office/drawing/2014/main" val="1695682756"/>
                    </a:ext>
                  </a:extLst>
                </a:gridCol>
                <a:gridCol w="500062">
                  <a:extLst>
                    <a:ext uri="{9D8B030D-6E8A-4147-A177-3AD203B41FA5}">
                      <a16:colId xmlns:a16="http://schemas.microsoft.com/office/drawing/2014/main" val="368487191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1024935553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1347384333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1171276885"/>
                    </a:ext>
                  </a:extLst>
                </a:gridCol>
                <a:gridCol w="500063">
                  <a:extLst>
                    <a:ext uri="{9D8B030D-6E8A-4147-A177-3AD203B41FA5}">
                      <a16:colId xmlns:a16="http://schemas.microsoft.com/office/drawing/2014/main" val="2664924990"/>
                    </a:ext>
                  </a:extLst>
                </a:gridCol>
                <a:gridCol w="500062">
                  <a:extLst>
                    <a:ext uri="{9D8B030D-6E8A-4147-A177-3AD203B41FA5}">
                      <a16:colId xmlns:a16="http://schemas.microsoft.com/office/drawing/2014/main" val="2658719456"/>
                    </a:ext>
                  </a:extLst>
                </a:gridCol>
                <a:gridCol w="500063">
                  <a:extLst>
                    <a:ext uri="{9D8B030D-6E8A-4147-A177-3AD203B41FA5}">
                      <a16:colId xmlns:a16="http://schemas.microsoft.com/office/drawing/2014/main" val="749025665"/>
                    </a:ext>
                  </a:extLst>
                </a:gridCol>
                <a:gridCol w="500062">
                  <a:extLst>
                    <a:ext uri="{9D8B030D-6E8A-4147-A177-3AD203B41FA5}">
                      <a16:colId xmlns:a16="http://schemas.microsoft.com/office/drawing/2014/main" val="1085598766"/>
                    </a:ext>
                  </a:extLst>
                </a:gridCol>
              </a:tblGrid>
              <a:tr h="1397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index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0063587"/>
                  </a:ext>
                </a:extLst>
              </a:tr>
              <a:tr h="39528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42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994369"/>
                  </a:ext>
                </a:extLst>
              </a:tr>
              <a:tr h="1397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size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305529"/>
                  </a:ext>
                </a:extLst>
              </a:tr>
            </a:tbl>
          </a:graphicData>
        </a:graphic>
      </p:graphicFrame>
      <p:sp>
        <p:nvSpPr>
          <p:cNvPr id="537708" name="Rectangle 108">
            <a:extLst>
              <a:ext uri="{FF2B5EF4-FFF2-40B4-BE49-F238E27FC236}">
                <a16:creationId xmlns:a16="http://schemas.microsoft.com/office/drawing/2014/main" id="{A5DB2085-E8C6-A6E2-1FAB-AA6FCBC88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724400"/>
            <a:ext cx="1905000" cy="1371600"/>
          </a:xfrm>
          <a:prstGeom prst="rect">
            <a:avLst/>
          </a:prstGeom>
          <a:solidFill>
            <a:srgbClr val="E6E6E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r"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r"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r"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r"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150000"/>
              </a:lnSpc>
            </a:pPr>
            <a:endParaRPr lang="en-US" altLang="vi-VN">
              <a:latin typeface="Tahoma" panose="020B0604030504040204" pitchFamily="34" charset="0"/>
            </a:endParaRPr>
          </a:p>
          <a:p>
            <a:pPr algn="l" eaLnBrk="1" hangingPunct="1">
              <a:lnSpc>
                <a:spcPct val="150000"/>
              </a:lnSpc>
            </a:pPr>
            <a:r>
              <a:rPr lang="en-US" altLang="vi-VN">
                <a:latin typeface="Tahoma" panose="020B0604030504040204" pitchFamily="34" charset="0"/>
              </a:rPr>
              <a:t>front	 </a:t>
            </a:r>
          </a:p>
          <a:p>
            <a:pPr algn="l" eaLnBrk="1" hangingPunct="1">
              <a:lnSpc>
                <a:spcPct val="150000"/>
              </a:lnSpc>
            </a:pPr>
            <a:r>
              <a:rPr lang="en-US" altLang="vi-VN">
                <a:latin typeface="Tahoma" panose="020B0604030504040204" pitchFamily="34" charset="0"/>
              </a:rPr>
              <a:t>size         3</a:t>
            </a:r>
          </a:p>
          <a:p>
            <a:pPr algn="l" eaLnBrk="1" hangingPunct="1">
              <a:lnSpc>
                <a:spcPct val="150000"/>
              </a:lnSpc>
            </a:pPr>
            <a:endParaRPr lang="en-US" altLang="vi-VN">
              <a:latin typeface="Tahoma" panose="020B0604030504040204" pitchFamily="34" charset="0"/>
            </a:endParaRPr>
          </a:p>
        </p:txBody>
      </p:sp>
      <p:sp>
        <p:nvSpPr>
          <p:cNvPr id="537709" name="Rectangle 109">
            <a:extLst>
              <a:ext uri="{FF2B5EF4-FFF2-40B4-BE49-F238E27FC236}">
                <a16:creationId xmlns:a16="http://schemas.microsoft.com/office/drawing/2014/main" id="{76AE343B-FB8A-0E88-553F-2E9737677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4475" y="510540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vi-VN"/>
          </a:p>
        </p:txBody>
      </p:sp>
      <p:sp>
        <p:nvSpPr>
          <p:cNvPr id="537710" name="Line 110">
            <a:extLst>
              <a:ext uri="{FF2B5EF4-FFF2-40B4-BE49-F238E27FC236}">
                <a16:creationId xmlns:a16="http://schemas.microsoft.com/office/drawing/2014/main" id="{0681421D-2ECB-B838-B8EB-B8DC7B50DF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24025" y="5076825"/>
            <a:ext cx="1400175" cy="190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vi-VN"/>
          </a:p>
        </p:txBody>
      </p:sp>
      <p:graphicFrame>
        <p:nvGraphicFramePr>
          <p:cNvPr id="537711" name="Group 111">
            <a:extLst>
              <a:ext uri="{FF2B5EF4-FFF2-40B4-BE49-F238E27FC236}">
                <a16:creationId xmlns:a16="http://schemas.microsoft.com/office/drawing/2014/main" id="{FB4CE1B4-AA42-65D4-4FAE-2CD5921DF533}"/>
              </a:ext>
            </a:extLst>
          </p:cNvPr>
          <p:cNvGraphicFramePr>
            <a:graphicFrameLocks noGrp="1"/>
          </p:cNvGraphicFramePr>
          <p:nvPr/>
        </p:nvGraphicFramePr>
        <p:xfrm>
          <a:off x="3276600" y="4648200"/>
          <a:ext cx="1346200" cy="792480"/>
        </p:xfrm>
        <a:graphic>
          <a:graphicData uri="http://schemas.openxmlformats.org/drawingml/2006/table">
            <a:tbl>
              <a:tblPr/>
              <a:tblGrid>
                <a:gridCol w="676275">
                  <a:extLst>
                    <a:ext uri="{9D8B030D-6E8A-4147-A177-3AD203B41FA5}">
                      <a16:colId xmlns:a16="http://schemas.microsoft.com/office/drawing/2014/main" val="3376888725"/>
                    </a:ext>
                  </a:extLst>
                </a:gridCol>
                <a:gridCol w="669925">
                  <a:extLst>
                    <a:ext uri="{9D8B030D-6E8A-4147-A177-3AD203B41FA5}">
                      <a16:colId xmlns:a16="http://schemas.microsoft.com/office/drawing/2014/main" val="3010665694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next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804909"/>
                  </a:ext>
                </a:extLst>
              </a:tr>
              <a:tr h="1778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685089"/>
                  </a:ext>
                </a:extLst>
              </a:tr>
            </a:tbl>
          </a:graphicData>
        </a:graphic>
      </p:graphicFrame>
      <p:sp>
        <p:nvSpPr>
          <p:cNvPr id="537722" name="Line 122">
            <a:extLst>
              <a:ext uri="{FF2B5EF4-FFF2-40B4-BE49-F238E27FC236}">
                <a16:creationId xmlns:a16="http://schemas.microsoft.com/office/drawing/2014/main" id="{52D957E3-3001-1B17-CC76-66280D1F91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70400" y="5267325"/>
            <a:ext cx="762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vi-VN"/>
          </a:p>
        </p:txBody>
      </p:sp>
      <p:graphicFrame>
        <p:nvGraphicFramePr>
          <p:cNvPr id="537723" name="Group 123">
            <a:extLst>
              <a:ext uri="{FF2B5EF4-FFF2-40B4-BE49-F238E27FC236}">
                <a16:creationId xmlns:a16="http://schemas.microsoft.com/office/drawing/2014/main" id="{6D233522-9B89-D8DF-2002-0643FBC8B0B0}"/>
              </a:ext>
            </a:extLst>
          </p:cNvPr>
          <p:cNvGraphicFramePr>
            <a:graphicFrameLocks noGrp="1"/>
          </p:cNvGraphicFramePr>
          <p:nvPr/>
        </p:nvGraphicFramePr>
        <p:xfrm>
          <a:off x="5270500" y="4657725"/>
          <a:ext cx="1346200" cy="796290"/>
        </p:xfrm>
        <a:graphic>
          <a:graphicData uri="http://schemas.openxmlformats.org/drawingml/2006/table">
            <a:tbl>
              <a:tblPr/>
              <a:tblGrid>
                <a:gridCol w="676275">
                  <a:extLst>
                    <a:ext uri="{9D8B030D-6E8A-4147-A177-3AD203B41FA5}">
                      <a16:colId xmlns:a16="http://schemas.microsoft.com/office/drawing/2014/main" val="3575145033"/>
                    </a:ext>
                  </a:extLst>
                </a:gridCol>
                <a:gridCol w="669925">
                  <a:extLst>
                    <a:ext uri="{9D8B030D-6E8A-4147-A177-3AD203B41FA5}">
                      <a16:colId xmlns:a16="http://schemas.microsoft.com/office/drawing/2014/main" val="3719484002"/>
                    </a:ext>
                  </a:extLst>
                </a:gridCol>
              </a:tblGrid>
              <a:tr h="4000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next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909997"/>
                  </a:ext>
                </a:extLst>
              </a:tr>
              <a:tr h="1778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-3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422626"/>
                  </a:ext>
                </a:extLst>
              </a:tr>
            </a:tbl>
          </a:graphicData>
        </a:graphic>
      </p:graphicFrame>
      <p:sp>
        <p:nvSpPr>
          <p:cNvPr id="537734" name="Line 134">
            <a:extLst>
              <a:ext uri="{FF2B5EF4-FFF2-40B4-BE49-F238E27FC236}">
                <a16:creationId xmlns:a16="http://schemas.microsoft.com/office/drawing/2014/main" id="{DB4D2959-C6CC-E729-7F59-66918DEF6A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64300" y="5276850"/>
            <a:ext cx="762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vi-VN"/>
          </a:p>
        </p:txBody>
      </p:sp>
      <p:graphicFrame>
        <p:nvGraphicFramePr>
          <p:cNvPr id="537735" name="Group 135">
            <a:extLst>
              <a:ext uri="{FF2B5EF4-FFF2-40B4-BE49-F238E27FC236}">
                <a16:creationId xmlns:a16="http://schemas.microsoft.com/office/drawing/2014/main" id="{BA0E6C68-0A1F-C843-C481-36EFC5F093F8}"/>
              </a:ext>
            </a:extLst>
          </p:cNvPr>
          <p:cNvGraphicFramePr>
            <a:graphicFrameLocks noGrp="1"/>
          </p:cNvGraphicFramePr>
          <p:nvPr/>
        </p:nvGraphicFramePr>
        <p:xfrm>
          <a:off x="7264400" y="4676775"/>
          <a:ext cx="1346200" cy="796290"/>
        </p:xfrm>
        <a:graphic>
          <a:graphicData uri="http://schemas.openxmlformats.org/drawingml/2006/table">
            <a:tbl>
              <a:tblPr/>
              <a:tblGrid>
                <a:gridCol w="676275">
                  <a:extLst>
                    <a:ext uri="{9D8B030D-6E8A-4147-A177-3AD203B41FA5}">
                      <a16:colId xmlns:a16="http://schemas.microsoft.com/office/drawing/2014/main" val="1139188256"/>
                    </a:ext>
                  </a:extLst>
                </a:gridCol>
                <a:gridCol w="669925">
                  <a:extLst>
                    <a:ext uri="{9D8B030D-6E8A-4147-A177-3AD203B41FA5}">
                      <a16:colId xmlns:a16="http://schemas.microsoft.com/office/drawing/2014/main" val="960853365"/>
                    </a:ext>
                  </a:extLst>
                </a:gridCol>
              </a:tblGrid>
              <a:tr h="4000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next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566166"/>
                  </a:ext>
                </a:extLst>
              </a:tr>
              <a:tr h="1778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256930"/>
                  </a:ext>
                </a:extLst>
              </a:tr>
            </a:tbl>
          </a:graphicData>
        </a:graphic>
      </p:graphicFrame>
      <p:sp>
        <p:nvSpPr>
          <p:cNvPr id="537746" name="Line 146">
            <a:extLst>
              <a:ext uri="{FF2B5EF4-FFF2-40B4-BE49-F238E27FC236}">
                <a16:creationId xmlns:a16="http://schemas.microsoft.com/office/drawing/2014/main" id="{851652A5-F6D1-1848-00EF-6534579BDE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24800" y="5086350"/>
            <a:ext cx="685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vi-VN"/>
          </a:p>
        </p:txBody>
      </p:sp>
      <p:sp>
        <p:nvSpPr>
          <p:cNvPr id="537747" name="Text Box 147">
            <a:extLst>
              <a:ext uri="{FF2B5EF4-FFF2-40B4-BE49-F238E27FC236}">
                <a16:creationId xmlns:a16="http://schemas.microsoft.com/office/drawing/2014/main" id="{E47B30CB-8AB9-7904-DD76-3490F867F5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5576888"/>
            <a:ext cx="11906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vi-VN">
                <a:solidFill>
                  <a:schemeClr val="bg2"/>
                </a:solidFill>
                <a:latin typeface="Tahoma" panose="020B0604030504040204" pitchFamily="34" charset="0"/>
              </a:rPr>
              <a:t>element 0</a:t>
            </a:r>
          </a:p>
        </p:txBody>
      </p:sp>
      <p:sp>
        <p:nvSpPr>
          <p:cNvPr id="537748" name="Text Box 148">
            <a:extLst>
              <a:ext uri="{FF2B5EF4-FFF2-40B4-BE49-F238E27FC236}">
                <a16:creationId xmlns:a16="http://schemas.microsoft.com/office/drawing/2014/main" id="{A623726D-40F3-6D18-04F1-1D222A9361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2575" y="5576888"/>
            <a:ext cx="11906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vi-VN">
                <a:solidFill>
                  <a:schemeClr val="bg2"/>
                </a:solidFill>
                <a:latin typeface="Tahoma" panose="020B0604030504040204" pitchFamily="34" charset="0"/>
              </a:rPr>
              <a:t>element 1</a:t>
            </a:r>
          </a:p>
        </p:txBody>
      </p:sp>
      <p:sp>
        <p:nvSpPr>
          <p:cNvPr id="537749" name="Text Box 149">
            <a:extLst>
              <a:ext uri="{FF2B5EF4-FFF2-40B4-BE49-F238E27FC236}">
                <a16:creationId xmlns:a16="http://schemas.microsoft.com/office/drawing/2014/main" id="{55838A2D-BFFF-5990-E2F0-4D01C82D5A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3775" y="5576888"/>
            <a:ext cx="11906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vi-VN">
                <a:solidFill>
                  <a:schemeClr val="bg2"/>
                </a:solidFill>
                <a:latin typeface="Tahoma" panose="020B0604030504040204" pitchFamily="34" charset="0"/>
              </a:rPr>
              <a:t>element 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11" name="Rectangle 3">
            <a:extLst>
              <a:ext uri="{FF2B5EF4-FFF2-40B4-BE49-F238E27FC236}">
                <a16:creationId xmlns:a16="http://schemas.microsoft.com/office/drawing/2014/main" id="{6DD0A3D1-A59C-5D21-B8EB-32E0183B28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r>
              <a:rPr lang="en-US" altLang="vi-VN" sz="2200" b="1">
                <a:solidFill>
                  <a:srgbClr val="262626"/>
                </a:solidFill>
              </a:rPr>
              <a:t>stack</a:t>
            </a:r>
            <a:r>
              <a:rPr lang="en-US" altLang="vi-VN" sz="2200">
                <a:solidFill>
                  <a:srgbClr val="262626"/>
                </a:solidFill>
              </a:rPr>
              <a:t>: Retrieves elements in the reverse of the order they were added.</a:t>
            </a:r>
          </a:p>
          <a:p>
            <a:r>
              <a:rPr lang="en-US" altLang="vi-VN" sz="2200" b="1">
                <a:solidFill>
                  <a:srgbClr val="262626"/>
                </a:solidFill>
              </a:rPr>
              <a:t>queue</a:t>
            </a:r>
            <a:r>
              <a:rPr lang="en-US" altLang="vi-VN" sz="2200">
                <a:solidFill>
                  <a:srgbClr val="262626"/>
                </a:solidFill>
              </a:rPr>
              <a:t>: Retrieves elements in the same order they were added.</a:t>
            </a:r>
          </a:p>
          <a:p>
            <a:pPr lvl="1"/>
            <a:endParaRPr lang="en-US" altLang="vi-VN" sz="2000">
              <a:solidFill>
                <a:srgbClr val="404040"/>
              </a:solidFill>
            </a:endParaRPr>
          </a:p>
          <a:p>
            <a:r>
              <a:rPr lang="en-US" altLang="vi-VN" sz="2200" b="1">
                <a:solidFill>
                  <a:srgbClr val="262626"/>
                </a:solidFill>
              </a:rPr>
              <a:t>Q:</a:t>
            </a:r>
            <a:r>
              <a:rPr lang="en-US" altLang="vi-VN" sz="2200">
                <a:solidFill>
                  <a:srgbClr val="262626"/>
                </a:solidFill>
              </a:rPr>
              <a:t> Similar to a list; why do we also have stacks and queues?</a:t>
            </a:r>
          </a:p>
          <a:p>
            <a:pPr lvl="1"/>
            <a:r>
              <a:rPr lang="en-US" altLang="vi-VN" b="1">
                <a:solidFill>
                  <a:srgbClr val="404040"/>
                </a:solidFill>
              </a:rPr>
              <a:t>A:</a:t>
            </a:r>
            <a:r>
              <a:rPr lang="en-US" altLang="vi-VN">
                <a:solidFill>
                  <a:srgbClr val="404040"/>
                </a:solidFill>
              </a:rPr>
              <a:t> Sometimes it is good to have a collection that is less powerful, but is optimized to perform certain operations very quickly.</a:t>
            </a:r>
            <a:endParaRPr lang="en-US" altLang="vi-VN" sz="2000">
              <a:solidFill>
                <a:srgbClr val="404040"/>
              </a:solidFill>
            </a:endParaRPr>
          </a:p>
        </p:txBody>
      </p:sp>
      <p:sp>
        <p:nvSpPr>
          <p:cNvPr id="503810" name="Rectangle 2">
            <a:extLst>
              <a:ext uri="{FF2B5EF4-FFF2-40B4-BE49-F238E27FC236}">
                <a16:creationId xmlns:a16="http://schemas.microsoft.com/office/drawing/2014/main" id="{9F66F607-A2D1-BD2C-C7A1-54A071BA01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/>
              <a:t>Stacks and queues</a:t>
            </a:r>
          </a:p>
        </p:txBody>
      </p:sp>
      <p:sp>
        <p:nvSpPr>
          <p:cNvPr id="503812" name="Text Box 4">
            <a:extLst>
              <a:ext uri="{FF2B5EF4-FFF2-40B4-BE49-F238E27FC236}">
                <a16:creationId xmlns:a16="http://schemas.microsoft.com/office/drawing/2014/main" id="{6AC97E09-4F88-3355-6744-D3672DF28F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6172200"/>
            <a:ext cx="7016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vi-VN">
                <a:latin typeface="Tahoma" panose="020B0604030504040204" pitchFamily="34" charset="0"/>
              </a:rPr>
              <a:t>stack</a:t>
            </a:r>
          </a:p>
        </p:txBody>
      </p:sp>
      <p:sp>
        <p:nvSpPr>
          <p:cNvPr id="503813" name="Text Box 5">
            <a:extLst>
              <a:ext uri="{FF2B5EF4-FFF2-40B4-BE49-F238E27FC236}">
                <a16:creationId xmlns:a16="http://schemas.microsoft.com/office/drawing/2014/main" id="{CB6E659D-2E10-F2F9-BCE5-510827A8D5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1550" y="5653088"/>
            <a:ext cx="806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vi-VN">
                <a:latin typeface="Tahoma" panose="020B0604030504040204" pitchFamily="34" charset="0"/>
              </a:rPr>
              <a:t>queue</a:t>
            </a:r>
          </a:p>
        </p:txBody>
      </p:sp>
      <p:graphicFrame>
        <p:nvGraphicFramePr>
          <p:cNvPr id="503814" name="Group 6">
            <a:extLst>
              <a:ext uri="{FF2B5EF4-FFF2-40B4-BE49-F238E27FC236}">
                <a16:creationId xmlns:a16="http://schemas.microsoft.com/office/drawing/2014/main" id="{90293B3E-DD7C-A94C-0563-1DFAFC91E9CD}"/>
              </a:ext>
            </a:extLst>
          </p:cNvPr>
          <p:cNvGraphicFramePr>
            <a:graphicFrameLocks noGrp="1"/>
          </p:cNvGraphicFramePr>
          <p:nvPr/>
        </p:nvGraphicFramePr>
        <p:xfrm>
          <a:off x="533400" y="4572000"/>
          <a:ext cx="2133600" cy="158496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134483743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563974643"/>
                    </a:ext>
                  </a:extLst>
                </a:gridCol>
              </a:tblGrid>
              <a:tr h="3556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1237723"/>
                  </a:ext>
                </a:extLst>
              </a:tr>
              <a:tr h="3556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top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862581"/>
                  </a:ext>
                </a:extLst>
              </a:tr>
              <a:tr h="3556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596057"/>
                  </a:ext>
                </a:extLst>
              </a:tr>
              <a:tr h="3556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bottom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549118"/>
                  </a:ext>
                </a:extLst>
              </a:tr>
            </a:tbl>
          </a:graphicData>
        </a:graphic>
      </p:graphicFrame>
      <p:sp>
        <p:nvSpPr>
          <p:cNvPr id="503836" name="Line 28">
            <a:extLst>
              <a:ext uri="{FF2B5EF4-FFF2-40B4-BE49-F238E27FC236}">
                <a16:creationId xmlns:a16="http://schemas.microsoft.com/office/drawing/2014/main" id="{58C7BAA9-3F76-3249-8986-226C338D541B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40386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vi-VN"/>
          </a:p>
        </p:txBody>
      </p:sp>
      <p:sp>
        <p:nvSpPr>
          <p:cNvPr id="503837" name="Text Box 29">
            <a:extLst>
              <a:ext uri="{FF2B5EF4-FFF2-40B4-BE49-F238E27FC236}">
                <a16:creationId xmlns:a16="http://schemas.microsoft.com/office/drawing/2014/main" id="{B1446A20-060C-6C5C-DB9A-E80EB97802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794125"/>
            <a:ext cx="12906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vi-VN" sz="2000">
                <a:latin typeface="Tahoma" panose="020B0604030504040204" pitchFamily="34" charset="0"/>
              </a:rPr>
              <a:t>pop, peek</a:t>
            </a:r>
          </a:p>
        </p:txBody>
      </p:sp>
      <p:sp>
        <p:nvSpPr>
          <p:cNvPr id="503838" name="Text Box 30">
            <a:extLst>
              <a:ext uri="{FF2B5EF4-FFF2-40B4-BE49-F238E27FC236}">
                <a16:creationId xmlns:a16="http://schemas.microsoft.com/office/drawing/2014/main" id="{349477C5-2E3F-1794-CD2A-F3FDEF92F5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779838"/>
            <a:ext cx="7191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vi-VN" sz="2000">
                <a:latin typeface="Tahoma" panose="020B0604030504040204" pitchFamily="34" charset="0"/>
              </a:rPr>
              <a:t>push</a:t>
            </a:r>
          </a:p>
        </p:txBody>
      </p:sp>
      <p:sp>
        <p:nvSpPr>
          <p:cNvPr id="503839" name="Line 31">
            <a:extLst>
              <a:ext uri="{FF2B5EF4-FFF2-40B4-BE49-F238E27FC236}">
                <a16:creationId xmlns:a16="http://schemas.microsoft.com/office/drawing/2014/main" id="{D9FDC189-884C-5D11-AF38-29650DECB9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8400" y="40386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vi-VN"/>
          </a:p>
        </p:txBody>
      </p:sp>
      <p:graphicFrame>
        <p:nvGraphicFramePr>
          <p:cNvPr id="503840" name="Group 32">
            <a:extLst>
              <a:ext uri="{FF2B5EF4-FFF2-40B4-BE49-F238E27FC236}">
                <a16:creationId xmlns:a16="http://schemas.microsoft.com/office/drawing/2014/main" id="{1926724F-D11E-AF21-FE9F-49E0A4E224FB}"/>
              </a:ext>
            </a:extLst>
          </p:cNvPr>
          <p:cNvGraphicFramePr>
            <a:graphicFrameLocks noGrp="1"/>
          </p:cNvGraphicFramePr>
          <p:nvPr/>
        </p:nvGraphicFramePr>
        <p:xfrm>
          <a:off x="5181600" y="4586288"/>
          <a:ext cx="2559050" cy="965200"/>
        </p:xfrm>
        <a:graphic>
          <a:graphicData uri="http://schemas.openxmlformats.org/drawingml/2006/table">
            <a:tbl>
              <a:tblPr/>
              <a:tblGrid>
                <a:gridCol w="852488">
                  <a:extLst>
                    <a:ext uri="{9D8B030D-6E8A-4147-A177-3AD203B41FA5}">
                      <a16:colId xmlns:a16="http://schemas.microsoft.com/office/drawing/2014/main" val="1214169447"/>
                    </a:ext>
                  </a:extLst>
                </a:gridCol>
                <a:gridCol w="854075">
                  <a:extLst>
                    <a:ext uri="{9D8B030D-6E8A-4147-A177-3AD203B41FA5}">
                      <a16:colId xmlns:a16="http://schemas.microsoft.com/office/drawing/2014/main" val="2059823493"/>
                    </a:ext>
                  </a:extLst>
                </a:gridCol>
                <a:gridCol w="852487">
                  <a:extLst>
                    <a:ext uri="{9D8B030D-6E8A-4147-A177-3AD203B41FA5}">
                      <a16:colId xmlns:a16="http://schemas.microsoft.com/office/drawing/2014/main" val="374484150"/>
                    </a:ext>
                  </a:extLst>
                </a:gridCol>
              </a:tblGrid>
              <a:tr h="4826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front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back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923017"/>
                  </a:ext>
                </a:extLst>
              </a:tr>
              <a:tr h="4826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204821"/>
                  </a:ext>
                </a:extLst>
              </a:tr>
            </a:tbl>
          </a:graphicData>
        </a:graphic>
      </p:graphicFrame>
      <p:sp>
        <p:nvSpPr>
          <p:cNvPr id="503858" name="Line 50">
            <a:extLst>
              <a:ext uri="{FF2B5EF4-FFF2-40B4-BE49-F238E27FC236}">
                <a16:creationId xmlns:a16="http://schemas.microsoft.com/office/drawing/2014/main" id="{0F1AEB45-BC39-47A9-8ED1-8EBEBEA0BB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48600" y="5272088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vi-VN"/>
          </a:p>
        </p:txBody>
      </p:sp>
      <p:sp>
        <p:nvSpPr>
          <p:cNvPr id="503859" name="Text Box 51">
            <a:extLst>
              <a:ext uri="{FF2B5EF4-FFF2-40B4-BE49-F238E27FC236}">
                <a16:creationId xmlns:a16="http://schemas.microsoft.com/office/drawing/2014/main" id="{A4847C5D-727B-58DA-4C49-5DE3A156D8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4875213"/>
            <a:ext cx="5969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vi-VN" sz="2000">
                <a:latin typeface="Tahoma" panose="020B0604030504040204" pitchFamily="34" charset="0"/>
              </a:rPr>
              <a:t>add</a:t>
            </a:r>
          </a:p>
        </p:txBody>
      </p:sp>
      <p:sp>
        <p:nvSpPr>
          <p:cNvPr id="503860" name="Line 52">
            <a:extLst>
              <a:ext uri="{FF2B5EF4-FFF2-40B4-BE49-F238E27FC236}">
                <a16:creationId xmlns:a16="http://schemas.microsoft.com/office/drawing/2014/main" id="{C958A837-DA30-B93D-2ADA-297BE2A666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19600" y="5286375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vi-VN"/>
          </a:p>
        </p:txBody>
      </p:sp>
      <p:sp>
        <p:nvSpPr>
          <p:cNvPr id="503861" name="Text Box 53">
            <a:extLst>
              <a:ext uri="{FF2B5EF4-FFF2-40B4-BE49-F238E27FC236}">
                <a16:creationId xmlns:a16="http://schemas.microsoft.com/office/drawing/2014/main" id="{2A53318C-B96D-E6F6-3C39-2F340B35FA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4860925"/>
            <a:ext cx="17097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vi-VN" sz="2000">
                <a:latin typeface="Tahoma" panose="020B0604030504040204" pitchFamily="34" charset="0"/>
              </a:rPr>
              <a:t>remove, peek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03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3811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3" name="Rectangle 3">
            <a:extLst>
              <a:ext uri="{FF2B5EF4-FFF2-40B4-BE49-F238E27FC236}">
                <a16:creationId xmlns:a16="http://schemas.microsoft.com/office/drawing/2014/main" id="{8866E304-F996-04D0-CEB3-7FF0DE5230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lnSpc>
                <a:spcPct val="95000"/>
              </a:lnSpc>
            </a:pPr>
            <a:endParaRPr lang="en-US" altLang="vi-VN" dirty="0">
              <a:solidFill>
                <a:srgbClr val="262626"/>
              </a:solidFill>
            </a:endParaRPr>
          </a:p>
          <a:p>
            <a:pPr lvl="1">
              <a:lnSpc>
                <a:spcPct val="95000"/>
              </a:lnSpc>
            </a:pPr>
            <a:endParaRPr lang="en-US" altLang="vi-VN" dirty="0">
              <a:solidFill>
                <a:srgbClr val="404040"/>
              </a:solidFill>
            </a:endParaRPr>
          </a:p>
          <a:p>
            <a:pPr lvl="1">
              <a:lnSpc>
                <a:spcPct val="95000"/>
              </a:lnSpc>
            </a:pPr>
            <a:endParaRPr lang="en-US" altLang="vi-VN" dirty="0">
              <a:solidFill>
                <a:srgbClr val="404040"/>
              </a:solidFill>
            </a:endParaRPr>
          </a:p>
          <a:p>
            <a:pPr lvl="1">
              <a:lnSpc>
                <a:spcPct val="95000"/>
              </a:lnSpc>
            </a:pPr>
            <a:endParaRPr lang="en-US" altLang="vi-VN" dirty="0">
              <a:solidFill>
                <a:srgbClr val="404040"/>
              </a:solidFill>
            </a:endParaRPr>
          </a:p>
          <a:p>
            <a:pPr lvl="1">
              <a:lnSpc>
                <a:spcPct val="95000"/>
              </a:lnSpc>
            </a:pPr>
            <a:endParaRPr lang="en-US" altLang="vi-VN" dirty="0">
              <a:solidFill>
                <a:srgbClr val="404040"/>
              </a:solidFill>
            </a:endParaRPr>
          </a:p>
          <a:p>
            <a:pPr lvl="1">
              <a:lnSpc>
                <a:spcPct val="95000"/>
              </a:lnSpc>
            </a:pPr>
            <a:endParaRPr lang="en-US" altLang="vi-VN" dirty="0">
              <a:solidFill>
                <a:srgbClr val="404040"/>
              </a:solidFill>
            </a:endParaRPr>
          </a:p>
          <a:p>
            <a:pPr lvl="1">
              <a:lnSpc>
                <a:spcPct val="95000"/>
              </a:lnSpc>
            </a:pPr>
            <a:endParaRPr lang="en-US" altLang="vi-VN" dirty="0">
              <a:solidFill>
                <a:srgbClr val="404040"/>
              </a:solidFill>
            </a:endParaRPr>
          </a:p>
          <a:p>
            <a:pPr lvl="1">
              <a:lnSpc>
                <a:spcPct val="95000"/>
              </a:lnSpc>
            </a:pPr>
            <a:endParaRPr lang="en-US" altLang="vi-VN" dirty="0">
              <a:solidFill>
                <a:srgbClr val="404040"/>
              </a:solidFill>
            </a:endParaRPr>
          </a:p>
          <a:p>
            <a:pPr lvl="1">
              <a:lnSpc>
                <a:spcPct val="95000"/>
              </a:lnSpc>
            </a:pPr>
            <a:endParaRPr lang="en-US" altLang="vi-VN" dirty="0">
              <a:solidFill>
                <a:srgbClr val="404040"/>
              </a:solidFill>
            </a:endParaRP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vi-VN" sz="2000" dirty="0">
                <a:solidFill>
                  <a:srgbClr val="404040"/>
                </a:solidFill>
                <a:latin typeface="Courier New" panose="02070309020205020404" pitchFamily="49" charset="0"/>
              </a:rPr>
              <a:t>Stack&lt;Integer&gt; s = new Stack&lt;Integer&gt;();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vi-VN" sz="2000" dirty="0" err="1">
                <a:solidFill>
                  <a:srgbClr val="404040"/>
                </a:solidFill>
                <a:latin typeface="Courier New" panose="02070309020205020404" pitchFamily="49" charset="0"/>
              </a:rPr>
              <a:t>s.push</a:t>
            </a:r>
            <a:r>
              <a:rPr lang="en-US" altLang="vi-VN" sz="2000" dirty="0">
                <a:solidFill>
                  <a:srgbClr val="404040"/>
                </a:solidFill>
                <a:latin typeface="Courier New" panose="02070309020205020404" pitchFamily="49" charset="0"/>
              </a:rPr>
              <a:t>(42);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vi-VN" sz="2000" dirty="0" err="1">
                <a:solidFill>
                  <a:srgbClr val="404040"/>
                </a:solidFill>
                <a:latin typeface="Courier New" panose="02070309020205020404" pitchFamily="49" charset="0"/>
              </a:rPr>
              <a:t>s.push</a:t>
            </a:r>
            <a:r>
              <a:rPr lang="en-US" altLang="vi-VN" sz="2000" dirty="0">
                <a:solidFill>
                  <a:srgbClr val="404040"/>
                </a:solidFill>
                <a:latin typeface="Courier New" panose="02070309020205020404" pitchFamily="49" charset="0"/>
              </a:rPr>
              <a:t>(-3);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vi-VN" sz="2000" dirty="0" err="1">
                <a:solidFill>
                  <a:srgbClr val="404040"/>
                </a:solidFill>
                <a:latin typeface="Courier New" panose="02070309020205020404" pitchFamily="49" charset="0"/>
              </a:rPr>
              <a:t>s.push</a:t>
            </a:r>
            <a:r>
              <a:rPr lang="en-US" altLang="vi-VN" sz="2000" dirty="0">
                <a:solidFill>
                  <a:srgbClr val="404040"/>
                </a:solidFill>
                <a:latin typeface="Courier New" panose="02070309020205020404" pitchFamily="49" charset="0"/>
              </a:rPr>
              <a:t>(17);              </a:t>
            </a:r>
            <a:r>
              <a:rPr lang="en-US" altLang="vi-V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// bottom [42, -3, 17] top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endParaRPr lang="en-US" altLang="vi-VN" sz="800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vi-VN" sz="2000" dirty="0" err="1">
                <a:solidFill>
                  <a:srgbClr val="404040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vi-VN" sz="2000" dirty="0">
                <a:solidFill>
                  <a:srgbClr val="404040"/>
                </a:solidFill>
                <a:latin typeface="Courier New" panose="02070309020205020404" pitchFamily="49" charset="0"/>
              </a:rPr>
              <a:t>(</a:t>
            </a:r>
            <a:r>
              <a:rPr lang="en-US" altLang="vi-VN" sz="2000" dirty="0" err="1">
                <a:solidFill>
                  <a:srgbClr val="404040"/>
                </a:solidFill>
                <a:latin typeface="Courier New" panose="02070309020205020404" pitchFamily="49" charset="0"/>
              </a:rPr>
              <a:t>s.pop</a:t>
            </a:r>
            <a:r>
              <a:rPr lang="en-US" altLang="vi-VN" sz="2000" dirty="0">
                <a:solidFill>
                  <a:srgbClr val="404040"/>
                </a:solidFill>
                <a:latin typeface="Courier New" panose="02070309020205020404" pitchFamily="49" charset="0"/>
              </a:rPr>
              <a:t>()); </a:t>
            </a:r>
            <a:r>
              <a:rPr lang="en-US" altLang="vi-V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// 17</a:t>
            </a:r>
          </a:p>
        </p:txBody>
      </p:sp>
      <p:sp>
        <p:nvSpPr>
          <p:cNvPr id="506882" name="Rectangle 2">
            <a:extLst>
              <a:ext uri="{FF2B5EF4-FFF2-40B4-BE49-F238E27FC236}">
                <a16:creationId xmlns:a16="http://schemas.microsoft.com/office/drawing/2014/main" id="{CA971C15-A66E-AD49-B621-79DCEA4D05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/>
              <a:t>Class </a:t>
            </a:r>
            <a:r>
              <a:rPr lang="en-US" altLang="vi-VN">
                <a:latin typeface="Courier New" panose="02070309020205020404" pitchFamily="49" charset="0"/>
              </a:rPr>
              <a:t>Stack</a:t>
            </a:r>
          </a:p>
        </p:txBody>
      </p:sp>
      <p:graphicFrame>
        <p:nvGraphicFramePr>
          <p:cNvPr id="506884" name="Group 4">
            <a:extLst>
              <a:ext uri="{FF2B5EF4-FFF2-40B4-BE49-F238E27FC236}">
                <a16:creationId xmlns:a16="http://schemas.microsoft.com/office/drawing/2014/main" id="{A0C4AE4D-A4CE-E16D-EBF0-0B45F51A621C}"/>
              </a:ext>
            </a:extLst>
          </p:cNvPr>
          <p:cNvGraphicFramePr>
            <a:graphicFrameLocks noGrp="1"/>
          </p:cNvGraphicFramePr>
          <p:nvPr/>
        </p:nvGraphicFramePr>
        <p:xfrm>
          <a:off x="690563" y="1371600"/>
          <a:ext cx="7691437" cy="2783397"/>
        </p:xfrm>
        <a:graphic>
          <a:graphicData uri="http://schemas.openxmlformats.org/drawingml/2006/table">
            <a:tbl>
              <a:tblPr/>
              <a:tblGrid>
                <a:gridCol w="1870075">
                  <a:extLst>
                    <a:ext uri="{9D8B030D-6E8A-4147-A177-3AD203B41FA5}">
                      <a16:colId xmlns:a16="http://schemas.microsoft.com/office/drawing/2014/main" val="3539239462"/>
                    </a:ext>
                  </a:extLst>
                </a:gridCol>
                <a:gridCol w="5821362">
                  <a:extLst>
                    <a:ext uri="{9D8B030D-6E8A-4147-A177-3AD203B41FA5}">
                      <a16:colId xmlns:a16="http://schemas.microsoft.com/office/drawing/2014/main" val="2800761386"/>
                    </a:ext>
                  </a:extLst>
                </a:gridCol>
              </a:tblGrid>
              <a:tr h="17462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Stack&lt;</a:t>
                      </a:r>
                      <a:r>
                        <a:rPr kumimoji="0" lang="en-US" altLang="vi-V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Verdana" panose="020B0604030504040204" pitchFamily="34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&gt;()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constructs a new stack with elements of type </a:t>
                      </a:r>
                      <a:r>
                        <a:rPr kumimoji="0" lang="en-US" altLang="vi-V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Verdana" panose="020B0604030504040204" pitchFamily="34" charset="0"/>
                          <a:cs typeface="Times New Roman" panose="02020603050405020304" pitchFamily="18" charset="0"/>
                        </a:rPr>
                        <a:t>E</a:t>
                      </a:r>
                      <a:endParaRPr kumimoji="0" lang="en-US" altLang="vi-VN" sz="2000" b="1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752314"/>
                  </a:ext>
                </a:extLst>
              </a:tr>
              <a:tr h="17462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push(</a:t>
                      </a:r>
                      <a:r>
                        <a:rPr kumimoji="0" lang="en-US" altLang="vi-V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Verdana" panose="020B060403050404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places given value on top of stack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6318760"/>
                  </a:ext>
                </a:extLst>
              </a:tr>
              <a:tr h="1841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pop()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removes top value from stack and returns it;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throws 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EmptyStackException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if stack is empty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004549"/>
                  </a:ext>
                </a:extLst>
              </a:tr>
              <a:tr h="1841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peek()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returns top value from stack without removing it;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throws 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EmptyStackException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if stack is empty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1057227"/>
                  </a:ext>
                </a:extLst>
              </a:tr>
              <a:tr h="17462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size()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returns number of elements in stack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507918"/>
                  </a:ext>
                </a:extLst>
              </a:tr>
              <a:tr h="1841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isEmpty()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returns 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if stack has no elements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110212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955" name="Rectangle 3">
            <a:extLst>
              <a:ext uri="{FF2B5EF4-FFF2-40B4-BE49-F238E27FC236}">
                <a16:creationId xmlns:a16="http://schemas.microsoft.com/office/drawing/2014/main" id="{04554E52-502C-45EE-EE38-8C2BAF1866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altLang="vi-VN" dirty="0">
              <a:solidFill>
                <a:srgbClr val="262626"/>
              </a:solidFill>
            </a:endParaRPr>
          </a:p>
          <a:p>
            <a:pPr lvl="1">
              <a:lnSpc>
                <a:spcPct val="90000"/>
              </a:lnSpc>
            </a:pPr>
            <a:endParaRPr lang="en-US" altLang="vi-VN" dirty="0">
              <a:solidFill>
                <a:srgbClr val="404040"/>
              </a:solidFill>
            </a:endParaRPr>
          </a:p>
          <a:p>
            <a:pPr lvl="1">
              <a:lnSpc>
                <a:spcPct val="90000"/>
              </a:lnSpc>
            </a:pPr>
            <a:endParaRPr lang="en-US" altLang="vi-VN" dirty="0">
              <a:solidFill>
                <a:srgbClr val="404040"/>
              </a:solidFill>
            </a:endParaRPr>
          </a:p>
          <a:p>
            <a:pPr lvl="1">
              <a:lnSpc>
                <a:spcPct val="90000"/>
              </a:lnSpc>
            </a:pPr>
            <a:endParaRPr lang="en-US" altLang="vi-VN" dirty="0">
              <a:solidFill>
                <a:srgbClr val="404040"/>
              </a:solidFill>
            </a:endParaRPr>
          </a:p>
          <a:p>
            <a:pPr lvl="1">
              <a:lnSpc>
                <a:spcPct val="90000"/>
              </a:lnSpc>
            </a:pPr>
            <a:endParaRPr lang="en-US" altLang="vi-VN" dirty="0">
              <a:solidFill>
                <a:srgbClr val="404040"/>
              </a:solidFill>
            </a:endParaRPr>
          </a:p>
          <a:p>
            <a:pPr lvl="1">
              <a:lnSpc>
                <a:spcPct val="90000"/>
              </a:lnSpc>
            </a:pPr>
            <a:endParaRPr lang="en-US" altLang="vi-VN" dirty="0">
              <a:solidFill>
                <a:srgbClr val="404040"/>
              </a:solidFill>
            </a:endParaRPr>
          </a:p>
          <a:p>
            <a:pPr lvl="1">
              <a:lnSpc>
                <a:spcPct val="90000"/>
              </a:lnSpc>
            </a:pPr>
            <a:endParaRPr lang="en-US" altLang="vi-VN" dirty="0">
              <a:solidFill>
                <a:srgbClr val="404040"/>
              </a:solidFill>
            </a:endParaRP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endParaRPr lang="en-US" altLang="vi-VN" sz="2000" b="1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endParaRPr lang="en-US" altLang="vi-VN" b="1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vi-VN" sz="2000" b="1" dirty="0">
                <a:solidFill>
                  <a:srgbClr val="404040"/>
                </a:solidFill>
                <a:latin typeface="Courier New" panose="02070309020205020404" pitchFamily="49" charset="0"/>
              </a:rPr>
              <a:t>Queue</a:t>
            </a:r>
            <a:r>
              <a:rPr lang="en-US" altLang="vi-VN" sz="2000" dirty="0">
                <a:solidFill>
                  <a:srgbClr val="404040"/>
                </a:solidFill>
                <a:latin typeface="Courier New" panose="02070309020205020404" pitchFamily="49" charset="0"/>
              </a:rPr>
              <a:t>&lt;Integer&gt; q = new </a:t>
            </a:r>
            <a:r>
              <a:rPr lang="en-US" altLang="vi-VN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LinkedList</a:t>
            </a:r>
            <a:r>
              <a:rPr lang="en-US" altLang="vi-VN" sz="2000" dirty="0">
                <a:solidFill>
                  <a:srgbClr val="404040"/>
                </a:solidFill>
                <a:latin typeface="Courier New" panose="02070309020205020404" pitchFamily="49" charset="0"/>
              </a:rPr>
              <a:t>&lt;Integer&gt;();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vi-VN" sz="2000" dirty="0" err="1">
                <a:solidFill>
                  <a:srgbClr val="404040"/>
                </a:solidFill>
                <a:latin typeface="Courier New" panose="02070309020205020404" pitchFamily="49" charset="0"/>
              </a:rPr>
              <a:t>q.add</a:t>
            </a:r>
            <a:r>
              <a:rPr lang="en-US" altLang="vi-VN" sz="2000" dirty="0">
                <a:solidFill>
                  <a:srgbClr val="404040"/>
                </a:solidFill>
                <a:latin typeface="Courier New" panose="02070309020205020404" pitchFamily="49" charset="0"/>
              </a:rPr>
              <a:t>(42);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vi-VN" sz="2000" dirty="0" err="1">
                <a:solidFill>
                  <a:srgbClr val="404040"/>
                </a:solidFill>
                <a:latin typeface="Courier New" panose="02070309020205020404" pitchFamily="49" charset="0"/>
              </a:rPr>
              <a:t>q.add</a:t>
            </a:r>
            <a:r>
              <a:rPr lang="en-US" altLang="vi-VN" sz="2000" dirty="0">
                <a:solidFill>
                  <a:srgbClr val="404040"/>
                </a:solidFill>
                <a:latin typeface="Courier New" panose="02070309020205020404" pitchFamily="49" charset="0"/>
              </a:rPr>
              <a:t>(-3);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vi-VN" sz="2000" dirty="0" err="1">
                <a:solidFill>
                  <a:srgbClr val="404040"/>
                </a:solidFill>
                <a:latin typeface="Courier New" panose="02070309020205020404" pitchFamily="49" charset="0"/>
              </a:rPr>
              <a:t>q.add</a:t>
            </a:r>
            <a:r>
              <a:rPr lang="en-US" altLang="vi-VN" sz="2000" dirty="0">
                <a:solidFill>
                  <a:srgbClr val="404040"/>
                </a:solidFill>
                <a:latin typeface="Courier New" panose="02070309020205020404" pitchFamily="49" charset="0"/>
              </a:rPr>
              <a:t>(17);       </a:t>
            </a:r>
            <a:r>
              <a:rPr lang="en-US" altLang="vi-V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// front [42, -3, 17] back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endParaRPr lang="en-US" altLang="vi-VN" sz="800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vi-VN" sz="2000" dirty="0" err="1">
                <a:solidFill>
                  <a:srgbClr val="404040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vi-VN" sz="2000" dirty="0">
                <a:solidFill>
                  <a:srgbClr val="404040"/>
                </a:solidFill>
                <a:latin typeface="Courier New" panose="02070309020205020404" pitchFamily="49" charset="0"/>
              </a:rPr>
              <a:t>(</a:t>
            </a:r>
            <a:r>
              <a:rPr lang="en-US" altLang="vi-VN" sz="2000" dirty="0" err="1">
                <a:solidFill>
                  <a:srgbClr val="404040"/>
                </a:solidFill>
                <a:latin typeface="Courier New" panose="02070309020205020404" pitchFamily="49" charset="0"/>
              </a:rPr>
              <a:t>q.remove</a:t>
            </a:r>
            <a:r>
              <a:rPr lang="en-US" altLang="vi-VN" sz="2000" dirty="0">
                <a:solidFill>
                  <a:srgbClr val="404040"/>
                </a:solidFill>
                <a:latin typeface="Courier New" panose="02070309020205020404" pitchFamily="49" charset="0"/>
              </a:rPr>
              <a:t>());   </a:t>
            </a:r>
            <a:r>
              <a:rPr lang="en-US" altLang="vi-V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// 42</a:t>
            </a:r>
            <a:endParaRPr lang="en-US" altLang="vi-VN" sz="2000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altLang="vi-VN" sz="2000" dirty="0">
              <a:solidFill>
                <a:srgbClr val="262626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vi-VN" dirty="0">
                <a:solidFill>
                  <a:srgbClr val="404040"/>
                </a:solidFill>
              </a:rPr>
              <a:t>When constructing a queue you must use a</a:t>
            </a:r>
            <a:br>
              <a:rPr lang="en-US" altLang="vi-VN" dirty="0">
                <a:solidFill>
                  <a:srgbClr val="404040"/>
                </a:solidFill>
              </a:rPr>
            </a:br>
            <a:r>
              <a:rPr lang="en-US" altLang="vi-VN" dirty="0">
                <a:solidFill>
                  <a:srgbClr val="404040"/>
                </a:solidFill>
              </a:rPr>
              <a:t>new </a:t>
            </a:r>
            <a:r>
              <a:rPr lang="en-US" altLang="vi-VN" dirty="0">
                <a:solidFill>
                  <a:srgbClr val="404040"/>
                </a:solidFill>
                <a:latin typeface="Courier New" panose="02070309020205020404" pitchFamily="49" charset="0"/>
              </a:rPr>
              <a:t>LinkedList</a:t>
            </a:r>
            <a:r>
              <a:rPr lang="en-US" altLang="vi-VN" dirty="0">
                <a:solidFill>
                  <a:srgbClr val="404040"/>
                </a:solidFill>
              </a:rPr>
              <a:t> object instead of a </a:t>
            </a:r>
            <a:r>
              <a:rPr lang="en-US" altLang="vi-VN" dirty="0">
                <a:solidFill>
                  <a:srgbClr val="404040"/>
                </a:solidFill>
                <a:latin typeface="Courier New" panose="02070309020205020404" pitchFamily="49" charset="0"/>
              </a:rPr>
              <a:t>Queue</a:t>
            </a:r>
            <a:r>
              <a:rPr lang="en-US" altLang="vi-VN" dirty="0">
                <a:solidFill>
                  <a:srgbClr val="404040"/>
                </a:solidFill>
              </a:rPr>
              <a:t> object.</a:t>
            </a:r>
          </a:p>
        </p:txBody>
      </p:sp>
      <p:sp>
        <p:nvSpPr>
          <p:cNvPr id="509954" name="Rectangle 2">
            <a:extLst>
              <a:ext uri="{FF2B5EF4-FFF2-40B4-BE49-F238E27FC236}">
                <a16:creationId xmlns:a16="http://schemas.microsoft.com/office/drawing/2014/main" id="{574DD787-64B4-4CB5-A7D6-01E57D1953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/>
              <a:t>Interface </a:t>
            </a:r>
            <a:r>
              <a:rPr lang="en-US" altLang="vi-VN">
                <a:latin typeface="Courier New" panose="02070309020205020404" pitchFamily="49" charset="0"/>
              </a:rPr>
              <a:t>Queue</a:t>
            </a:r>
            <a:endParaRPr lang="en-US" altLang="vi-VN"/>
          </a:p>
        </p:txBody>
      </p:sp>
      <p:graphicFrame>
        <p:nvGraphicFramePr>
          <p:cNvPr id="509956" name="Group 4">
            <a:extLst>
              <a:ext uri="{FF2B5EF4-FFF2-40B4-BE49-F238E27FC236}">
                <a16:creationId xmlns:a16="http://schemas.microsoft.com/office/drawing/2014/main" id="{0C831FDA-2359-2916-A548-F17BFD34B848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295400"/>
          <a:ext cx="8321675" cy="2412239"/>
        </p:xfrm>
        <a:graphic>
          <a:graphicData uri="http://schemas.openxmlformats.org/drawingml/2006/table">
            <a:tbl>
              <a:tblPr/>
              <a:tblGrid>
                <a:gridCol w="1717675">
                  <a:extLst>
                    <a:ext uri="{9D8B030D-6E8A-4147-A177-3AD203B41FA5}">
                      <a16:colId xmlns:a16="http://schemas.microsoft.com/office/drawing/2014/main" val="1467722144"/>
                    </a:ext>
                  </a:extLst>
                </a:gridCol>
                <a:gridCol w="6604000">
                  <a:extLst>
                    <a:ext uri="{9D8B030D-6E8A-4147-A177-3AD203B41FA5}">
                      <a16:colId xmlns:a16="http://schemas.microsoft.com/office/drawing/2014/main" val="432040360"/>
                    </a:ext>
                  </a:extLst>
                </a:gridCol>
              </a:tblGrid>
              <a:tr h="17462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add(</a:t>
                      </a:r>
                      <a:r>
                        <a:rPr kumimoji="0" lang="en-US" altLang="vi-V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Verdana" panose="020B060403050404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places given value at back of queue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742659"/>
                  </a:ext>
                </a:extLst>
              </a:tr>
              <a:tr h="63182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remove()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removes value from front of queue and returns it;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throws a 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NoSuchElementException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if queue is empty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5512680"/>
                  </a:ext>
                </a:extLst>
              </a:tr>
              <a:tr h="1841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peek()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returns front value from queue without removing it;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returns 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null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if queue is empty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7628317"/>
                  </a:ext>
                </a:extLst>
              </a:tr>
              <a:tr h="17462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size()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returns number of elements in queue</a:t>
                      </a:r>
                      <a:endParaRPr kumimoji="0" lang="en-US" altLang="vi-V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9929712"/>
                  </a:ext>
                </a:extLst>
              </a:tr>
              <a:tr h="1841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isEmpty()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returns </a:t>
                      </a:r>
                      <a:r>
                        <a:rPr kumimoji="0" lang="en-US" altLang="vi-V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kumimoji="0" lang="en-US" altLang="vi-V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if queue has no elements</a:t>
                      </a:r>
                      <a:endParaRPr kumimoji="0" lang="en-US" altLang="vi-V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65649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99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099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099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099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099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0995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979" name="Rectangle 3">
            <a:extLst>
              <a:ext uri="{FF2B5EF4-FFF2-40B4-BE49-F238E27FC236}">
                <a16:creationId xmlns:a16="http://schemas.microsoft.com/office/drawing/2014/main" id="{B26DC69B-DE83-6B97-063D-5C42D6D3A9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r>
              <a:rPr lang="en-US" altLang="vi-VN">
                <a:solidFill>
                  <a:srgbClr val="262626"/>
                </a:solidFill>
              </a:rPr>
              <a:t>As with stacks, must pull contents out of queue to view them.</a:t>
            </a:r>
            <a:endParaRPr lang="en-US" altLang="vi-VN" sz="800">
              <a:solidFill>
                <a:srgbClr val="262626"/>
              </a:solidFill>
            </a:endParaRPr>
          </a:p>
          <a:p>
            <a:pPr lvl="1">
              <a:buFont typeface="Wingdings" panose="05000000000000000000" pitchFamily="2" charset="2"/>
              <a:buNone/>
            </a:pPr>
            <a:endParaRPr lang="en-US" altLang="vi-VN" sz="800">
              <a:solidFill>
                <a:srgbClr val="404040"/>
              </a:solidFill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 b="1">
                <a:solidFill>
                  <a:srgbClr val="008000"/>
                </a:solidFill>
                <a:latin typeface="Courier New" panose="02070309020205020404" pitchFamily="49" charset="0"/>
              </a:rPr>
              <a:t>	// process (and destroy) an entire queue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	while (!q.isEmpty()) {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	    </a:t>
            </a:r>
            <a:r>
              <a:rPr lang="en-US" altLang="vi-VN" b="1">
                <a:solidFill>
                  <a:srgbClr val="404040"/>
                </a:solidFill>
              </a:rPr>
              <a:t>do something with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 q.remove();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	}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vi-VN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altLang="vi-VN">
                <a:solidFill>
                  <a:srgbClr val="404040"/>
                </a:solidFill>
              </a:rPr>
              <a:t>another idiom: Examining each element exactly once.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vi-VN" sz="800">
              <a:solidFill>
                <a:srgbClr val="404040"/>
              </a:solidFill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	int size = q.size();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	for (int i = 0; i &lt; size; i++) {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	    </a:t>
            </a:r>
            <a:r>
              <a:rPr lang="en-US" altLang="vi-VN" b="1">
                <a:solidFill>
                  <a:srgbClr val="404040"/>
                </a:solidFill>
              </a:rPr>
              <a:t>do something with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 q.remove();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	    </a:t>
            </a:r>
            <a:r>
              <a:rPr lang="en-US" altLang="vi-VN">
                <a:solidFill>
                  <a:srgbClr val="404040"/>
                </a:solidFill>
              </a:rPr>
              <a:t>(including possibly re-adding it to the queue)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	}</a:t>
            </a:r>
          </a:p>
        </p:txBody>
      </p:sp>
      <p:sp>
        <p:nvSpPr>
          <p:cNvPr id="510978" name="Rectangle 2">
            <a:extLst>
              <a:ext uri="{FF2B5EF4-FFF2-40B4-BE49-F238E27FC236}">
                <a16:creationId xmlns:a16="http://schemas.microsoft.com/office/drawing/2014/main" id="{96640028-CFCD-7827-0FD3-7AFFD0F7AA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/>
              <a:t>Queue idioms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26" name="Rectangle 2">
            <a:extLst>
              <a:ext uri="{FF2B5EF4-FFF2-40B4-BE49-F238E27FC236}">
                <a16:creationId xmlns:a16="http://schemas.microsoft.com/office/drawing/2014/main" id="{ADDE90EA-5742-EC75-C63C-1184C0D25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828800"/>
            <a:ext cx="5943600" cy="1371600"/>
          </a:xfrm>
          <a:prstGeom prst="rect">
            <a:avLst/>
          </a:prstGeom>
          <a:solidFill>
            <a:srgbClr val="E6E6E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r"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r"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r"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r"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150000"/>
              </a:lnSpc>
            </a:pPr>
            <a:endParaRPr lang="vi-VN" altLang="vi-VN">
              <a:latin typeface="Tahoma" panose="020B0604030504040204" pitchFamily="34" charset="0"/>
            </a:endParaRPr>
          </a:p>
        </p:txBody>
      </p:sp>
      <p:sp>
        <p:nvSpPr>
          <p:cNvPr id="538628" name="Rectangle 4">
            <a:extLst>
              <a:ext uri="{FF2B5EF4-FFF2-40B4-BE49-F238E27FC236}">
                <a16:creationId xmlns:a16="http://schemas.microsoft.com/office/drawing/2014/main" id="{9DC31D48-8297-DB83-9940-42496CCB69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r>
              <a:rPr lang="en-US" altLang="vi-VN" dirty="0">
                <a:solidFill>
                  <a:srgbClr val="262626"/>
                </a:solidFill>
              </a:rPr>
              <a:t>Stacks are almost always implemented using an array (why?)</a:t>
            </a:r>
          </a:p>
          <a:p>
            <a:pPr lvl="1"/>
            <a:endParaRPr lang="en-US" altLang="vi-VN" dirty="0">
              <a:solidFill>
                <a:srgbClr val="404040"/>
              </a:solidFill>
            </a:endParaRPr>
          </a:p>
          <a:p>
            <a:pPr lvl="1"/>
            <a:endParaRPr lang="en-US" altLang="vi-VN" dirty="0">
              <a:solidFill>
                <a:srgbClr val="404040"/>
              </a:solidFill>
            </a:endParaRPr>
          </a:p>
          <a:p>
            <a:pPr lvl="1"/>
            <a:endParaRPr lang="en-US" altLang="vi-VN" dirty="0">
              <a:solidFill>
                <a:srgbClr val="404040"/>
              </a:solidFill>
            </a:endParaRPr>
          </a:p>
          <a:p>
            <a:pPr lvl="1"/>
            <a:endParaRPr lang="en-US" altLang="vi-VN" dirty="0">
              <a:solidFill>
                <a:srgbClr val="404040"/>
              </a:solidFill>
            </a:endParaRPr>
          </a:p>
          <a:p>
            <a:pPr lvl="1"/>
            <a:endParaRPr lang="en-US" altLang="vi-VN" dirty="0">
              <a:solidFill>
                <a:srgbClr val="404040"/>
              </a:solidFill>
            </a:endParaRPr>
          </a:p>
          <a:p>
            <a:r>
              <a:rPr lang="en-US" altLang="vi-VN" dirty="0">
                <a:solidFill>
                  <a:srgbClr val="262626"/>
                </a:solidFill>
              </a:rPr>
              <a:t>Queues are built using a doubly-linked list with a front and back reference, or using an array with front and back indexes (why?)</a:t>
            </a:r>
          </a:p>
        </p:txBody>
      </p:sp>
      <p:sp>
        <p:nvSpPr>
          <p:cNvPr id="538627" name="Rectangle 3">
            <a:extLst>
              <a:ext uri="{FF2B5EF4-FFF2-40B4-BE49-F238E27FC236}">
                <a16:creationId xmlns:a16="http://schemas.microsoft.com/office/drawing/2014/main" id="{6817386F-1A1D-7AF3-36B9-977553FDFC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/>
              <a:t>Stack/Queue implementation</a:t>
            </a:r>
          </a:p>
        </p:txBody>
      </p:sp>
      <p:graphicFrame>
        <p:nvGraphicFramePr>
          <p:cNvPr id="538629" name="Group 5">
            <a:extLst>
              <a:ext uri="{FF2B5EF4-FFF2-40B4-BE49-F238E27FC236}">
                <a16:creationId xmlns:a16="http://schemas.microsoft.com/office/drawing/2014/main" id="{4A571267-6E2D-1738-23C1-D74697442708}"/>
              </a:ext>
            </a:extLst>
          </p:cNvPr>
          <p:cNvGraphicFramePr>
            <a:graphicFrameLocks noGrp="1"/>
          </p:cNvGraphicFramePr>
          <p:nvPr/>
        </p:nvGraphicFramePr>
        <p:xfrm>
          <a:off x="1573213" y="1862138"/>
          <a:ext cx="5818187" cy="118872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1458796620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541347499"/>
                    </a:ext>
                  </a:extLst>
                </a:gridCol>
                <a:gridCol w="500063">
                  <a:extLst>
                    <a:ext uri="{9D8B030D-6E8A-4147-A177-3AD203B41FA5}">
                      <a16:colId xmlns:a16="http://schemas.microsoft.com/office/drawing/2014/main" val="2509472141"/>
                    </a:ext>
                  </a:extLst>
                </a:gridCol>
                <a:gridCol w="500062">
                  <a:extLst>
                    <a:ext uri="{9D8B030D-6E8A-4147-A177-3AD203B41FA5}">
                      <a16:colId xmlns:a16="http://schemas.microsoft.com/office/drawing/2014/main" val="317886737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3414769436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3334248402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1758944123"/>
                    </a:ext>
                  </a:extLst>
                </a:gridCol>
                <a:gridCol w="500063">
                  <a:extLst>
                    <a:ext uri="{9D8B030D-6E8A-4147-A177-3AD203B41FA5}">
                      <a16:colId xmlns:a16="http://schemas.microsoft.com/office/drawing/2014/main" val="2933617112"/>
                    </a:ext>
                  </a:extLst>
                </a:gridCol>
                <a:gridCol w="500062">
                  <a:extLst>
                    <a:ext uri="{9D8B030D-6E8A-4147-A177-3AD203B41FA5}">
                      <a16:colId xmlns:a16="http://schemas.microsoft.com/office/drawing/2014/main" val="3255736354"/>
                    </a:ext>
                  </a:extLst>
                </a:gridCol>
                <a:gridCol w="500063">
                  <a:extLst>
                    <a:ext uri="{9D8B030D-6E8A-4147-A177-3AD203B41FA5}">
                      <a16:colId xmlns:a16="http://schemas.microsoft.com/office/drawing/2014/main" val="3514135580"/>
                    </a:ext>
                  </a:extLst>
                </a:gridCol>
                <a:gridCol w="500062">
                  <a:extLst>
                    <a:ext uri="{9D8B030D-6E8A-4147-A177-3AD203B41FA5}">
                      <a16:colId xmlns:a16="http://schemas.microsoft.com/office/drawing/2014/main" val="1249715637"/>
                    </a:ext>
                  </a:extLst>
                </a:gridCol>
              </a:tblGrid>
              <a:tr h="1397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index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389215"/>
                  </a:ext>
                </a:extLst>
              </a:tr>
              <a:tr h="39528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42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80012"/>
                  </a:ext>
                </a:extLst>
              </a:tr>
              <a:tr h="1397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size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2655919"/>
                  </a:ext>
                </a:extLst>
              </a:tr>
            </a:tbl>
          </a:graphicData>
        </a:graphic>
      </p:graphicFrame>
      <p:sp>
        <p:nvSpPr>
          <p:cNvPr id="538689" name="Rectangle 65">
            <a:extLst>
              <a:ext uri="{FF2B5EF4-FFF2-40B4-BE49-F238E27FC236}">
                <a16:creationId xmlns:a16="http://schemas.microsoft.com/office/drawing/2014/main" id="{C91432B8-0751-B09F-57A1-B445B49F0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181600"/>
            <a:ext cx="1905000" cy="1371600"/>
          </a:xfrm>
          <a:prstGeom prst="rect">
            <a:avLst/>
          </a:prstGeom>
          <a:solidFill>
            <a:srgbClr val="E6E6E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r"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r"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r"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r"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en-US" altLang="vi-VN">
                <a:latin typeface="Tahoma" panose="020B0604030504040204" pitchFamily="34" charset="0"/>
              </a:rPr>
              <a:t>front	 </a:t>
            </a:r>
          </a:p>
          <a:p>
            <a:pPr algn="l" eaLnBrk="1" hangingPunct="1">
              <a:lnSpc>
                <a:spcPct val="150000"/>
              </a:lnSpc>
            </a:pPr>
            <a:r>
              <a:rPr lang="en-US" altLang="vi-VN">
                <a:latin typeface="Tahoma" panose="020B0604030504040204" pitchFamily="34" charset="0"/>
              </a:rPr>
              <a:t>back</a:t>
            </a:r>
          </a:p>
          <a:p>
            <a:pPr algn="l" eaLnBrk="1" hangingPunct="1">
              <a:lnSpc>
                <a:spcPct val="150000"/>
              </a:lnSpc>
            </a:pPr>
            <a:r>
              <a:rPr lang="en-US" altLang="vi-VN">
                <a:latin typeface="Tahoma" panose="020B0604030504040204" pitchFamily="34" charset="0"/>
              </a:rPr>
              <a:t>size         3</a:t>
            </a:r>
          </a:p>
        </p:txBody>
      </p:sp>
      <p:sp>
        <p:nvSpPr>
          <p:cNvPr id="538690" name="Rectangle 66">
            <a:extLst>
              <a:ext uri="{FF2B5EF4-FFF2-40B4-BE49-F238E27FC236}">
                <a16:creationId xmlns:a16="http://schemas.microsoft.com/office/drawing/2014/main" id="{1F1E9FF9-621F-7E5A-7F83-E95F24036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533400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vi-VN"/>
          </a:p>
        </p:txBody>
      </p:sp>
      <p:sp>
        <p:nvSpPr>
          <p:cNvPr id="538691" name="Line 67">
            <a:extLst>
              <a:ext uri="{FF2B5EF4-FFF2-40B4-BE49-F238E27FC236}">
                <a16:creationId xmlns:a16="http://schemas.microsoft.com/office/drawing/2014/main" id="{A32C64CC-987E-44A0-AC93-C557D74265D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676400" y="5181600"/>
            <a:ext cx="2667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vi-VN"/>
          </a:p>
        </p:txBody>
      </p:sp>
      <p:graphicFrame>
        <p:nvGraphicFramePr>
          <p:cNvPr id="538735" name="Group 111">
            <a:extLst>
              <a:ext uri="{FF2B5EF4-FFF2-40B4-BE49-F238E27FC236}">
                <a16:creationId xmlns:a16="http://schemas.microsoft.com/office/drawing/2014/main" id="{0A18E161-208B-4AD2-0742-87242FA3A82E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4267200"/>
          <a:ext cx="2022475" cy="792480"/>
        </p:xfrm>
        <a:graphic>
          <a:graphicData uri="http://schemas.openxmlformats.org/drawingml/2006/table">
            <a:tbl>
              <a:tblPr/>
              <a:tblGrid>
                <a:gridCol w="676275">
                  <a:extLst>
                    <a:ext uri="{9D8B030D-6E8A-4147-A177-3AD203B41FA5}">
                      <a16:colId xmlns:a16="http://schemas.microsoft.com/office/drawing/2014/main" val="3231400053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1219683974"/>
                    </a:ext>
                  </a:extLst>
                </a:gridCol>
                <a:gridCol w="669925">
                  <a:extLst>
                    <a:ext uri="{9D8B030D-6E8A-4147-A177-3AD203B41FA5}">
                      <a16:colId xmlns:a16="http://schemas.microsoft.com/office/drawing/2014/main" val="2318369999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prev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next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259356"/>
                  </a:ext>
                </a:extLst>
              </a:tr>
              <a:tr h="1778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309707"/>
                  </a:ext>
                </a:extLst>
              </a:tr>
            </a:tbl>
          </a:graphicData>
        </a:graphic>
      </p:graphicFrame>
      <p:graphicFrame>
        <p:nvGraphicFramePr>
          <p:cNvPr id="538736" name="Group 112">
            <a:extLst>
              <a:ext uri="{FF2B5EF4-FFF2-40B4-BE49-F238E27FC236}">
                <a16:creationId xmlns:a16="http://schemas.microsoft.com/office/drawing/2014/main" id="{0F5E5577-73F7-E7E7-B5F5-44223C8FFB13}"/>
              </a:ext>
            </a:extLst>
          </p:cNvPr>
          <p:cNvGraphicFramePr>
            <a:graphicFrameLocks noGrp="1"/>
          </p:cNvGraphicFramePr>
          <p:nvPr/>
        </p:nvGraphicFramePr>
        <p:xfrm>
          <a:off x="3048000" y="4267200"/>
          <a:ext cx="2022475" cy="792480"/>
        </p:xfrm>
        <a:graphic>
          <a:graphicData uri="http://schemas.openxmlformats.org/drawingml/2006/table">
            <a:tbl>
              <a:tblPr/>
              <a:tblGrid>
                <a:gridCol w="676275">
                  <a:extLst>
                    <a:ext uri="{9D8B030D-6E8A-4147-A177-3AD203B41FA5}">
                      <a16:colId xmlns:a16="http://schemas.microsoft.com/office/drawing/2014/main" val="113232438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1934362194"/>
                    </a:ext>
                  </a:extLst>
                </a:gridCol>
                <a:gridCol w="669925">
                  <a:extLst>
                    <a:ext uri="{9D8B030D-6E8A-4147-A177-3AD203B41FA5}">
                      <a16:colId xmlns:a16="http://schemas.microsoft.com/office/drawing/2014/main" val="630946691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prev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next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081806"/>
                  </a:ext>
                </a:extLst>
              </a:tr>
              <a:tr h="1778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433149"/>
                  </a:ext>
                </a:extLst>
              </a:tr>
            </a:tbl>
          </a:graphicData>
        </a:graphic>
      </p:graphicFrame>
      <p:graphicFrame>
        <p:nvGraphicFramePr>
          <p:cNvPr id="538750" name="Group 126">
            <a:extLst>
              <a:ext uri="{FF2B5EF4-FFF2-40B4-BE49-F238E27FC236}">
                <a16:creationId xmlns:a16="http://schemas.microsoft.com/office/drawing/2014/main" id="{9C22D697-2DDF-CFEB-8478-EE8E3B105693}"/>
              </a:ext>
            </a:extLst>
          </p:cNvPr>
          <p:cNvGraphicFramePr>
            <a:graphicFrameLocks noGrp="1"/>
          </p:cNvGraphicFramePr>
          <p:nvPr/>
        </p:nvGraphicFramePr>
        <p:xfrm>
          <a:off x="5521325" y="4267200"/>
          <a:ext cx="2022475" cy="792480"/>
        </p:xfrm>
        <a:graphic>
          <a:graphicData uri="http://schemas.openxmlformats.org/drawingml/2006/table">
            <a:tbl>
              <a:tblPr/>
              <a:tblGrid>
                <a:gridCol w="676275">
                  <a:extLst>
                    <a:ext uri="{9D8B030D-6E8A-4147-A177-3AD203B41FA5}">
                      <a16:colId xmlns:a16="http://schemas.microsoft.com/office/drawing/2014/main" val="224175318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898956907"/>
                    </a:ext>
                  </a:extLst>
                </a:gridCol>
                <a:gridCol w="669925">
                  <a:extLst>
                    <a:ext uri="{9D8B030D-6E8A-4147-A177-3AD203B41FA5}">
                      <a16:colId xmlns:a16="http://schemas.microsoft.com/office/drawing/2014/main" val="4229868579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prev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next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4083208"/>
                  </a:ext>
                </a:extLst>
              </a:tr>
              <a:tr h="1778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901459"/>
                  </a:ext>
                </a:extLst>
              </a:tr>
            </a:tbl>
          </a:graphicData>
        </a:graphic>
      </p:graphicFrame>
      <p:sp>
        <p:nvSpPr>
          <p:cNvPr id="538703" name="Line 79">
            <a:extLst>
              <a:ext uri="{FF2B5EF4-FFF2-40B4-BE49-F238E27FC236}">
                <a16:creationId xmlns:a16="http://schemas.microsoft.com/office/drawing/2014/main" id="{2EE88C32-6747-1BD5-08D5-9F41FF1182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4876800"/>
            <a:ext cx="1066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vi-VN"/>
          </a:p>
        </p:txBody>
      </p:sp>
      <p:sp>
        <p:nvSpPr>
          <p:cNvPr id="538764" name="Rectangle 140">
            <a:extLst>
              <a:ext uri="{FF2B5EF4-FFF2-40B4-BE49-F238E27FC236}">
                <a16:creationId xmlns:a16="http://schemas.microsoft.com/office/drawing/2014/main" id="{3C58616F-0B28-C65A-B1FF-33C7FBDAD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5762625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vi-VN"/>
          </a:p>
        </p:txBody>
      </p:sp>
      <p:sp>
        <p:nvSpPr>
          <p:cNvPr id="538765" name="Line 141">
            <a:extLst>
              <a:ext uri="{FF2B5EF4-FFF2-40B4-BE49-F238E27FC236}">
                <a16:creationId xmlns:a16="http://schemas.microsoft.com/office/drawing/2014/main" id="{223D308B-58A7-D491-ACBE-96CD8AB374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3400" y="5181600"/>
            <a:ext cx="22098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vi-VN"/>
          </a:p>
        </p:txBody>
      </p:sp>
      <p:sp>
        <p:nvSpPr>
          <p:cNvPr id="538727" name="Line 103">
            <a:extLst>
              <a:ext uri="{FF2B5EF4-FFF2-40B4-BE49-F238E27FC236}">
                <a16:creationId xmlns:a16="http://schemas.microsoft.com/office/drawing/2014/main" id="{DC1CBCB9-C94D-6CAE-C8C7-B1A8471745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8000" y="4648200"/>
            <a:ext cx="685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vi-VN"/>
          </a:p>
        </p:txBody>
      </p:sp>
      <p:sp>
        <p:nvSpPr>
          <p:cNvPr id="538715" name="Line 91">
            <a:extLst>
              <a:ext uri="{FF2B5EF4-FFF2-40B4-BE49-F238E27FC236}">
                <a16:creationId xmlns:a16="http://schemas.microsoft.com/office/drawing/2014/main" id="{7A1B834B-B58B-92B7-F44A-32ECF54EF9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24400" y="4876800"/>
            <a:ext cx="1143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vi-VN"/>
          </a:p>
        </p:txBody>
      </p:sp>
      <p:sp>
        <p:nvSpPr>
          <p:cNvPr id="538766" name="Line 142">
            <a:extLst>
              <a:ext uri="{FF2B5EF4-FFF2-40B4-BE49-F238E27FC236}">
                <a16:creationId xmlns:a16="http://schemas.microsoft.com/office/drawing/2014/main" id="{2C8717CF-A0BA-0AD0-F90F-569021D156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9600" y="4648200"/>
            <a:ext cx="685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vi-V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3" name="Rectangle 3">
            <a:extLst>
              <a:ext uri="{FF2B5EF4-FFF2-40B4-BE49-F238E27FC236}">
                <a16:creationId xmlns:a16="http://schemas.microsoft.com/office/drawing/2014/main" id="{8EF6A39C-C305-BAE9-1BA8-9A2E5C0588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r>
              <a:rPr lang="en-US" altLang="vi-VN" b="1">
                <a:solidFill>
                  <a:srgbClr val="262626"/>
                </a:solidFill>
              </a:rPr>
              <a:t>set</a:t>
            </a:r>
            <a:r>
              <a:rPr lang="en-US" altLang="vi-VN">
                <a:solidFill>
                  <a:srgbClr val="262626"/>
                </a:solidFill>
              </a:rPr>
              <a:t>: A collection of unique values (no duplicates allowed)</a:t>
            </a:r>
            <a:br>
              <a:rPr lang="en-US" altLang="vi-VN">
                <a:solidFill>
                  <a:srgbClr val="262626"/>
                </a:solidFill>
              </a:rPr>
            </a:br>
            <a:r>
              <a:rPr lang="en-US" altLang="vi-VN">
                <a:solidFill>
                  <a:srgbClr val="262626"/>
                </a:solidFill>
              </a:rPr>
              <a:t>that can perform the following operations efficiently:</a:t>
            </a:r>
          </a:p>
          <a:p>
            <a:pPr lvl="1"/>
            <a:r>
              <a:rPr lang="en-US" altLang="vi-VN">
                <a:solidFill>
                  <a:srgbClr val="404040"/>
                </a:solidFill>
              </a:rPr>
              <a:t>add, remove, search (contains)</a:t>
            </a:r>
          </a:p>
          <a:p>
            <a:pPr lvl="1"/>
            <a:endParaRPr lang="en-US" altLang="vi-VN" sz="1200">
              <a:solidFill>
                <a:srgbClr val="404040"/>
              </a:solidFill>
            </a:endParaRPr>
          </a:p>
          <a:p>
            <a:pPr lvl="1"/>
            <a:r>
              <a:rPr lang="en-US" altLang="vi-VN">
                <a:solidFill>
                  <a:srgbClr val="404040"/>
                </a:solidFill>
              </a:rPr>
              <a:t>We don't think of a set as having indexes; we just </a:t>
            </a:r>
            <a:br>
              <a:rPr lang="en-US" altLang="vi-VN">
                <a:solidFill>
                  <a:srgbClr val="404040"/>
                </a:solidFill>
              </a:rPr>
            </a:br>
            <a:r>
              <a:rPr lang="en-US" altLang="vi-VN">
                <a:solidFill>
                  <a:srgbClr val="404040"/>
                </a:solidFill>
              </a:rPr>
              <a:t>add things to the set in general and don't worry about order.</a:t>
            </a:r>
          </a:p>
        </p:txBody>
      </p:sp>
      <p:sp>
        <p:nvSpPr>
          <p:cNvPr id="517122" name="Rectangle 2">
            <a:extLst>
              <a:ext uri="{FF2B5EF4-FFF2-40B4-BE49-F238E27FC236}">
                <a16:creationId xmlns:a16="http://schemas.microsoft.com/office/drawing/2014/main" id="{84435F47-E342-20AE-836D-8BBB9CA9F2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/>
              <a:t>Sets</a:t>
            </a:r>
          </a:p>
        </p:txBody>
      </p:sp>
      <p:grpSp>
        <p:nvGrpSpPr>
          <p:cNvPr id="517124" name="Group 4">
            <a:extLst>
              <a:ext uri="{FF2B5EF4-FFF2-40B4-BE49-F238E27FC236}">
                <a16:creationId xmlns:a16="http://schemas.microsoft.com/office/drawing/2014/main" id="{F40F8840-BDA5-F9F8-0F13-30FD621BA8E8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3733800"/>
            <a:ext cx="7848600" cy="2667000"/>
            <a:chOff x="288" y="2496"/>
            <a:chExt cx="4944" cy="1680"/>
          </a:xfrm>
        </p:grpSpPr>
        <p:sp>
          <p:nvSpPr>
            <p:cNvPr id="517125" name="Line 5">
              <a:extLst>
                <a:ext uri="{FF2B5EF4-FFF2-40B4-BE49-F238E27FC236}">
                  <a16:creationId xmlns:a16="http://schemas.microsoft.com/office/drawing/2014/main" id="{F62D4CA5-8A0E-5081-409D-4C9747708C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3168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vi-VN"/>
            </a:p>
          </p:txBody>
        </p:sp>
        <p:sp>
          <p:nvSpPr>
            <p:cNvPr id="517126" name="Text Box 6">
              <a:extLst>
                <a:ext uri="{FF2B5EF4-FFF2-40B4-BE49-F238E27FC236}">
                  <a16:creationId xmlns:a16="http://schemas.microsoft.com/office/drawing/2014/main" id="{B4AA2260-4023-82BE-5BAB-5CBD867C14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" y="2889"/>
              <a:ext cx="16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vi-VN">
                  <a:latin typeface="Courier New" panose="02070309020205020404" pitchFamily="49" charset="0"/>
                </a:rPr>
                <a:t>set.contains("to")</a:t>
              </a:r>
            </a:p>
          </p:txBody>
        </p:sp>
        <p:sp>
          <p:nvSpPr>
            <p:cNvPr id="517127" name="Line 7">
              <a:extLst>
                <a:ext uri="{FF2B5EF4-FFF2-40B4-BE49-F238E27FC236}">
                  <a16:creationId xmlns:a16="http://schemas.microsoft.com/office/drawing/2014/main" id="{61878535-0219-D566-1EF0-F945766446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3191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vi-VN"/>
            </a:p>
          </p:txBody>
        </p:sp>
        <p:sp>
          <p:nvSpPr>
            <p:cNvPr id="517128" name="Text Box 8">
              <a:extLst>
                <a:ext uri="{FF2B5EF4-FFF2-40B4-BE49-F238E27FC236}">
                  <a16:creationId xmlns:a16="http://schemas.microsoft.com/office/drawing/2014/main" id="{0487D695-4D93-D57C-6319-6D648B0120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4" y="2928"/>
              <a:ext cx="4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vi-VN">
                  <a:latin typeface="Courier New" panose="02070309020205020404" pitchFamily="49" charset="0"/>
                </a:rPr>
                <a:t>true</a:t>
              </a:r>
            </a:p>
          </p:txBody>
        </p:sp>
        <p:grpSp>
          <p:nvGrpSpPr>
            <p:cNvPr id="517129" name="Group 9">
              <a:extLst>
                <a:ext uri="{FF2B5EF4-FFF2-40B4-BE49-F238E27FC236}">
                  <a16:creationId xmlns:a16="http://schemas.microsoft.com/office/drawing/2014/main" id="{1618D8C8-9972-3CDC-86DD-9D501CA96A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2" y="2496"/>
              <a:ext cx="2112" cy="1680"/>
              <a:chOff x="2112" y="2496"/>
              <a:chExt cx="2112" cy="1680"/>
            </a:xfrm>
          </p:grpSpPr>
          <p:sp>
            <p:nvSpPr>
              <p:cNvPr id="517130" name="Text Box 10">
                <a:extLst>
                  <a:ext uri="{FF2B5EF4-FFF2-40B4-BE49-F238E27FC236}">
                    <a16:creationId xmlns:a16="http://schemas.microsoft.com/office/drawing/2014/main" id="{D872EAF3-5B59-9C45-91C5-BD5973EFA4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4" y="3945"/>
                <a:ext cx="30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vi-VN"/>
                  <a:t>set</a:t>
                </a:r>
              </a:p>
            </p:txBody>
          </p:sp>
          <p:sp>
            <p:nvSpPr>
              <p:cNvPr id="517131" name="Oval 11">
                <a:extLst>
                  <a:ext uri="{FF2B5EF4-FFF2-40B4-BE49-F238E27FC236}">
                    <a16:creationId xmlns:a16="http://schemas.microsoft.com/office/drawing/2014/main" id="{76D2C3E2-5453-4B32-4235-DF19BB3C4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2496"/>
                <a:ext cx="2112" cy="1392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vi-VN" altLang="vi-VN"/>
              </a:p>
            </p:txBody>
          </p:sp>
          <p:grpSp>
            <p:nvGrpSpPr>
              <p:cNvPr id="517132" name="Group 12">
                <a:extLst>
                  <a:ext uri="{FF2B5EF4-FFF2-40B4-BE49-F238E27FC236}">
                    <a16:creationId xmlns:a16="http://schemas.microsoft.com/office/drawing/2014/main" id="{6A495870-9A89-0E74-B0B6-387BBA4D43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36" y="2614"/>
                <a:ext cx="1892" cy="1169"/>
                <a:chOff x="2236" y="2134"/>
                <a:chExt cx="1892" cy="1169"/>
              </a:xfrm>
            </p:grpSpPr>
            <p:sp>
              <p:nvSpPr>
                <p:cNvPr id="517133" name="Text Box 13">
                  <a:extLst>
                    <a:ext uri="{FF2B5EF4-FFF2-40B4-BE49-F238E27FC236}">
                      <a16:creationId xmlns:a16="http://schemas.microsoft.com/office/drawing/2014/main" id="{80AD190E-2A7A-AA24-C1E7-15884D0DCBF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66" y="2134"/>
                  <a:ext cx="546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vi-VN">
                      <a:latin typeface="Courier New" panose="02070309020205020404" pitchFamily="49" charset="0"/>
                    </a:rPr>
                    <a:t>"the"</a:t>
                  </a:r>
                </a:p>
              </p:txBody>
            </p:sp>
            <p:sp>
              <p:nvSpPr>
                <p:cNvPr id="517134" name="Text Box 14">
                  <a:extLst>
                    <a:ext uri="{FF2B5EF4-FFF2-40B4-BE49-F238E27FC236}">
                      <a16:creationId xmlns:a16="http://schemas.microsoft.com/office/drawing/2014/main" id="{DA8E50A3-DFBA-6934-8428-BCBA584F569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76" y="2208"/>
                  <a:ext cx="460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vi-VN">
                      <a:latin typeface="Courier New" panose="02070309020205020404" pitchFamily="49" charset="0"/>
                    </a:rPr>
                    <a:t>"of"</a:t>
                  </a:r>
                </a:p>
              </p:txBody>
            </p:sp>
            <p:sp>
              <p:nvSpPr>
                <p:cNvPr id="517135" name="Text Box 15">
                  <a:extLst>
                    <a:ext uri="{FF2B5EF4-FFF2-40B4-BE49-F238E27FC236}">
                      <a16:creationId xmlns:a16="http://schemas.microsoft.com/office/drawing/2014/main" id="{99BD1567-EB74-4257-8023-BA15E81CF97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00" y="2505"/>
                  <a:ext cx="632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vi-VN">
                      <a:latin typeface="Courier New" panose="02070309020205020404" pitchFamily="49" charset="0"/>
                    </a:rPr>
                    <a:t>"from"</a:t>
                  </a:r>
                </a:p>
              </p:txBody>
            </p:sp>
            <p:sp>
              <p:nvSpPr>
                <p:cNvPr id="517136" name="Text Box 16">
                  <a:extLst>
                    <a:ext uri="{FF2B5EF4-FFF2-40B4-BE49-F238E27FC236}">
                      <a16:creationId xmlns:a16="http://schemas.microsoft.com/office/drawing/2014/main" id="{4E569C9F-A8AA-8691-400D-EAB8FFDD495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52" y="2352"/>
                  <a:ext cx="460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vi-VN" b="1">
                      <a:solidFill>
                        <a:schemeClr val="accent2"/>
                      </a:solidFill>
                      <a:latin typeface="Courier New" panose="02070309020205020404" pitchFamily="49" charset="0"/>
                    </a:rPr>
                    <a:t>"to"</a:t>
                  </a:r>
                </a:p>
              </p:txBody>
            </p:sp>
            <p:sp>
              <p:nvSpPr>
                <p:cNvPr id="517137" name="Text Box 17">
                  <a:extLst>
                    <a:ext uri="{FF2B5EF4-FFF2-40B4-BE49-F238E27FC236}">
                      <a16:creationId xmlns:a16="http://schemas.microsoft.com/office/drawing/2014/main" id="{158F7076-F93A-B558-769D-CA441E6C428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62" y="2697"/>
                  <a:ext cx="546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vi-VN">
                      <a:latin typeface="Courier New" panose="02070309020205020404" pitchFamily="49" charset="0"/>
                    </a:rPr>
                    <a:t>"she"</a:t>
                  </a:r>
                </a:p>
              </p:txBody>
            </p:sp>
            <p:sp>
              <p:nvSpPr>
                <p:cNvPr id="517138" name="Text Box 18">
                  <a:extLst>
                    <a:ext uri="{FF2B5EF4-FFF2-40B4-BE49-F238E27FC236}">
                      <a16:creationId xmlns:a16="http://schemas.microsoft.com/office/drawing/2014/main" id="{A2EC0DFF-9DD9-4E37-8FA7-101E41CBA20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82" y="2784"/>
                  <a:ext cx="546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vi-VN">
                      <a:latin typeface="Courier New" panose="02070309020205020404" pitchFamily="49" charset="0"/>
                    </a:rPr>
                    <a:t>"you"</a:t>
                  </a:r>
                </a:p>
              </p:txBody>
            </p:sp>
            <p:sp>
              <p:nvSpPr>
                <p:cNvPr id="517139" name="Text Box 19">
                  <a:extLst>
                    <a:ext uri="{FF2B5EF4-FFF2-40B4-BE49-F238E27FC236}">
                      <a16:creationId xmlns:a16="http://schemas.microsoft.com/office/drawing/2014/main" id="{F11F7E52-E253-0FAE-B85A-160C088AD24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64" y="3033"/>
                  <a:ext cx="546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vi-VN">
                      <a:latin typeface="Courier New" panose="02070309020205020404" pitchFamily="49" charset="0"/>
                    </a:rPr>
                    <a:t>"him"</a:t>
                  </a:r>
                </a:p>
              </p:txBody>
            </p:sp>
            <p:sp>
              <p:nvSpPr>
                <p:cNvPr id="517140" name="Text Box 20">
                  <a:extLst>
                    <a:ext uri="{FF2B5EF4-FFF2-40B4-BE49-F238E27FC236}">
                      <a16:creationId xmlns:a16="http://schemas.microsoft.com/office/drawing/2014/main" id="{BD3E7BDE-D9C1-27D7-F617-03A256A00DE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36" y="3072"/>
                  <a:ext cx="546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vi-VN">
                      <a:latin typeface="Courier New" panose="02070309020205020404" pitchFamily="49" charset="0"/>
                    </a:rPr>
                    <a:t>"why"</a:t>
                  </a:r>
                </a:p>
              </p:txBody>
            </p:sp>
            <p:sp>
              <p:nvSpPr>
                <p:cNvPr id="517141" name="Text Box 21">
                  <a:extLst>
                    <a:ext uri="{FF2B5EF4-FFF2-40B4-BE49-F238E27FC236}">
                      <a16:creationId xmlns:a16="http://schemas.microsoft.com/office/drawing/2014/main" id="{5D33B077-523F-43E7-ECAE-02732A0B2EA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34" y="2832"/>
                  <a:ext cx="460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vi-VN">
                      <a:latin typeface="Courier New" panose="02070309020205020404" pitchFamily="49" charset="0"/>
                    </a:rPr>
                    <a:t>"in"</a:t>
                  </a:r>
                </a:p>
              </p:txBody>
            </p:sp>
            <p:sp>
              <p:nvSpPr>
                <p:cNvPr id="517142" name="Text Box 22">
                  <a:extLst>
                    <a:ext uri="{FF2B5EF4-FFF2-40B4-BE49-F238E27FC236}">
                      <a16:creationId xmlns:a16="http://schemas.microsoft.com/office/drawing/2014/main" id="{838A8295-2705-5E28-10E7-39B6489A3A7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8" y="2496"/>
                  <a:ext cx="632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vi-VN">
                      <a:latin typeface="Courier New" panose="02070309020205020404" pitchFamily="49" charset="0"/>
                    </a:rPr>
                    <a:t>"down"</a:t>
                  </a:r>
                </a:p>
              </p:txBody>
            </p:sp>
            <p:sp>
              <p:nvSpPr>
                <p:cNvPr id="517143" name="Text Box 23">
                  <a:extLst>
                    <a:ext uri="{FF2B5EF4-FFF2-40B4-BE49-F238E27FC236}">
                      <a16:creationId xmlns:a16="http://schemas.microsoft.com/office/drawing/2014/main" id="{612F1E8C-BA6E-5B50-EEAF-F0025EC1416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36" y="2649"/>
                  <a:ext cx="460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vi-VN">
                      <a:latin typeface="Courier New" panose="02070309020205020404" pitchFamily="49" charset="0"/>
                    </a:rPr>
                    <a:t>"by"</a:t>
                  </a:r>
                </a:p>
              </p:txBody>
            </p:sp>
            <p:sp>
              <p:nvSpPr>
                <p:cNvPr id="517144" name="Text Box 24">
                  <a:extLst>
                    <a:ext uri="{FF2B5EF4-FFF2-40B4-BE49-F238E27FC236}">
                      <a16:creationId xmlns:a16="http://schemas.microsoft.com/office/drawing/2014/main" id="{792B43C7-02FB-5D2F-E7E2-D953CD70A12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32" y="2256"/>
                  <a:ext cx="460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vi-VN">
                      <a:latin typeface="Courier New" panose="02070309020205020404" pitchFamily="49" charset="0"/>
                    </a:rPr>
                    <a:t>"if"</a:t>
                  </a:r>
                </a:p>
              </p:txBody>
            </p:sp>
          </p:grpSp>
        </p:grpSp>
        <p:sp>
          <p:nvSpPr>
            <p:cNvPr id="517145" name="Text Box 25">
              <a:extLst>
                <a:ext uri="{FF2B5EF4-FFF2-40B4-BE49-F238E27FC236}">
                  <a16:creationId xmlns:a16="http://schemas.microsoft.com/office/drawing/2014/main" id="{95E8426F-C9BE-088F-AA9A-DAEA958D66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" y="3225"/>
              <a:ext cx="16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vi-VN">
                  <a:latin typeface="Courier New" panose="02070309020205020404" pitchFamily="49" charset="0"/>
                </a:rPr>
                <a:t>set.contains("be")</a:t>
              </a:r>
            </a:p>
          </p:txBody>
        </p:sp>
        <p:sp>
          <p:nvSpPr>
            <p:cNvPr id="517146" name="Text Box 26">
              <a:extLst>
                <a:ext uri="{FF2B5EF4-FFF2-40B4-BE49-F238E27FC236}">
                  <a16:creationId xmlns:a16="http://schemas.microsoft.com/office/drawing/2014/main" id="{5B422728-A87C-6DBB-153B-13CCCC8CE7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4" y="3225"/>
              <a:ext cx="54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vi-VN">
                  <a:latin typeface="Courier New" panose="02070309020205020404" pitchFamily="49" charset="0"/>
                </a:rPr>
                <a:t>false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147" name="Rectangle 3">
            <a:extLst>
              <a:ext uri="{FF2B5EF4-FFF2-40B4-BE49-F238E27FC236}">
                <a16:creationId xmlns:a16="http://schemas.microsoft.com/office/drawing/2014/main" id="{88E9FABA-704E-CA22-984E-627ACDF89C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r>
              <a:rPr lang="en-US" altLang="vi-VN">
                <a:solidFill>
                  <a:srgbClr val="262626"/>
                </a:solidFill>
              </a:rPr>
              <a:t>in Java, sets are represented by </a:t>
            </a: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Set</a:t>
            </a:r>
            <a:r>
              <a:rPr lang="en-US" altLang="vi-VN">
                <a:solidFill>
                  <a:srgbClr val="262626"/>
                </a:solidFill>
              </a:rPr>
              <a:t> interface in </a:t>
            </a: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java.util</a:t>
            </a:r>
          </a:p>
          <a:p>
            <a:pPr lvl="1"/>
            <a:endParaRPr lang="en-US" altLang="vi-VN" sz="100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Set</a:t>
            </a:r>
            <a:r>
              <a:rPr lang="en-US" altLang="vi-VN">
                <a:solidFill>
                  <a:srgbClr val="262626"/>
                </a:solidFill>
              </a:rPr>
              <a:t> is implemented by </a:t>
            </a: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HashSet</a:t>
            </a:r>
            <a:r>
              <a:rPr lang="en-US" altLang="vi-VN">
                <a:solidFill>
                  <a:srgbClr val="262626"/>
                </a:solidFill>
              </a:rPr>
              <a:t> and </a:t>
            </a: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TreeSet</a:t>
            </a:r>
            <a:r>
              <a:rPr lang="en-US" altLang="vi-VN">
                <a:solidFill>
                  <a:srgbClr val="262626"/>
                </a:solidFill>
              </a:rPr>
              <a:t> classes</a:t>
            </a:r>
            <a:endParaRPr lang="en-US" altLang="vi-VN" sz="900">
              <a:solidFill>
                <a:srgbClr val="262626"/>
              </a:solidFill>
              <a:latin typeface="Courier New" panose="02070309020205020404" pitchFamily="49" charset="0"/>
            </a:endParaRPr>
          </a:p>
          <a:p>
            <a:pPr lvl="1"/>
            <a:endParaRPr lang="en-US" altLang="vi-VN" sz="100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HashSet</a:t>
            </a:r>
            <a:r>
              <a:rPr lang="en-US" altLang="vi-VN">
                <a:solidFill>
                  <a:srgbClr val="404040"/>
                </a:solidFill>
              </a:rPr>
              <a:t>: implemented using a "hash table" array;</a:t>
            </a:r>
            <a:br>
              <a:rPr lang="en-US" altLang="vi-VN">
                <a:solidFill>
                  <a:srgbClr val="404040"/>
                </a:solidFill>
              </a:rPr>
            </a:br>
            <a:r>
              <a:rPr lang="en-US" altLang="vi-VN">
                <a:solidFill>
                  <a:srgbClr val="404040"/>
                </a:solidFill>
              </a:rPr>
              <a:t>very fast: constant runtime (O(1)) for all operations</a:t>
            </a:r>
            <a:br>
              <a:rPr lang="en-US" altLang="vi-VN">
                <a:solidFill>
                  <a:srgbClr val="404040"/>
                </a:solidFill>
              </a:rPr>
            </a:br>
            <a:r>
              <a:rPr lang="en-US" altLang="vi-VN">
                <a:solidFill>
                  <a:srgbClr val="404040"/>
                </a:solidFill>
              </a:rPr>
              <a:t>elements are stored in unpredictable order</a:t>
            </a:r>
          </a:p>
          <a:p>
            <a:pPr lvl="1"/>
            <a:endParaRPr lang="en-US" altLang="vi-VN" sz="1000">
              <a:solidFill>
                <a:srgbClr val="404040"/>
              </a:solidFill>
            </a:endParaRPr>
          </a:p>
          <a:p>
            <a:pPr lvl="1"/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TreeSet</a:t>
            </a:r>
            <a:r>
              <a:rPr lang="en-US" altLang="vi-VN">
                <a:solidFill>
                  <a:srgbClr val="404040"/>
                </a:solidFill>
              </a:rPr>
              <a:t>: implemented using a "binary search tree";</a:t>
            </a:r>
            <a:br>
              <a:rPr lang="en-US" altLang="vi-VN">
                <a:solidFill>
                  <a:srgbClr val="404040"/>
                </a:solidFill>
              </a:rPr>
            </a:br>
            <a:r>
              <a:rPr lang="en-US" altLang="vi-VN">
                <a:solidFill>
                  <a:srgbClr val="404040"/>
                </a:solidFill>
              </a:rPr>
              <a:t>pretty fast: logarithmic runtime (O(log N)) for all operations</a:t>
            </a:r>
            <a:br>
              <a:rPr lang="en-US" altLang="vi-VN">
                <a:solidFill>
                  <a:srgbClr val="404040"/>
                </a:solidFill>
              </a:rPr>
            </a:br>
            <a:r>
              <a:rPr lang="en-US" altLang="vi-VN">
                <a:solidFill>
                  <a:srgbClr val="404040"/>
                </a:solidFill>
              </a:rPr>
              <a:t>elements are stored in sorted order</a:t>
            </a:r>
          </a:p>
          <a:p>
            <a:pPr lvl="1"/>
            <a:endParaRPr lang="en-US" altLang="vi-VN" sz="1000">
              <a:solidFill>
                <a:srgbClr val="404040"/>
              </a:solidFill>
            </a:endParaRPr>
          </a:p>
          <a:p>
            <a:pPr lvl="1"/>
            <a:r>
              <a:rPr lang="en-US" altLang="vi-VN">
                <a:solidFill>
                  <a:schemeClr val="tx1"/>
                </a:solidFill>
                <a:latin typeface="Courier New" panose="02070309020205020404" pitchFamily="49" charset="0"/>
              </a:rPr>
              <a:t>LinkedHashSet</a:t>
            </a:r>
            <a:r>
              <a:rPr lang="en-US" altLang="vi-VN">
                <a:solidFill>
                  <a:schemeClr val="tx1"/>
                </a:solidFill>
              </a:rPr>
              <a:t>: O(1) but stores in order of insertion</a:t>
            </a:r>
          </a:p>
        </p:txBody>
      </p:sp>
      <p:sp>
        <p:nvSpPr>
          <p:cNvPr id="518146" name="Rectangle 2">
            <a:extLst>
              <a:ext uri="{FF2B5EF4-FFF2-40B4-BE49-F238E27FC236}">
                <a16:creationId xmlns:a16="http://schemas.microsoft.com/office/drawing/2014/main" id="{62AAAFE8-1274-658E-A251-74128D5D8F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>
                <a:latin typeface="Courier New" panose="02070309020205020404" pitchFamily="49" charset="0"/>
              </a:rPr>
              <a:t>Set</a:t>
            </a:r>
            <a:r>
              <a:rPr lang="en-US" altLang="vi-VN"/>
              <a:t> implementation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1" name="Rectangle 3">
            <a:extLst>
              <a:ext uri="{FF2B5EF4-FFF2-40B4-BE49-F238E27FC236}">
                <a16:creationId xmlns:a16="http://schemas.microsoft.com/office/drawing/2014/main" id="{C532AD93-E6B7-6345-24B5-780A23D6D8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vi-VN" sz="2000">
                <a:solidFill>
                  <a:srgbClr val="262626"/>
                </a:solidFill>
                <a:latin typeface="Courier New" panose="02070309020205020404" pitchFamily="49" charset="0"/>
              </a:rPr>
              <a:t>	List&lt;String&gt; list = new ArrayList&lt;String&gt;();</a:t>
            </a:r>
          </a:p>
          <a:p>
            <a:pPr>
              <a:lnSpc>
                <a:spcPct val="50000"/>
              </a:lnSpc>
              <a:buFontTx/>
              <a:buNone/>
            </a:pPr>
            <a:r>
              <a:rPr lang="en-US" altLang="vi-VN" sz="2000">
                <a:solidFill>
                  <a:srgbClr val="262626"/>
                </a:solidFill>
                <a:latin typeface="Courier New" panose="02070309020205020404" pitchFamily="49" charset="0"/>
              </a:rPr>
              <a:t>	</a:t>
            </a:r>
            <a:r>
              <a:rPr lang="en-US" altLang="vi-VN" sz="2000">
                <a:solidFill>
                  <a:srgbClr val="262626"/>
                </a:solidFill>
              </a:rPr>
              <a:t>...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vi-VN" sz="2000" b="1">
                <a:solidFill>
                  <a:srgbClr val="262626"/>
                </a:solidFill>
                <a:latin typeface="Courier New" panose="02070309020205020404" pitchFamily="49" charset="0"/>
              </a:rPr>
              <a:t>	Set&lt;Integer&gt; set = </a:t>
            </a:r>
            <a:r>
              <a:rPr lang="en-US" altLang="vi-VN" sz="2000" b="1">
                <a:solidFill>
                  <a:schemeClr val="accent2"/>
                </a:solidFill>
                <a:latin typeface="Courier New" panose="02070309020205020404" pitchFamily="49" charset="0"/>
              </a:rPr>
              <a:t>new TreeSet&lt;Integer&gt;();</a:t>
            </a:r>
            <a:r>
              <a:rPr lang="en-US" altLang="vi-VN" sz="2000" b="1">
                <a:solidFill>
                  <a:srgbClr val="262626"/>
                </a:solidFill>
                <a:latin typeface="Courier New" panose="02070309020205020404" pitchFamily="49" charset="0"/>
              </a:rPr>
              <a:t>     </a:t>
            </a:r>
            <a:r>
              <a:rPr lang="en-US" altLang="vi-VN" sz="2000" b="1">
                <a:solidFill>
                  <a:srgbClr val="008000"/>
                </a:solidFill>
                <a:latin typeface="Courier New" panose="02070309020205020404" pitchFamily="49" charset="0"/>
              </a:rPr>
              <a:t>// empty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vi-VN" sz="2000" b="1">
                <a:solidFill>
                  <a:srgbClr val="262626"/>
                </a:solidFill>
                <a:latin typeface="Courier New" panose="02070309020205020404" pitchFamily="49" charset="0"/>
              </a:rPr>
              <a:t>	Set&lt;String&gt; set2 = new HashSet&lt;String&gt;(</a:t>
            </a:r>
            <a:r>
              <a:rPr lang="en-US" altLang="vi-VN" sz="2000" b="1">
                <a:solidFill>
                  <a:schemeClr val="accent2"/>
                </a:solidFill>
                <a:latin typeface="Courier New" panose="02070309020205020404" pitchFamily="49" charset="0"/>
              </a:rPr>
              <a:t>list</a:t>
            </a:r>
            <a:r>
              <a:rPr lang="en-US" altLang="vi-VN" sz="2000" b="1">
                <a:solidFill>
                  <a:srgbClr val="262626"/>
                </a:solidFill>
                <a:latin typeface="Courier New" panose="02070309020205020404" pitchFamily="49" charset="0"/>
              </a:rPr>
              <a:t>);</a:t>
            </a:r>
          </a:p>
        </p:txBody>
      </p:sp>
      <p:sp>
        <p:nvSpPr>
          <p:cNvPr id="519170" name="Rectangle 2">
            <a:extLst>
              <a:ext uri="{FF2B5EF4-FFF2-40B4-BE49-F238E27FC236}">
                <a16:creationId xmlns:a16="http://schemas.microsoft.com/office/drawing/2014/main" id="{7DE4EF1F-1C9A-938D-DDB5-1B568E43D6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>
                <a:latin typeface="Courier New" panose="02070309020205020404" pitchFamily="49" charset="0"/>
              </a:rPr>
              <a:t>Set</a:t>
            </a:r>
            <a:r>
              <a:rPr lang="en-US" altLang="vi-VN"/>
              <a:t> methods</a:t>
            </a:r>
          </a:p>
        </p:txBody>
      </p:sp>
      <p:graphicFrame>
        <p:nvGraphicFramePr>
          <p:cNvPr id="519207" name="Group 39">
            <a:extLst>
              <a:ext uri="{FF2B5EF4-FFF2-40B4-BE49-F238E27FC236}">
                <a16:creationId xmlns:a16="http://schemas.microsoft.com/office/drawing/2014/main" id="{D8BBEDDD-A6E7-DD2F-6DB4-17F5C1940D18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667000"/>
          <a:ext cx="8220075" cy="34747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80135262"/>
                    </a:ext>
                  </a:extLst>
                </a:gridCol>
                <a:gridCol w="5476875">
                  <a:extLst>
                    <a:ext uri="{9D8B030D-6E8A-4147-A177-3AD203B41FA5}">
                      <a16:colId xmlns:a16="http://schemas.microsoft.com/office/drawing/2014/main" val="2137610278"/>
                    </a:ext>
                  </a:extLst>
                </a:gridCol>
              </a:tblGrid>
              <a:tr h="17462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Courier New" panose="02070309020205020404" pitchFamily="49" charset="0"/>
                        </a:rPr>
                        <a:t>constructor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b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kumimoji="0" lang="en-US" altLang="vi-V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Courier New" panose="02070309020205020404" pitchFamily="49" charset="0"/>
                        </a:rPr>
                        <a:t>constructor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kumimoji="0" lang="en-US" altLang="vi-V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Courier New" panose="02070309020205020404" pitchFamily="49" charset="0"/>
                        </a:rPr>
                        <a:t>collection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creates a new empty set,</a:t>
                      </a:r>
                      <a:b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or a set based on the elements of a collection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664279"/>
                  </a:ext>
                </a:extLst>
              </a:tr>
              <a:tr h="17462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add(</a:t>
                      </a:r>
                      <a:r>
                        <a:rPr kumimoji="0" lang="en-US" altLang="vi-V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adds the given value to the set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4482355"/>
                  </a:ext>
                </a:extLst>
              </a:tr>
              <a:tr h="1841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contains(</a:t>
                      </a:r>
                      <a:r>
                        <a:rPr kumimoji="0" lang="en-US" altLang="vi-V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returns 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if the given value is found in this set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1040879"/>
                  </a:ext>
                </a:extLst>
              </a:tr>
              <a:tr h="1841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remove(</a:t>
                      </a:r>
                      <a:r>
                        <a:rPr kumimoji="0" lang="en-US" altLang="vi-V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removes the given value from the set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2140103"/>
                  </a:ext>
                </a:extLst>
              </a:tr>
              <a:tr h="39528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clear()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removes all elements of the set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6158732"/>
                  </a:ext>
                </a:extLst>
              </a:tr>
              <a:tr h="39528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size()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returns the number of elements in list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2916969"/>
                  </a:ext>
                </a:extLst>
              </a:tr>
              <a:tr h="17462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isEmpty()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returns 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if the set's size is 0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073625"/>
                  </a:ext>
                </a:extLst>
              </a:tr>
              <a:tr h="17462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toString()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returns a string such as 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"[3, 42, -7, 15]"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244193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194" name="Rectangle 2">
            <a:extLst>
              <a:ext uri="{FF2B5EF4-FFF2-40B4-BE49-F238E27FC236}">
                <a16:creationId xmlns:a16="http://schemas.microsoft.com/office/drawing/2014/main" id="{DFF98D01-F97E-DD1E-3321-4A4FCFD072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/>
              <a:t>Set operations</a:t>
            </a:r>
          </a:p>
        </p:txBody>
      </p:sp>
      <p:graphicFrame>
        <p:nvGraphicFramePr>
          <p:cNvPr id="520195" name="Group 3">
            <a:extLst>
              <a:ext uri="{FF2B5EF4-FFF2-40B4-BE49-F238E27FC236}">
                <a16:creationId xmlns:a16="http://schemas.microsoft.com/office/drawing/2014/main" id="{BAF2F0B4-7C93-8BC8-F4D4-A899DFA6BF34}"/>
              </a:ext>
            </a:extLst>
          </p:cNvPr>
          <p:cNvGraphicFramePr>
            <a:graphicFrameLocks noGrp="1"/>
          </p:cNvGraphicFramePr>
          <p:nvPr/>
        </p:nvGraphicFramePr>
        <p:xfrm>
          <a:off x="328613" y="3709988"/>
          <a:ext cx="8510587" cy="2773680"/>
        </p:xfrm>
        <a:graphic>
          <a:graphicData uri="http://schemas.openxmlformats.org/drawingml/2006/table">
            <a:tbl>
              <a:tblPr/>
              <a:tblGrid>
                <a:gridCol w="2532062">
                  <a:extLst>
                    <a:ext uri="{9D8B030D-6E8A-4147-A177-3AD203B41FA5}">
                      <a16:colId xmlns:a16="http://schemas.microsoft.com/office/drawing/2014/main" val="2117074682"/>
                    </a:ext>
                  </a:extLst>
                </a:gridCol>
                <a:gridCol w="5978525">
                  <a:extLst>
                    <a:ext uri="{9D8B030D-6E8A-4147-A177-3AD203B41FA5}">
                      <a16:colId xmlns:a16="http://schemas.microsoft.com/office/drawing/2014/main" val="597123950"/>
                    </a:ext>
                  </a:extLst>
                </a:gridCol>
              </a:tblGrid>
              <a:tr h="1841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addAll(</a:t>
                      </a:r>
                      <a:r>
                        <a:rPr kumimoji="0" lang="en-US" altLang="vi-V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collection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adds all elements from the given collection to this set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5142948"/>
                  </a:ext>
                </a:extLst>
              </a:tr>
              <a:tr h="1841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containsAll(</a:t>
                      </a:r>
                      <a:r>
                        <a:rPr kumimoji="0" lang="en-US" altLang="vi-V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coll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returns 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if this set contains every element from given set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8001048"/>
                  </a:ext>
                </a:extLst>
              </a:tr>
              <a:tr h="1841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equals(</a:t>
                      </a:r>
                      <a:r>
                        <a:rPr kumimoji="0" lang="en-US" altLang="vi-V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set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returns 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if given other set contains the same elements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5370661"/>
                  </a:ext>
                </a:extLst>
              </a:tr>
              <a:tr h="1841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iterator()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returns an object used to examine set's contents </a:t>
                      </a:r>
                      <a:r>
                        <a:rPr kumimoji="0" lang="en-US" altLang="vi-VN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(seen later)</a:t>
                      </a:r>
                      <a:endParaRPr kumimoji="0" lang="en-US" altLang="vi-VN" sz="1800" b="0" i="1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432932"/>
                  </a:ext>
                </a:extLst>
              </a:tr>
              <a:tr h="1841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removeAll(</a:t>
                      </a:r>
                      <a:r>
                        <a:rPr kumimoji="0" lang="en-US" altLang="vi-V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coll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removes all elements in the given collection from this set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238019"/>
                  </a:ext>
                </a:extLst>
              </a:tr>
              <a:tr h="1841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retainAll(</a:t>
                      </a:r>
                      <a:r>
                        <a:rPr kumimoji="0" lang="en-US" altLang="vi-V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coll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removes elements </a:t>
                      </a:r>
                      <a:r>
                        <a:rPr kumimoji="0" lang="en-US" altLang="vi-VN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not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found in given collection from this set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7800257"/>
                  </a:ext>
                </a:extLst>
              </a:tr>
              <a:tr h="1841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toArray()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returns an array of the elements in this set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7920898"/>
                  </a:ext>
                </a:extLst>
              </a:tr>
            </a:tbl>
          </a:graphicData>
        </a:graphic>
      </p:graphicFrame>
      <p:pic>
        <p:nvPicPr>
          <p:cNvPr id="520221" name="Picture 29">
            <a:extLst>
              <a:ext uri="{FF2B5EF4-FFF2-40B4-BE49-F238E27FC236}">
                <a16:creationId xmlns:a16="http://schemas.microsoft.com/office/drawing/2014/main" id="{B65ED0ED-87F0-1EE7-EBC0-D3E6F4268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75" y="1308100"/>
            <a:ext cx="8493125" cy="189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20222" name="Group 30">
            <a:extLst>
              <a:ext uri="{FF2B5EF4-FFF2-40B4-BE49-F238E27FC236}">
                <a16:creationId xmlns:a16="http://schemas.microsoft.com/office/drawing/2014/main" id="{D175BFF2-7B11-FD71-D24F-5BBD1F41ED54}"/>
              </a:ext>
            </a:extLst>
          </p:cNvPr>
          <p:cNvGrpSpPr>
            <a:grpSpLocks/>
          </p:cNvGrpSpPr>
          <p:nvPr/>
        </p:nvGrpSpPr>
        <p:grpSpPr bwMode="auto">
          <a:xfrm>
            <a:off x="1155700" y="3181350"/>
            <a:ext cx="7073900" cy="385763"/>
            <a:chOff x="910" y="2004"/>
            <a:chExt cx="4130" cy="243"/>
          </a:xfrm>
        </p:grpSpPr>
        <p:sp>
          <p:nvSpPr>
            <p:cNvPr id="520223" name="Text Box 31">
              <a:extLst>
                <a:ext uri="{FF2B5EF4-FFF2-40B4-BE49-F238E27FC236}">
                  <a16:creationId xmlns:a16="http://schemas.microsoft.com/office/drawing/2014/main" id="{B99002A8-F18B-DCD9-94B5-5395ADBF1A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0" y="2004"/>
              <a:ext cx="58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vi-VN">
                  <a:latin typeface="Courier New" panose="02070309020205020404" pitchFamily="49" charset="0"/>
                </a:rPr>
                <a:t>addAll</a:t>
              </a:r>
            </a:p>
          </p:txBody>
        </p:sp>
        <p:sp>
          <p:nvSpPr>
            <p:cNvPr id="520224" name="Text Box 32">
              <a:extLst>
                <a:ext uri="{FF2B5EF4-FFF2-40B4-BE49-F238E27FC236}">
                  <a16:creationId xmlns:a16="http://schemas.microsoft.com/office/drawing/2014/main" id="{00DEA823-AF20-ED56-3784-9F4826F195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7" y="2016"/>
              <a:ext cx="82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vi-VN">
                  <a:latin typeface="Courier New" panose="02070309020205020404" pitchFamily="49" charset="0"/>
                </a:rPr>
                <a:t>retainAll</a:t>
              </a:r>
            </a:p>
          </p:txBody>
        </p:sp>
        <p:sp>
          <p:nvSpPr>
            <p:cNvPr id="520225" name="Text Box 33">
              <a:extLst>
                <a:ext uri="{FF2B5EF4-FFF2-40B4-BE49-F238E27FC236}">
                  <a16:creationId xmlns:a16="http://schemas.microsoft.com/office/drawing/2014/main" id="{7DB93C6F-8CDA-E3B1-28BF-253F60B205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5" y="2016"/>
              <a:ext cx="82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vi-VN">
                  <a:latin typeface="Courier New" panose="02070309020205020404" pitchFamily="49" charset="0"/>
                </a:rPr>
                <a:t>removeAll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20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9" name="Rectangle 3">
            <a:extLst>
              <a:ext uri="{FF2B5EF4-FFF2-40B4-BE49-F238E27FC236}">
                <a16:creationId xmlns:a16="http://schemas.microsoft.com/office/drawing/2014/main" id="{E9A52937-27AD-F042-4D6C-219EF51BD0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HashSet</a:t>
            </a:r>
            <a:r>
              <a:rPr lang="en-US" altLang="vi-VN">
                <a:solidFill>
                  <a:srgbClr val="262626"/>
                </a:solidFill>
              </a:rPr>
              <a:t> : elements are stored in an unpredictable order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endParaRPr lang="en-US" altLang="vi-VN" sz="80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vi-VN" sz="2000">
                <a:solidFill>
                  <a:srgbClr val="404040"/>
                </a:solidFill>
                <a:latin typeface="Courier New" panose="02070309020205020404" pitchFamily="49" charset="0"/>
              </a:rPr>
              <a:t>Set&lt;String&gt; names = new </a:t>
            </a:r>
            <a:r>
              <a:rPr lang="en-US" altLang="vi-VN" sz="2000" b="1">
                <a:solidFill>
                  <a:srgbClr val="404040"/>
                </a:solidFill>
                <a:latin typeface="Courier New" panose="02070309020205020404" pitchFamily="49" charset="0"/>
              </a:rPr>
              <a:t>HashSet</a:t>
            </a:r>
            <a:r>
              <a:rPr lang="en-US" altLang="vi-VN" sz="2000">
                <a:solidFill>
                  <a:srgbClr val="404040"/>
                </a:solidFill>
                <a:latin typeface="Courier New" panose="02070309020205020404" pitchFamily="49" charset="0"/>
              </a:rPr>
              <a:t>&lt;String&gt;();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vi-VN" sz="2000">
                <a:solidFill>
                  <a:srgbClr val="404040"/>
                </a:solidFill>
                <a:latin typeface="Courier New" panose="02070309020205020404" pitchFamily="49" charset="0"/>
              </a:rPr>
              <a:t>names.add("Jake");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vi-VN" sz="2000">
                <a:solidFill>
                  <a:srgbClr val="404040"/>
                </a:solidFill>
                <a:latin typeface="Courier New" panose="02070309020205020404" pitchFamily="49" charset="0"/>
              </a:rPr>
              <a:t>names.add("Robert");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vi-VN" sz="2000">
                <a:solidFill>
                  <a:srgbClr val="404040"/>
                </a:solidFill>
                <a:latin typeface="Courier New" panose="02070309020205020404" pitchFamily="49" charset="0"/>
              </a:rPr>
              <a:t>names.add("Marisa");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vi-VN" sz="2000">
                <a:solidFill>
                  <a:srgbClr val="404040"/>
                </a:solidFill>
                <a:latin typeface="Courier New" panose="02070309020205020404" pitchFamily="49" charset="0"/>
              </a:rPr>
              <a:t>names.add("Kasey");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vi-VN" sz="2000">
                <a:solidFill>
                  <a:srgbClr val="404040"/>
                </a:solidFill>
                <a:latin typeface="Courier New" panose="02070309020205020404" pitchFamily="49" charset="0"/>
              </a:rPr>
              <a:t>System.out.println(names);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vi-VN" sz="2000" b="1">
                <a:solidFill>
                  <a:srgbClr val="008000"/>
                </a:solidFill>
                <a:latin typeface="Courier New" panose="02070309020205020404" pitchFamily="49" charset="0"/>
              </a:rPr>
              <a:t>// [Kasey, Robert, Jake, Marisa]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endParaRPr lang="en-US" altLang="vi-VN" sz="1200" b="1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TreeSet</a:t>
            </a:r>
            <a:r>
              <a:rPr lang="en-US" altLang="vi-VN">
                <a:solidFill>
                  <a:srgbClr val="262626"/>
                </a:solidFill>
              </a:rPr>
              <a:t> : elements are stored in their "natural" sorted order</a:t>
            </a:r>
            <a:endParaRPr lang="en-US" altLang="vi-VN" sz="800">
              <a:solidFill>
                <a:srgbClr val="262626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 sz="2000">
                <a:solidFill>
                  <a:srgbClr val="404040"/>
                </a:solidFill>
                <a:latin typeface="Courier New" panose="02070309020205020404" pitchFamily="49" charset="0"/>
              </a:rPr>
              <a:t>Set&lt;String&gt; names = new </a:t>
            </a:r>
            <a:r>
              <a:rPr lang="en-US" altLang="vi-VN" sz="2000" b="1">
                <a:solidFill>
                  <a:srgbClr val="404040"/>
                </a:solidFill>
                <a:latin typeface="Courier New" panose="02070309020205020404" pitchFamily="49" charset="0"/>
              </a:rPr>
              <a:t>TreeSet</a:t>
            </a:r>
            <a:r>
              <a:rPr lang="en-US" altLang="vi-VN" sz="2000">
                <a:solidFill>
                  <a:srgbClr val="404040"/>
                </a:solidFill>
                <a:latin typeface="Courier New" panose="02070309020205020404" pitchFamily="49" charset="0"/>
              </a:rPr>
              <a:t>&lt;String&gt;();</a:t>
            </a:r>
          </a:p>
          <a:p>
            <a:pPr lvl="1">
              <a:lnSpc>
                <a:spcPct val="40000"/>
              </a:lnSpc>
              <a:buFont typeface="Wingdings" panose="05000000000000000000" pitchFamily="2" charset="2"/>
              <a:buNone/>
            </a:pPr>
            <a:r>
              <a:rPr lang="en-US" altLang="vi-VN" sz="2000">
                <a:solidFill>
                  <a:srgbClr val="404040"/>
                </a:solidFill>
                <a:latin typeface="Courier New" panose="02070309020205020404" pitchFamily="49" charset="0"/>
              </a:rPr>
              <a:t>...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 sz="2000" b="1">
                <a:solidFill>
                  <a:srgbClr val="008000"/>
                </a:solidFill>
                <a:latin typeface="Courier New" panose="02070309020205020404" pitchFamily="49" charset="0"/>
              </a:rPr>
              <a:t>// [Jake, Kasey, Marisa, Robert]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vi-VN" sz="2000" b="1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LinkedHashSet</a:t>
            </a:r>
            <a:r>
              <a:rPr lang="en-US" altLang="vi-VN">
                <a:solidFill>
                  <a:srgbClr val="262626"/>
                </a:solidFill>
              </a:rPr>
              <a:t> : elements stored in order of insertion</a:t>
            </a:r>
            <a:endParaRPr lang="en-US" altLang="vi-VN" sz="800">
              <a:solidFill>
                <a:srgbClr val="262626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 sz="2000">
                <a:solidFill>
                  <a:srgbClr val="404040"/>
                </a:solidFill>
                <a:latin typeface="Courier New" panose="02070309020205020404" pitchFamily="49" charset="0"/>
              </a:rPr>
              <a:t>Set&lt;String&gt; names = new </a:t>
            </a:r>
            <a:r>
              <a:rPr lang="en-US" altLang="vi-VN" sz="2000" b="1">
                <a:solidFill>
                  <a:srgbClr val="404040"/>
                </a:solidFill>
                <a:latin typeface="Courier New" panose="02070309020205020404" pitchFamily="49" charset="0"/>
              </a:rPr>
              <a:t>LinkedHashSet</a:t>
            </a:r>
            <a:r>
              <a:rPr lang="en-US" altLang="vi-VN" sz="2000">
                <a:solidFill>
                  <a:srgbClr val="404040"/>
                </a:solidFill>
                <a:latin typeface="Courier New" panose="02070309020205020404" pitchFamily="49" charset="0"/>
              </a:rPr>
              <a:t>&lt;String&gt;();</a:t>
            </a:r>
          </a:p>
          <a:p>
            <a:pPr lvl="1">
              <a:lnSpc>
                <a:spcPct val="40000"/>
              </a:lnSpc>
              <a:buFont typeface="Wingdings" panose="05000000000000000000" pitchFamily="2" charset="2"/>
              <a:buNone/>
            </a:pPr>
            <a:r>
              <a:rPr lang="en-US" altLang="vi-VN" sz="2000">
                <a:solidFill>
                  <a:srgbClr val="404040"/>
                </a:solidFill>
                <a:latin typeface="Courier New" panose="02070309020205020404" pitchFamily="49" charset="0"/>
              </a:rPr>
              <a:t>...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 sz="2000" b="1">
                <a:solidFill>
                  <a:srgbClr val="008000"/>
                </a:solidFill>
                <a:latin typeface="Courier New" panose="02070309020205020404" pitchFamily="49" charset="0"/>
              </a:rPr>
              <a:t>// [Jake, Robert, Marisa, Kasey]</a:t>
            </a:r>
          </a:p>
        </p:txBody>
      </p:sp>
      <p:sp>
        <p:nvSpPr>
          <p:cNvPr id="521218" name="Rectangle 2">
            <a:extLst>
              <a:ext uri="{FF2B5EF4-FFF2-40B4-BE49-F238E27FC236}">
                <a16:creationId xmlns:a16="http://schemas.microsoft.com/office/drawing/2014/main" id="{E78E4679-A852-B2DA-ADC9-5ED01C636D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/>
              <a:t>Sets and ordering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23" name="Rectangle 3">
            <a:extLst>
              <a:ext uri="{FF2B5EF4-FFF2-40B4-BE49-F238E27FC236}">
                <a16:creationId xmlns:a16="http://schemas.microsoft.com/office/drawing/2014/main" id="{425EACAF-CD39-0AD0-F64D-3B63B03C68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tabLst>
                <a:tab pos="860425" algn="l"/>
                <a:tab pos="1774825" algn="l"/>
                <a:tab pos="2286000" algn="l"/>
              </a:tabLst>
            </a:pPr>
            <a:r>
              <a:rPr lang="en-US" altLang="vi-VN">
                <a:solidFill>
                  <a:srgbClr val="262626"/>
                </a:solidFill>
              </a:rPr>
              <a:t>If you want to store objects of your own class in a </a:t>
            </a: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TreeSet</a:t>
            </a:r>
            <a:r>
              <a:rPr lang="en-US" altLang="vi-VN">
                <a:solidFill>
                  <a:srgbClr val="262626"/>
                </a:solidFill>
              </a:rPr>
              <a:t>:</a:t>
            </a:r>
          </a:p>
          <a:p>
            <a:pPr lvl="1">
              <a:tabLst>
                <a:tab pos="860425" algn="l"/>
                <a:tab pos="1774825" algn="l"/>
                <a:tab pos="2286000" algn="l"/>
              </a:tabLst>
            </a:pPr>
            <a:r>
              <a:rPr lang="en-US" altLang="vi-VN">
                <a:solidFill>
                  <a:srgbClr val="404040"/>
                </a:solidFill>
              </a:rPr>
              <a:t>Your class must implement the 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Comparable</a:t>
            </a:r>
            <a:r>
              <a:rPr lang="en-US" altLang="vi-VN">
                <a:solidFill>
                  <a:srgbClr val="404040"/>
                </a:solidFill>
              </a:rPr>
              <a:t> interface to define a natural ordering function for its objects.</a:t>
            </a:r>
          </a:p>
          <a:p>
            <a:pPr lvl="1">
              <a:buFont typeface="Wingdings" panose="05000000000000000000" pitchFamily="2" charset="2"/>
              <a:buNone/>
              <a:tabLst>
                <a:tab pos="860425" algn="l"/>
                <a:tab pos="1774825" algn="l"/>
                <a:tab pos="2286000" algn="l"/>
              </a:tabLst>
            </a:pPr>
            <a:endParaRPr lang="en-US" altLang="vi-VN">
              <a:solidFill>
                <a:schemeClr val="bg2"/>
              </a:solidFill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  <a:tabLst>
                <a:tab pos="860425" algn="l"/>
                <a:tab pos="1774825" algn="l"/>
                <a:tab pos="2286000" algn="l"/>
              </a:tabLst>
            </a:pP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	public interface Comparable&lt;</a:t>
            </a:r>
            <a:r>
              <a:rPr lang="en-US" altLang="vi-VN" b="1">
                <a:solidFill>
                  <a:srgbClr val="404040"/>
                </a:solidFill>
              </a:rPr>
              <a:t>E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&gt; {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  <a:tabLst>
                <a:tab pos="860425" algn="l"/>
                <a:tab pos="1774825" algn="l"/>
                <a:tab pos="2286000" algn="l"/>
              </a:tabLst>
            </a:pP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	    public int compareTo(</a:t>
            </a:r>
            <a:r>
              <a:rPr lang="en-US" altLang="vi-VN" b="1">
                <a:solidFill>
                  <a:srgbClr val="404040"/>
                </a:solidFill>
              </a:rPr>
              <a:t>E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 other);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  <a:tabLst>
                <a:tab pos="860425" algn="l"/>
                <a:tab pos="1774825" algn="l"/>
                <a:tab pos="2286000" algn="l"/>
              </a:tabLst>
            </a:pP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lnSpc>
                <a:spcPct val="80000"/>
              </a:lnSpc>
              <a:buFontTx/>
              <a:buNone/>
              <a:tabLst>
                <a:tab pos="860425" algn="l"/>
                <a:tab pos="1774825" algn="l"/>
                <a:tab pos="2286000" algn="l"/>
              </a:tabLst>
            </a:pPr>
            <a:endParaRPr lang="en-US" altLang="vi-VN" sz="1000">
              <a:solidFill>
                <a:srgbClr val="262626"/>
              </a:solidFill>
              <a:latin typeface="Courier New" panose="02070309020205020404" pitchFamily="49" charset="0"/>
            </a:endParaRPr>
          </a:p>
          <a:p>
            <a:pPr>
              <a:tabLst>
                <a:tab pos="860425" algn="l"/>
                <a:tab pos="1774825" algn="l"/>
                <a:tab pos="2286000" algn="l"/>
              </a:tabLst>
            </a:pPr>
            <a:r>
              <a:rPr lang="en-US" altLang="vi-VN">
                <a:solidFill>
                  <a:srgbClr val="262626"/>
                </a:solidFill>
              </a:rPr>
              <a:t>A call to </a:t>
            </a: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compareTo</a:t>
            </a:r>
            <a:r>
              <a:rPr lang="en-US" altLang="vi-VN">
                <a:solidFill>
                  <a:srgbClr val="262626"/>
                </a:solidFill>
              </a:rPr>
              <a:t> must return:</a:t>
            </a:r>
          </a:p>
          <a:p>
            <a:pPr lvl="1">
              <a:buFont typeface="Wingdings" panose="05000000000000000000" pitchFamily="2" charset="2"/>
              <a:buNone/>
              <a:tabLst>
                <a:tab pos="860425" algn="l"/>
                <a:tab pos="1774825" algn="l"/>
                <a:tab pos="2286000" algn="l"/>
              </a:tabLst>
            </a:pPr>
            <a:r>
              <a:rPr lang="en-US" altLang="vi-VN">
                <a:solidFill>
                  <a:srgbClr val="404040"/>
                </a:solidFill>
              </a:rPr>
              <a:t>a value &lt;	0	if 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this</a:t>
            </a:r>
            <a:r>
              <a:rPr lang="en-US" altLang="vi-VN">
                <a:solidFill>
                  <a:srgbClr val="404040"/>
                </a:solidFill>
              </a:rPr>
              <a:t> object comes "before" the 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other</a:t>
            </a:r>
            <a:r>
              <a:rPr lang="en-US" altLang="vi-VN">
                <a:solidFill>
                  <a:srgbClr val="404040"/>
                </a:solidFill>
              </a:rPr>
              <a:t> object,</a:t>
            </a:r>
          </a:p>
          <a:p>
            <a:pPr lvl="1">
              <a:buFont typeface="Wingdings" panose="05000000000000000000" pitchFamily="2" charset="2"/>
              <a:buNone/>
              <a:tabLst>
                <a:tab pos="860425" algn="l"/>
                <a:tab pos="1774825" algn="l"/>
                <a:tab pos="2286000" algn="l"/>
              </a:tabLst>
            </a:pPr>
            <a:r>
              <a:rPr lang="en-US" altLang="vi-VN">
                <a:solidFill>
                  <a:srgbClr val="404040"/>
                </a:solidFill>
              </a:rPr>
              <a:t>a value &gt;	0	if 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this</a:t>
            </a:r>
            <a:r>
              <a:rPr lang="en-US" altLang="vi-VN">
                <a:solidFill>
                  <a:srgbClr val="404040"/>
                </a:solidFill>
              </a:rPr>
              <a:t> object comes "after" the 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other</a:t>
            </a:r>
            <a:r>
              <a:rPr lang="en-US" altLang="vi-VN">
                <a:solidFill>
                  <a:srgbClr val="404040"/>
                </a:solidFill>
              </a:rPr>
              <a:t> object,</a:t>
            </a:r>
          </a:p>
          <a:p>
            <a:pPr lvl="1">
              <a:buFont typeface="Wingdings" panose="05000000000000000000" pitchFamily="2" charset="2"/>
              <a:buNone/>
              <a:tabLst>
                <a:tab pos="860425" algn="l"/>
                <a:tab pos="1774825" algn="l"/>
                <a:tab pos="2286000" algn="l"/>
              </a:tabLst>
            </a:pPr>
            <a:r>
              <a:rPr lang="en-US" altLang="vi-VN">
                <a:solidFill>
                  <a:srgbClr val="404040"/>
                </a:solidFill>
              </a:rPr>
              <a:t>or			0	if 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this</a:t>
            </a:r>
            <a:r>
              <a:rPr lang="en-US" altLang="vi-VN">
                <a:solidFill>
                  <a:srgbClr val="404040"/>
                </a:solidFill>
              </a:rPr>
              <a:t> object is considered "equal" to the 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other</a:t>
            </a:r>
          </a:p>
        </p:txBody>
      </p:sp>
      <p:sp>
        <p:nvSpPr>
          <p:cNvPr id="542722" name="Rectangle 2">
            <a:extLst>
              <a:ext uri="{FF2B5EF4-FFF2-40B4-BE49-F238E27FC236}">
                <a16:creationId xmlns:a16="http://schemas.microsoft.com/office/drawing/2014/main" id="{150E3147-5110-5C7F-FCF7-87E258EC99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/>
              <a:t>Comparable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3" name="Rectangle 3">
            <a:extLst>
              <a:ext uri="{FF2B5EF4-FFF2-40B4-BE49-F238E27FC236}">
                <a16:creationId xmlns:a16="http://schemas.microsoft.com/office/drawing/2014/main" id="{A69FD7AB-7956-7097-4D16-A4E1D551FE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		for (</a:t>
            </a:r>
            <a:r>
              <a:rPr lang="en-US" altLang="vi-VN" b="1">
                <a:solidFill>
                  <a:srgbClr val="262626"/>
                </a:solidFill>
              </a:rPr>
              <a:t>type</a:t>
            </a:r>
            <a:r>
              <a:rPr lang="en-US" altLang="vi-VN" b="1">
                <a:solidFill>
                  <a:srgbClr val="262626"/>
                </a:solidFill>
                <a:latin typeface="Courier New" panose="02070309020205020404" pitchFamily="49" charset="0"/>
              </a:rPr>
              <a:t> </a:t>
            </a:r>
            <a:r>
              <a:rPr lang="en-US" altLang="vi-VN" b="1">
                <a:solidFill>
                  <a:srgbClr val="262626"/>
                </a:solidFill>
              </a:rPr>
              <a:t>name</a:t>
            </a: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 : </a:t>
            </a:r>
            <a:r>
              <a:rPr lang="en-US" altLang="vi-VN" b="1">
                <a:solidFill>
                  <a:srgbClr val="262626"/>
                </a:solidFill>
              </a:rPr>
              <a:t>collection</a:t>
            </a: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)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		    </a:t>
            </a:r>
            <a:r>
              <a:rPr lang="en-US" altLang="vi-VN" b="1">
                <a:solidFill>
                  <a:srgbClr val="262626"/>
                </a:solidFill>
              </a:rPr>
              <a:t>statements</a:t>
            </a: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		}</a:t>
            </a:r>
          </a:p>
          <a:p>
            <a:pPr>
              <a:lnSpc>
                <a:spcPct val="90000"/>
              </a:lnSpc>
            </a:pPr>
            <a:endParaRPr lang="en-US" altLang="vi-VN">
              <a:solidFill>
                <a:srgbClr val="262626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vi-VN">
                <a:solidFill>
                  <a:srgbClr val="262626"/>
                </a:solidFill>
              </a:rPr>
              <a:t>Provides a clean syntax for looping over the elements of a </a:t>
            </a: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Set</a:t>
            </a:r>
            <a:r>
              <a:rPr lang="en-US" altLang="vi-VN">
                <a:solidFill>
                  <a:srgbClr val="262626"/>
                </a:solidFill>
              </a:rPr>
              <a:t>, </a:t>
            </a: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List</a:t>
            </a:r>
            <a:r>
              <a:rPr lang="en-US" altLang="vi-VN">
                <a:solidFill>
                  <a:srgbClr val="262626"/>
                </a:solidFill>
              </a:rPr>
              <a:t>, array, or other collection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vi-VN">
              <a:solidFill>
                <a:srgbClr val="404040"/>
              </a:solidFill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 sz="2000">
                <a:solidFill>
                  <a:srgbClr val="404040"/>
                </a:solidFill>
                <a:latin typeface="Courier New" panose="02070309020205020404" pitchFamily="49" charset="0"/>
              </a:rPr>
              <a:t>Set&lt;Double&gt; grades = new HashSet&lt;Double&gt;();</a:t>
            </a:r>
          </a:p>
          <a:p>
            <a:pPr lvl="1">
              <a:lnSpc>
                <a:spcPct val="50000"/>
              </a:lnSpc>
              <a:buFont typeface="Wingdings" panose="05000000000000000000" pitchFamily="2" charset="2"/>
              <a:buNone/>
            </a:pPr>
            <a:r>
              <a:rPr lang="en-US" altLang="vi-VN" sz="2000">
                <a:solidFill>
                  <a:srgbClr val="404040"/>
                </a:solidFill>
              </a:rPr>
              <a:t>...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vi-VN" sz="2000">
              <a:solidFill>
                <a:srgbClr val="404040"/>
              </a:solidFill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 sz="2000" b="1">
                <a:solidFill>
                  <a:srgbClr val="404040"/>
                </a:solidFill>
                <a:latin typeface="Courier New" panose="02070309020205020404" pitchFamily="49" charset="0"/>
              </a:rPr>
              <a:t>for (double grade : grades) {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 sz="2000">
                <a:solidFill>
                  <a:srgbClr val="404040"/>
                </a:solidFill>
                <a:latin typeface="Courier New" panose="02070309020205020404" pitchFamily="49" charset="0"/>
              </a:rPr>
              <a:t>    System.out.println("Student's grade: " + grade);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 sz="2000" b="1">
                <a:solidFill>
                  <a:srgbClr val="404040"/>
                </a:solidFill>
                <a:latin typeface="Courier New" panose="02070309020205020404" pitchFamily="49" charset="0"/>
              </a:rPr>
              <a:t>}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vi-VN" sz="2000" b="1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vi-VN" sz="2000" b="1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vi-VN">
                <a:solidFill>
                  <a:srgbClr val="404040"/>
                </a:solidFill>
              </a:rPr>
              <a:t>needed because sets have no indexes; can't 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get</a:t>
            </a:r>
            <a:r>
              <a:rPr lang="en-US" altLang="vi-VN">
                <a:solidFill>
                  <a:srgbClr val="404040"/>
                </a:solidFill>
              </a:rPr>
              <a:t> element 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i</a:t>
            </a:r>
            <a:endParaRPr lang="en-US" altLang="vi-VN" sz="2000" b="1">
              <a:solidFill>
                <a:srgbClr val="404040"/>
              </a:solidFill>
              <a:latin typeface="Courier New" panose="02070309020205020404" pitchFamily="49" charset="0"/>
            </a:endParaRPr>
          </a:p>
        </p:txBody>
      </p:sp>
      <p:sp>
        <p:nvSpPr>
          <p:cNvPr id="522242" name="Rectangle 2">
            <a:extLst>
              <a:ext uri="{FF2B5EF4-FFF2-40B4-BE49-F238E27FC236}">
                <a16:creationId xmlns:a16="http://schemas.microsoft.com/office/drawing/2014/main" id="{65FB5F75-6377-1789-A3C4-62F8CD0FEE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/>
              <a:t>The "for each" loop (7.1)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650" name="Rectangle 2">
            <a:extLst>
              <a:ext uri="{FF2B5EF4-FFF2-40B4-BE49-F238E27FC236}">
                <a16:creationId xmlns:a16="http://schemas.microsoft.com/office/drawing/2014/main" id="{0EF52EC2-325D-4027-C301-49C67502D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724400"/>
            <a:ext cx="5943600" cy="1371600"/>
          </a:xfrm>
          <a:prstGeom prst="rect">
            <a:avLst/>
          </a:prstGeom>
          <a:solidFill>
            <a:srgbClr val="E6E6E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r"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r"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r"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r"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150000"/>
              </a:lnSpc>
            </a:pPr>
            <a:endParaRPr lang="vi-VN" altLang="vi-VN">
              <a:latin typeface="Tahoma" panose="020B0604030504040204" pitchFamily="34" charset="0"/>
            </a:endParaRPr>
          </a:p>
        </p:txBody>
      </p:sp>
      <p:sp>
        <p:nvSpPr>
          <p:cNvPr id="539652" name="Rectangle 4">
            <a:extLst>
              <a:ext uri="{FF2B5EF4-FFF2-40B4-BE49-F238E27FC236}">
                <a16:creationId xmlns:a16="http://schemas.microsoft.com/office/drawing/2014/main" id="{F7A86192-E665-956A-0000-211EE020C6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r>
              <a:rPr lang="en-US" altLang="vi-VN" dirty="0" err="1">
                <a:solidFill>
                  <a:srgbClr val="26262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TreeSet</a:t>
            </a:r>
            <a:r>
              <a:rPr lang="en-US" altLang="vi-VN" dirty="0">
                <a:solidFill>
                  <a:srgbClr val="262626"/>
                </a:solidFill>
              </a:rPr>
              <a:t> is implemented using a </a:t>
            </a:r>
            <a:r>
              <a:rPr lang="en-US" altLang="vi-VN" i="1" dirty="0">
                <a:solidFill>
                  <a:srgbClr val="262626"/>
                </a:solidFill>
              </a:rPr>
              <a:t>binary search tree</a:t>
            </a:r>
          </a:p>
          <a:p>
            <a:pPr lvl="1"/>
            <a:endParaRPr lang="en-US" altLang="vi-VN" dirty="0">
              <a:solidFill>
                <a:srgbClr val="404040"/>
              </a:solidFill>
            </a:endParaRPr>
          </a:p>
          <a:p>
            <a:pPr lvl="1"/>
            <a:endParaRPr lang="en-US" altLang="vi-VN" dirty="0">
              <a:solidFill>
                <a:srgbClr val="404040"/>
              </a:solidFill>
            </a:endParaRPr>
          </a:p>
          <a:p>
            <a:pPr lvl="1"/>
            <a:endParaRPr lang="en-US" altLang="vi-VN" dirty="0">
              <a:solidFill>
                <a:srgbClr val="404040"/>
              </a:solidFill>
            </a:endParaRPr>
          </a:p>
          <a:p>
            <a:pPr lvl="1"/>
            <a:endParaRPr lang="en-US" altLang="vi-VN" dirty="0">
              <a:solidFill>
                <a:srgbClr val="404040"/>
              </a:solidFill>
            </a:endParaRPr>
          </a:p>
          <a:p>
            <a:pPr lvl="1"/>
            <a:endParaRPr lang="en-US" altLang="vi-VN" dirty="0">
              <a:solidFill>
                <a:srgbClr val="404040"/>
              </a:solidFill>
            </a:endParaRPr>
          </a:p>
          <a:p>
            <a:pPr lvl="1"/>
            <a:endParaRPr lang="en-US" altLang="vi-VN" dirty="0">
              <a:solidFill>
                <a:srgbClr val="404040"/>
              </a:solidFill>
            </a:endParaRPr>
          </a:p>
          <a:p>
            <a:pPr lvl="1"/>
            <a:endParaRPr lang="en-US" altLang="vi-VN" dirty="0">
              <a:solidFill>
                <a:srgbClr val="404040"/>
              </a:solidFill>
            </a:endParaRPr>
          </a:p>
          <a:p>
            <a:r>
              <a:rPr lang="en-US" altLang="vi-VN" dirty="0">
                <a:solidFill>
                  <a:srgbClr val="26262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HashSet</a:t>
            </a:r>
            <a:r>
              <a:rPr lang="en-US" altLang="vi-VN" dirty="0">
                <a:solidFill>
                  <a:srgbClr val="262626"/>
                </a:solidFill>
              </a:rPr>
              <a:t> is built using a special kind of array called a </a:t>
            </a:r>
            <a:r>
              <a:rPr lang="en-US" altLang="vi-VN" i="1" dirty="0">
                <a:solidFill>
                  <a:srgbClr val="262626"/>
                </a:solidFill>
              </a:rPr>
              <a:t>hash table</a:t>
            </a:r>
            <a:endParaRPr lang="en-US" altLang="vi-VN" dirty="0">
              <a:solidFill>
                <a:srgbClr val="262626"/>
              </a:solidFill>
            </a:endParaRPr>
          </a:p>
        </p:txBody>
      </p:sp>
      <p:sp>
        <p:nvSpPr>
          <p:cNvPr id="539651" name="Rectangle 3">
            <a:extLst>
              <a:ext uri="{FF2B5EF4-FFF2-40B4-BE49-F238E27FC236}">
                <a16:creationId xmlns:a16="http://schemas.microsoft.com/office/drawing/2014/main" id="{56705386-EB16-FAA1-9F35-9DBA5667A3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/>
              <a:t>Set implementation</a:t>
            </a:r>
          </a:p>
        </p:txBody>
      </p:sp>
      <p:graphicFrame>
        <p:nvGraphicFramePr>
          <p:cNvPr id="539653" name="Group 5">
            <a:extLst>
              <a:ext uri="{FF2B5EF4-FFF2-40B4-BE49-F238E27FC236}">
                <a16:creationId xmlns:a16="http://schemas.microsoft.com/office/drawing/2014/main" id="{70D6F0B1-E06D-AE00-7367-AE01A837E48D}"/>
              </a:ext>
            </a:extLst>
          </p:cNvPr>
          <p:cNvGraphicFramePr>
            <a:graphicFrameLocks noGrp="1"/>
          </p:cNvGraphicFramePr>
          <p:nvPr/>
        </p:nvGraphicFramePr>
        <p:xfrm>
          <a:off x="1573213" y="4757738"/>
          <a:ext cx="5818187" cy="118872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1832827416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225758450"/>
                    </a:ext>
                  </a:extLst>
                </a:gridCol>
                <a:gridCol w="500063">
                  <a:extLst>
                    <a:ext uri="{9D8B030D-6E8A-4147-A177-3AD203B41FA5}">
                      <a16:colId xmlns:a16="http://schemas.microsoft.com/office/drawing/2014/main" val="1630571554"/>
                    </a:ext>
                  </a:extLst>
                </a:gridCol>
                <a:gridCol w="500062">
                  <a:extLst>
                    <a:ext uri="{9D8B030D-6E8A-4147-A177-3AD203B41FA5}">
                      <a16:colId xmlns:a16="http://schemas.microsoft.com/office/drawing/2014/main" val="3906185178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787016999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1860780011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1016737805"/>
                    </a:ext>
                  </a:extLst>
                </a:gridCol>
                <a:gridCol w="500063">
                  <a:extLst>
                    <a:ext uri="{9D8B030D-6E8A-4147-A177-3AD203B41FA5}">
                      <a16:colId xmlns:a16="http://schemas.microsoft.com/office/drawing/2014/main" val="2088480655"/>
                    </a:ext>
                  </a:extLst>
                </a:gridCol>
                <a:gridCol w="500062">
                  <a:extLst>
                    <a:ext uri="{9D8B030D-6E8A-4147-A177-3AD203B41FA5}">
                      <a16:colId xmlns:a16="http://schemas.microsoft.com/office/drawing/2014/main" val="3508078646"/>
                    </a:ext>
                  </a:extLst>
                </a:gridCol>
                <a:gridCol w="500063">
                  <a:extLst>
                    <a:ext uri="{9D8B030D-6E8A-4147-A177-3AD203B41FA5}">
                      <a16:colId xmlns:a16="http://schemas.microsoft.com/office/drawing/2014/main" val="481029850"/>
                    </a:ext>
                  </a:extLst>
                </a:gridCol>
                <a:gridCol w="500062">
                  <a:extLst>
                    <a:ext uri="{9D8B030D-6E8A-4147-A177-3AD203B41FA5}">
                      <a16:colId xmlns:a16="http://schemas.microsoft.com/office/drawing/2014/main" val="995157173"/>
                    </a:ext>
                  </a:extLst>
                </a:gridCol>
              </a:tblGrid>
              <a:tr h="1397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index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065649"/>
                  </a:ext>
                </a:extLst>
              </a:tr>
              <a:tr h="39528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91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42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55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87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4914700"/>
                  </a:ext>
                </a:extLst>
              </a:tr>
              <a:tr h="1397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size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69261"/>
                  </a:ext>
                </a:extLst>
              </a:tr>
            </a:tbl>
          </a:graphicData>
        </a:graphic>
      </p:graphicFrame>
      <p:sp>
        <p:nvSpPr>
          <p:cNvPr id="539765" name="Oval 117">
            <a:extLst>
              <a:ext uri="{FF2B5EF4-FFF2-40B4-BE49-F238E27FC236}">
                <a16:creationId xmlns:a16="http://schemas.microsoft.com/office/drawing/2014/main" id="{4E98A91F-DE7E-6B9C-219E-A535674892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32375" y="3327400"/>
            <a:ext cx="377825" cy="406400"/>
          </a:xfrm>
          <a:prstGeom prst="ellipse">
            <a:avLst/>
          </a:prstGeom>
          <a:gradFill rotWithShape="1">
            <a:gsLst>
              <a:gs pos="0">
                <a:srgbClr val="E1F2F3"/>
              </a:gs>
              <a:gs pos="100000">
                <a:srgbClr val="E1F2F3">
                  <a:gamma/>
                  <a:shade val="72157"/>
                  <a:invGamma/>
                </a:srgbClr>
              </a:gs>
            </a:gsLst>
            <a:lin ang="2700000" scaled="1"/>
          </a:gra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vi-VN">
                <a:latin typeface="Tahoma" panose="020B0604030504040204" pitchFamily="34" charset="0"/>
              </a:rPr>
              <a:t>91</a:t>
            </a:r>
          </a:p>
        </p:txBody>
      </p:sp>
      <p:sp>
        <p:nvSpPr>
          <p:cNvPr id="539766" name="Oval 118">
            <a:extLst>
              <a:ext uri="{FF2B5EF4-FFF2-40B4-BE49-F238E27FC236}">
                <a16:creationId xmlns:a16="http://schemas.microsoft.com/office/drawing/2014/main" id="{E81C0CDB-528E-7640-395B-75F28A460E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05313" y="3327400"/>
            <a:ext cx="379412" cy="406400"/>
          </a:xfrm>
          <a:prstGeom prst="ellipse">
            <a:avLst/>
          </a:prstGeom>
          <a:gradFill rotWithShape="1">
            <a:gsLst>
              <a:gs pos="0">
                <a:srgbClr val="E1F2F3"/>
              </a:gs>
              <a:gs pos="100000">
                <a:srgbClr val="E1F2F3">
                  <a:gamma/>
                  <a:shade val="72157"/>
                  <a:invGamma/>
                </a:srgbClr>
              </a:gs>
            </a:gsLst>
            <a:lin ang="2700000" scaled="1"/>
          </a:gra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vi-VN">
                <a:latin typeface="Tahoma" panose="020B0604030504040204" pitchFamily="34" charset="0"/>
              </a:rPr>
              <a:t>60</a:t>
            </a:r>
          </a:p>
        </p:txBody>
      </p:sp>
      <p:sp>
        <p:nvSpPr>
          <p:cNvPr id="539767" name="Oval 119">
            <a:extLst>
              <a:ext uri="{FF2B5EF4-FFF2-40B4-BE49-F238E27FC236}">
                <a16:creationId xmlns:a16="http://schemas.microsoft.com/office/drawing/2014/main" id="{4D4FF7F1-B097-6753-CA9F-E1B9E1520A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13288" y="2717800"/>
            <a:ext cx="377825" cy="406400"/>
          </a:xfrm>
          <a:prstGeom prst="ellipse">
            <a:avLst/>
          </a:prstGeom>
          <a:gradFill rotWithShape="1">
            <a:gsLst>
              <a:gs pos="0">
                <a:srgbClr val="E1F2F3"/>
              </a:gs>
              <a:gs pos="100000">
                <a:srgbClr val="E1F2F3">
                  <a:gamma/>
                  <a:shade val="72157"/>
                  <a:invGamma/>
                </a:srgbClr>
              </a:gs>
            </a:gsLst>
            <a:lin ang="2700000" scaled="1"/>
          </a:gra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vi-VN">
                <a:latin typeface="Tahoma" panose="020B0604030504040204" pitchFamily="34" charset="0"/>
              </a:rPr>
              <a:t>87</a:t>
            </a:r>
          </a:p>
        </p:txBody>
      </p:sp>
      <p:sp>
        <p:nvSpPr>
          <p:cNvPr id="539768" name="Oval 120">
            <a:extLst>
              <a:ext uri="{FF2B5EF4-FFF2-40B4-BE49-F238E27FC236}">
                <a16:creationId xmlns:a16="http://schemas.microsoft.com/office/drawing/2014/main" id="{6B447CC0-3174-2C43-CBAD-3018A78D01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49625" y="2717800"/>
            <a:ext cx="381000" cy="406400"/>
          </a:xfrm>
          <a:prstGeom prst="ellipse">
            <a:avLst/>
          </a:prstGeom>
          <a:gradFill rotWithShape="1">
            <a:gsLst>
              <a:gs pos="0">
                <a:srgbClr val="E1F2F3"/>
              </a:gs>
              <a:gs pos="100000">
                <a:srgbClr val="E1F2F3">
                  <a:gamma/>
                  <a:shade val="72157"/>
                  <a:invGamma/>
                </a:srgbClr>
              </a:gs>
            </a:gsLst>
            <a:lin ang="2700000" scaled="1"/>
          </a:gra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vi-VN">
                <a:latin typeface="Tahoma" panose="020B0604030504040204" pitchFamily="34" charset="0"/>
              </a:rPr>
              <a:t>29</a:t>
            </a:r>
          </a:p>
        </p:txBody>
      </p:sp>
      <p:sp>
        <p:nvSpPr>
          <p:cNvPr id="539769" name="Oval 121">
            <a:extLst>
              <a:ext uri="{FF2B5EF4-FFF2-40B4-BE49-F238E27FC236}">
                <a16:creationId xmlns:a16="http://schemas.microsoft.com/office/drawing/2014/main" id="{934990F1-16EC-21ED-C668-C15627A7BF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32250" y="2190750"/>
            <a:ext cx="377825" cy="406400"/>
          </a:xfrm>
          <a:prstGeom prst="ellipse">
            <a:avLst/>
          </a:prstGeom>
          <a:gradFill rotWithShape="1">
            <a:gsLst>
              <a:gs pos="0">
                <a:srgbClr val="E1F2F3"/>
              </a:gs>
              <a:gs pos="100000">
                <a:srgbClr val="E1F2F3">
                  <a:gamma/>
                  <a:shade val="72157"/>
                  <a:invGamma/>
                </a:srgbClr>
              </a:gs>
            </a:gsLst>
            <a:lin ang="2700000" scaled="1"/>
          </a:gra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vi-VN">
                <a:latin typeface="Tahoma" panose="020B0604030504040204" pitchFamily="34" charset="0"/>
              </a:rPr>
              <a:t>55</a:t>
            </a:r>
          </a:p>
        </p:txBody>
      </p:sp>
      <p:cxnSp>
        <p:nvCxnSpPr>
          <p:cNvPr id="539770" name="AutoShape 122">
            <a:extLst>
              <a:ext uri="{FF2B5EF4-FFF2-40B4-BE49-F238E27FC236}">
                <a16:creationId xmlns:a16="http://schemas.microsoft.com/office/drawing/2014/main" id="{27BE7B56-3678-B72E-0AF5-B98D9114AC8E}"/>
              </a:ext>
            </a:extLst>
          </p:cNvPr>
          <p:cNvCxnSpPr>
            <a:cxnSpLocks noChangeShapeType="1"/>
            <a:stCxn id="539769" idx="3"/>
            <a:endCxn id="539768" idx="0"/>
          </p:cNvCxnSpPr>
          <p:nvPr/>
        </p:nvCxnSpPr>
        <p:spPr bwMode="auto">
          <a:xfrm flipH="1">
            <a:off x="3540125" y="2557463"/>
            <a:ext cx="547688" cy="1412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9771" name="AutoShape 123">
            <a:extLst>
              <a:ext uri="{FF2B5EF4-FFF2-40B4-BE49-F238E27FC236}">
                <a16:creationId xmlns:a16="http://schemas.microsoft.com/office/drawing/2014/main" id="{35C1DF0E-A31D-C419-D83B-A19BE3100731}"/>
              </a:ext>
            </a:extLst>
          </p:cNvPr>
          <p:cNvCxnSpPr>
            <a:cxnSpLocks noChangeShapeType="1"/>
            <a:stCxn id="539769" idx="5"/>
            <a:endCxn id="539767" idx="0"/>
          </p:cNvCxnSpPr>
          <p:nvPr/>
        </p:nvCxnSpPr>
        <p:spPr bwMode="auto">
          <a:xfrm>
            <a:off x="4354513" y="2557463"/>
            <a:ext cx="547687" cy="1412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9772" name="AutoShape 124">
            <a:extLst>
              <a:ext uri="{FF2B5EF4-FFF2-40B4-BE49-F238E27FC236}">
                <a16:creationId xmlns:a16="http://schemas.microsoft.com/office/drawing/2014/main" id="{BECCA568-3F7F-DAB7-BFA9-833CEC8C84EF}"/>
              </a:ext>
            </a:extLst>
          </p:cNvPr>
          <p:cNvCxnSpPr>
            <a:cxnSpLocks noChangeShapeType="1"/>
            <a:stCxn id="539767" idx="3"/>
            <a:endCxn id="539766" idx="0"/>
          </p:cNvCxnSpPr>
          <p:nvPr/>
        </p:nvCxnSpPr>
        <p:spPr bwMode="auto">
          <a:xfrm flipH="1">
            <a:off x="4595813" y="3084513"/>
            <a:ext cx="173037" cy="2238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9773" name="AutoShape 125">
            <a:extLst>
              <a:ext uri="{FF2B5EF4-FFF2-40B4-BE49-F238E27FC236}">
                <a16:creationId xmlns:a16="http://schemas.microsoft.com/office/drawing/2014/main" id="{9E3132AA-C68D-9D91-D5AE-00B7421178EC}"/>
              </a:ext>
            </a:extLst>
          </p:cNvPr>
          <p:cNvCxnSpPr>
            <a:cxnSpLocks noChangeShapeType="1"/>
            <a:stCxn id="539767" idx="5"/>
            <a:endCxn id="539765" idx="0"/>
          </p:cNvCxnSpPr>
          <p:nvPr/>
        </p:nvCxnSpPr>
        <p:spPr bwMode="auto">
          <a:xfrm>
            <a:off x="5035550" y="3084513"/>
            <a:ext cx="185738" cy="2238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39774" name="Oval 126">
            <a:extLst>
              <a:ext uri="{FF2B5EF4-FFF2-40B4-BE49-F238E27FC236}">
                <a16:creationId xmlns:a16="http://schemas.microsoft.com/office/drawing/2014/main" id="{517DF9D5-1B0F-3C80-C115-38B206F883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71888" y="3327400"/>
            <a:ext cx="381000" cy="406400"/>
          </a:xfrm>
          <a:prstGeom prst="ellipse">
            <a:avLst/>
          </a:prstGeom>
          <a:gradFill rotWithShape="1">
            <a:gsLst>
              <a:gs pos="0">
                <a:srgbClr val="E1F2F3"/>
              </a:gs>
              <a:gs pos="100000">
                <a:srgbClr val="E1F2F3">
                  <a:gamma/>
                  <a:shade val="72157"/>
                  <a:invGamma/>
                </a:srgbClr>
              </a:gs>
            </a:gsLst>
            <a:lin ang="2700000" scaled="1"/>
          </a:gra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vi-VN">
                <a:latin typeface="Tahoma" panose="020B0604030504040204" pitchFamily="34" charset="0"/>
              </a:rPr>
              <a:t>42</a:t>
            </a:r>
          </a:p>
        </p:txBody>
      </p:sp>
      <p:sp>
        <p:nvSpPr>
          <p:cNvPr id="539775" name="Oval 127">
            <a:extLst>
              <a:ext uri="{FF2B5EF4-FFF2-40B4-BE49-F238E27FC236}">
                <a16:creationId xmlns:a16="http://schemas.microsoft.com/office/drawing/2014/main" id="{9FDEB954-D7DC-AE3A-EB05-BADDDA8993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48000" y="3327400"/>
            <a:ext cx="377825" cy="406400"/>
          </a:xfrm>
          <a:prstGeom prst="ellipse">
            <a:avLst/>
          </a:prstGeom>
          <a:gradFill rotWithShape="1">
            <a:gsLst>
              <a:gs pos="0">
                <a:srgbClr val="E1F2F3"/>
              </a:gs>
              <a:gs pos="100000">
                <a:srgbClr val="E1F2F3">
                  <a:gamma/>
                  <a:shade val="72157"/>
                  <a:invGamma/>
                </a:srgbClr>
              </a:gs>
            </a:gsLst>
            <a:lin ang="2700000" scaled="1"/>
          </a:gra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vi-VN">
                <a:latin typeface="Tahoma" panose="020B0604030504040204" pitchFamily="34" charset="0"/>
              </a:rPr>
              <a:t>-3</a:t>
            </a:r>
          </a:p>
        </p:txBody>
      </p:sp>
      <p:cxnSp>
        <p:nvCxnSpPr>
          <p:cNvPr id="539776" name="AutoShape 128">
            <a:extLst>
              <a:ext uri="{FF2B5EF4-FFF2-40B4-BE49-F238E27FC236}">
                <a16:creationId xmlns:a16="http://schemas.microsoft.com/office/drawing/2014/main" id="{4A2CF258-19E7-5809-14C1-5439C290D2FA}"/>
              </a:ext>
            </a:extLst>
          </p:cNvPr>
          <p:cNvCxnSpPr>
            <a:cxnSpLocks noChangeShapeType="1"/>
            <a:stCxn id="539768" idx="3"/>
            <a:endCxn id="539775" idx="0"/>
          </p:cNvCxnSpPr>
          <p:nvPr/>
        </p:nvCxnSpPr>
        <p:spPr bwMode="auto">
          <a:xfrm flipH="1">
            <a:off x="3236913" y="3084513"/>
            <a:ext cx="168275" cy="2238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9777" name="AutoShape 129">
            <a:extLst>
              <a:ext uri="{FF2B5EF4-FFF2-40B4-BE49-F238E27FC236}">
                <a16:creationId xmlns:a16="http://schemas.microsoft.com/office/drawing/2014/main" id="{A1B0F83D-E31F-0DF6-1F3E-B3C915B48660}"/>
              </a:ext>
            </a:extLst>
          </p:cNvPr>
          <p:cNvCxnSpPr>
            <a:cxnSpLocks noChangeShapeType="1"/>
            <a:stCxn id="539768" idx="5"/>
            <a:endCxn id="539774" idx="0"/>
          </p:cNvCxnSpPr>
          <p:nvPr/>
        </p:nvCxnSpPr>
        <p:spPr bwMode="auto">
          <a:xfrm>
            <a:off x="3675063" y="3084513"/>
            <a:ext cx="187325" cy="2238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39778" name="Text Box 130">
            <a:extLst>
              <a:ext uri="{FF2B5EF4-FFF2-40B4-BE49-F238E27FC236}">
                <a16:creationId xmlns:a16="http://schemas.microsoft.com/office/drawing/2014/main" id="{6990B977-87D5-411D-3446-7D2DAF6D17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1288" y="1676400"/>
            <a:ext cx="5476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vi-VN" sz="1600">
                <a:latin typeface="Tahoma" panose="020B0604030504040204" pitchFamily="34" charset="0"/>
              </a:rPr>
              <a:t>root</a:t>
            </a:r>
          </a:p>
        </p:txBody>
      </p:sp>
      <p:cxnSp>
        <p:nvCxnSpPr>
          <p:cNvPr id="539779" name="AutoShape 131">
            <a:extLst>
              <a:ext uri="{FF2B5EF4-FFF2-40B4-BE49-F238E27FC236}">
                <a16:creationId xmlns:a16="http://schemas.microsoft.com/office/drawing/2014/main" id="{BAC4E569-A6A7-0E91-3B20-9B674DBC4624}"/>
              </a:ext>
            </a:extLst>
          </p:cNvPr>
          <p:cNvCxnSpPr>
            <a:cxnSpLocks noChangeShapeType="1"/>
            <a:stCxn id="539778" idx="2"/>
            <a:endCxn id="539769" idx="0"/>
          </p:cNvCxnSpPr>
          <p:nvPr/>
        </p:nvCxnSpPr>
        <p:spPr bwMode="auto">
          <a:xfrm flipH="1">
            <a:off x="4221163" y="2012950"/>
            <a:ext cx="4762" cy="158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4" name="Rectangle 2">
            <a:extLst>
              <a:ext uri="{FF2B5EF4-FFF2-40B4-BE49-F238E27FC236}">
                <a16:creationId xmlns:a16="http://schemas.microsoft.com/office/drawing/2014/main" id="{09C42FAF-DAD3-B901-FD1D-5A39FFE44C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/>
              <a:t>Priority queue ADT</a:t>
            </a:r>
          </a:p>
        </p:txBody>
      </p:sp>
      <p:sp>
        <p:nvSpPr>
          <p:cNvPr id="530435" name="Rectangle 3">
            <a:extLst>
              <a:ext uri="{FF2B5EF4-FFF2-40B4-BE49-F238E27FC236}">
                <a16:creationId xmlns:a16="http://schemas.microsoft.com/office/drawing/2014/main" id="{C1E583C3-67D8-BD41-6CDE-87AFAAB6F0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 eaLnBrk="1" hangingPunct="1">
              <a:tabLst>
                <a:tab pos="860425" algn="l"/>
                <a:tab pos="1143000" algn="l"/>
                <a:tab pos="1431925" algn="l"/>
                <a:tab pos="2513013" algn="l"/>
                <a:tab pos="6746875" algn="l"/>
              </a:tabLst>
            </a:pPr>
            <a:r>
              <a:rPr lang="en-US" altLang="vi-VN" b="1" dirty="0">
                <a:solidFill>
                  <a:srgbClr val="262626"/>
                </a:solidFill>
              </a:rPr>
              <a:t>priority queue</a:t>
            </a:r>
            <a:r>
              <a:rPr lang="en-US" altLang="vi-VN" dirty="0">
                <a:solidFill>
                  <a:srgbClr val="262626"/>
                </a:solidFill>
              </a:rPr>
              <a:t>: a collection of ordered elements that provides fast access to the minimum (or maximum) element</a:t>
            </a:r>
          </a:p>
          <a:p>
            <a:pPr lvl="1" eaLnBrk="1" hangingPunct="1">
              <a:tabLst>
                <a:tab pos="860425" algn="l"/>
                <a:tab pos="1143000" algn="l"/>
                <a:tab pos="1431925" algn="l"/>
                <a:tab pos="2513013" algn="l"/>
                <a:tab pos="6746875" algn="l"/>
              </a:tabLst>
            </a:pPr>
            <a:r>
              <a:rPr lang="en-US" altLang="vi-VN" dirty="0">
                <a:solidFill>
                  <a:schemeClr val="bg2"/>
                </a:solidFill>
              </a:rPr>
              <a:t>usually implemented using a tree structure called a </a:t>
            </a:r>
            <a:r>
              <a:rPr lang="en-US" altLang="vi-VN" i="1" dirty="0">
                <a:solidFill>
                  <a:schemeClr val="bg2"/>
                </a:solidFill>
              </a:rPr>
              <a:t>heap</a:t>
            </a:r>
            <a:endParaRPr lang="en-US" altLang="vi-VN" dirty="0">
              <a:solidFill>
                <a:schemeClr val="bg2"/>
              </a:solidFill>
            </a:endParaRPr>
          </a:p>
          <a:p>
            <a:pPr eaLnBrk="1" hangingPunct="1">
              <a:tabLst>
                <a:tab pos="860425" algn="l"/>
                <a:tab pos="1143000" algn="l"/>
                <a:tab pos="1431925" algn="l"/>
                <a:tab pos="2513013" algn="l"/>
                <a:tab pos="6746875" algn="l"/>
              </a:tabLst>
            </a:pPr>
            <a:endParaRPr lang="en-US" altLang="vi-VN" sz="2200" dirty="0">
              <a:solidFill>
                <a:schemeClr val="bg2"/>
              </a:solidFill>
            </a:endParaRPr>
          </a:p>
          <a:p>
            <a:pPr eaLnBrk="1" hangingPunct="1">
              <a:tabLst>
                <a:tab pos="860425" algn="l"/>
                <a:tab pos="1143000" algn="l"/>
                <a:tab pos="1431925" algn="l"/>
                <a:tab pos="2513013" algn="l"/>
                <a:tab pos="6746875" algn="l"/>
              </a:tabLst>
            </a:pPr>
            <a:r>
              <a:rPr lang="en-US" altLang="vi-VN" dirty="0">
                <a:solidFill>
                  <a:srgbClr val="262626"/>
                </a:solidFill>
              </a:rPr>
              <a:t>priority queue operations:</a:t>
            </a:r>
          </a:p>
          <a:p>
            <a:pPr lvl="1" eaLnBrk="1" hangingPunct="1">
              <a:tabLst>
                <a:tab pos="860425" algn="l"/>
                <a:tab pos="1143000" algn="l"/>
                <a:tab pos="1431925" algn="l"/>
                <a:tab pos="2513013" algn="l"/>
                <a:tab pos="6746875" algn="l"/>
              </a:tabLst>
            </a:pPr>
            <a:r>
              <a:rPr lang="en-US" altLang="vi-VN" dirty="0">
                <a:solidFill>
                  <a:srgbClr val="404040"/>
                </a:solidFill>
                <a:latin typeface="Courier New" panose="02070309020205020404" pitchFamily="49" charset="0"/>
              </a:rPr>
              <a:t>add 	</a:t>
            </a:r>
            <a:r>
              <a:rPr lang="en-US" altLang="vi-VN" dirty="0">
                <a:solidFill>
                  <a:srgbClr val="404040"/>
                </a:solidFill>
              </a:rPr>
              <a:t>adds in order;	O(log </a:t>
            </a:r>
            <a:r>
              <a:rPr lang="en-US" altLang="vi-VN" i="1" dirty="0">
                <a:solidFill>
                  <a:srgbClr val="404040"/>
                </a:solidFill>
              </a:rPr>
              <a:t>N</a:t>
            </a:r>
            <a:r>
              <a:rPr lang="en-US" altLang="vi-VN" dirty="0">
                <a:solidFill>
                  <a:srgbClr val="404040"/>
                </a:solidFill>
              </a:rPr>
              <a:t>) worst</a:t>
            </a:r>
          </a:p>
          <a:p>
            <a:pPr lvl="1" eaLnBrk="1" hangingPunct="1">
              <a:tabLst>
                <a:tab pos="860425" algn="l"/>
                <a:tab pos="1143000" algn="l"/>
                <a:tab pos="1431925" algn="l"/>
                <a:tab pos="2513013" algn="l"/>
                <a:tab pos="6746875" algn="l"/>
              </a:tabLst>
            </a:pPr>
            <a:r>
              <a:rPr lang="en-US" altLang="vi-VN" dirty="0">
                <a:solidFill>
                  <a:srgbClr val="404040"/>
                </a:solidFill>
                <a:latin typeface="Courier New" panose="02070309020205020404" pitchFamily="49" charset="0"/>
              </a:rPr>
              <a:t>peek</a:t>
            </a:r>
            <a:r>
              <a:rPr lang="en-US" altLang="vi-VN" dirty="0">
                <a:solidFill>
                  <a:srgbClr val="404040"/>
                </a:solidFill>
              </a:rPr>
              <a:t> 	returns </a:t>
            </a:r>
            <a:r>
              <a:rPr lang="en-US" altLang="vi-VN" b="1" dirty="0">
                <a:solidFill>
                  <a:srgbClr val="404040"/>
                </a:solidFill>
              </a:rPr>
              <a:t>minimum</a:t>
            </a:r>
            <a:r>
              <a:rPr lang="en-US" altLang="vi-VN" dirty="0">
                <a:solidFill>
                  <a:srgbClr val="404040"/>
                </a:solidFill>
              </a:rPr>
              <a:t> value;	O(1)     always</a:t>
            </a:r>
          </a:p>
          <a:p>
            <a:pPr lvl="1" eaLnBrk="1" hangingPunct="1">
              <a:tabLst>
                <a:tab pos="860425" algn="l"/>
                <a:tab pos="1143000" algn="l"/>
                <a:tab pos="1431925" algn="l"/>
                <a:tab pos="2513013" algn="l"/>
                <a:tab pos="6746875" algn="l"/>
              </a:tabLst>
            </a:pPr>
            <a:r>
              <a:rPr lang="en-US" altLang="vi-VN" dirty="0">
                <a:solidFill>
                  <a:srgbClr val="404040"/>
                </a:solidFill>
                <a:latin typeface="Courier New" panose="02070309020205020404" pitchFamily="49" charset="0"/>
              </a:rPr>
              <a:t>remove</a:t>
            </a:r>
            <a:r>
              <a:rPr lang="en-US" altLang="vi-VN" dirty="0">
                <a:solidFill>
                  <a:srgbClr val="404040"/>
                </a:solidFill>
              </a:rPr>
              <a:t> 	removes/returns </a:t>
            </a:r>
            <a:r>
              <a:rPr lang="en-US" altLang="vi-VN" b="1" dirty="0">
                <a:solidFill>
                  <a:srgbClr val="404040"/>
                </a:solidFill>
              </a:rPr>
              <a:t>minimum</a:t>
            </a:r>
            <a:r>
              <a:rPr lang="en-US" altLang="vi-VN" dirty="0">
                <a:solidFill>
                  <a:srgbClr val="404040"/>
                </a:solidFill>
              </a:rPr>
              <a:t> value;	O(log </a:t>
            </a:r>
            <a:r>
              <a:rPr lang="en-US" altLang="vi-VN" i="1" dirty="0">
                <a:solidFill>
                  <a:srgbClr val="404040"/>
                </a:solidFill>
              </a:rPr>
              <a:t>N</a:t>
            </a:r>
            <a:r>
              <a:rPr lang="en-US" altLang="vi-VN" dirty="0">
                <a:solidFill>
                  <a:srgbClr val="404040"/>
                </a:solidFill>
              </a:rPr>
              <a:t>) worst</a:t>
            </a:r>
          </a:p>
          <a:p>
            <a:pPr lvl="1" eaLnBrk="1" hangingPunct="1">
              <a:lnSpc>
                <a:spcPct val="80000"/>
              </a:lnSpc>
              <a:tabLst>
                <a:tab pos="860425" algn="l"/>
                <a:tab pos="1143000" algn="l"/>
                <a:tab pos="1431925" algn="l"/>
                <a:tab pos="2513013" algn="l"/>
                <a:tab pos="6746875" algn="l"/>
              </a:tabLst>
            </a:pPr>
            <a:r>
              <a:rPr lang="en-US" altLang="vi-VN" dirty="0" err="1">
                <a:solidFill>
                  <a:srgbClr val="404040"/>
                </a:solidFill>
                <a:latin typeface="Courier New" panose="02070309020205020404" pitchFamily="49" charset="0"/>
              </a:rPr>
              <a:t>isEmpty</a:t>
            </a:r>
            <a:r>
              <a:rPr lang="en-US" altLang="vi-VN" dirty="0">
                <a:solidFill>
                  <a:srgbClr val="404040"/>
                </a:solidFill>
              </a:rPr>
              <a:t>,</a:t>
            </a:r>
            <a:br>
              <a:rPr lang="en-US" altLang="vi-VN" dirty="0">
                <a:solidFill>
                  <a:srgbClr val="404040"/>
                </a:solidFill>
              </a:rPr>
            </a:br>
            <a:r>
              <a:rPr lang="en-US" altLang="vi-VN" dirty="0">
                <a:solidFill>
                  <a:srgbClr val="404040"/>
                </a:solidFill>
                <a:latin typeface="Courier New" panose="02070309020205020404" pitchFamily="49" charset="0"/>
              </a:rPr>
              <a:t>clear</a:t>
            </a:r>
            <a:r>
              <a:rPr lang="en-US" altLang="vi-VN" dirty="0">
                <a:solidFill>
                  <a:srgbClr val="404040"/>
                </a:solidFill>
              </a:rPr>
              <a:t>,</a:t>
            </a:r>
            <a:br>
              <a:rPr lang="en-US" altLang="vi-VN" dirty="0">
                <a:solidFill>
                  <a:srgbClr val="404040"/>
                </a:solidFill>
              </a:rPr>
            </a:br>
            <a:r>
              <a:rPr lang="en-US" altLang="vi-VN" dirty="0">
                <a:solidFill>
                  <a:srgbClr val="404040"/>
                </a:solidFill>
                <a:latin typeface="Courier New" panose="02070309020205020404" pitchFamily="49" charset="0"/>
              </a:rPr>
              <a:t>size</a:t>
            </a:r>
            <a:r>
              <a:rPr lang="en-US" altLang="vi-VN" dirty="0">
                <a:solidFill>
                  <a:srgbClr val="404040"/>
                </a:solidFill>
              </a:rPr>
              <a:t>,</a:t>
            </a:r>
            <a:br>
              <a:rPr lang="en-US" altLang="vi-VN" dirty="0">
                <a:solidFill>
                  <a:srgbClr val="404040"/>
                </a:solidFill>
              </a:rPr>
            </a:br>
            <a:r>
              <a:rPr lang="en-US" altLang="vi-VN" dirty="0">
                <a:solidFill>
                  <a:srgbClr val="404040"/>
                </a:solidFill>
                <a:latin typeface="Courier New" panose="02070309020205020404" pitchFamily="49" charset="0"/>
              </a:rPr>
              <a:t>iterator		</a:t>
            </a:r>
            <a:r>
              <a:rPr lang="en-US" altLang="vi-VN" dirty="0">
                <a:solidFill>
                  <a:srgbClr val="404040"/>
                </a:solidFill>
              </a:rPr>
              <a:t>O(1)     always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58" name="Rectangle 2">
            <a:extLst>
              <a:ext uri="{FF2B5EF4-FFF2-40B4-BE49-F238E27FC236}">
                <a16:creationId xmlns:a16="http://schemas.microsoft.com/office/drawing/2014/main" id="{56898B97-233B-D03F-9AE8-138324FC88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/>
              <a:t>Java's </a:t>
            </a:r>
            <a:r>
              <a:rPr lang="en-US" altLang="vi-VN">
                <a:latin typeface="Courier New" panose="02070309020205020404" pitchFamily="49" charset="0"/>
              </a:rPr>
              <a:t>PriorityQueue</a:t>
            </a:r>
            <a:r>
              <a:rPr lang="en-US" altLang="vi-VN"/>
              <a:t> class</a:t>
            </a:r>
          </a:p>
        </p:txBody>
      </p:sp>
      <p:sp>
        <p:nvSpPr>
          <p:cNvPr id="531459" name="Rectangle 3">
            <a:extLst>
              <a:ext uri="{FF2B5EF4-FFF2-40B4-BE49-F238E27FC236}">
                <a16:creationId xmlns:a16="http://schemas.microsoft.com/office/drawing/2014/main" id="{E98BB526-12F8-1124-8417-9612047681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vi-VN" sz="2200">
                <a:solidFill>
                  <a:srgbClr val="262626"/>
                </a:solidFill>
                <a:latin typeface="Courier New" panose="02070309020205020404" pitchFamily="49" charset="0"/>
              </a:rPr>
              <a:t>public class PriorityQueue&lt;</a:t>
            </a:r>
            <a:r>
              <a:rPr lang="en-US" altLang="vi-VN" sz="2200" b="1">
                <a:solidFill>
                  <a:srgbClr val="262626"/>
                </a:solidFill>
              </a:rPr>
              <a:t>E</a:t>
            </a:r>
            <a:r>
              <a:rPr lang="en-US" altLang="vi-VN" sz="2200">
                <a:solidFill>
                  <a:srgbClr val="262626"/>
                </a:solidFill>
                <a:latin typeface="Courier New" panose="02070309020205020404" pitchFamily="49" charset="0"/>
              </a:rPr>
              <a:t>&gt; implements Queue&lt;</a:t>
            </a:r>
            <a:r>
              <a:rPr lang="en-US" altLang="vi-VN" sz="2200" b="1">
                <a:solidFill>
                  <a:srgbClr val="262626"/>
                </a:solidFill>
              </a:rPr>
              <a:t>E</a:t>
            </a:r>
            <a:r>
              <a:rPr lang="en-US" altLang="vi-VN" sz="2200">
                <a:solidFill>
                  <a:srgbClr val="262626"/>
                </a:solidFill>
                <a:latin typeface="Courier New" panose="02070309020205020404" pitchFamily="49" charset="0"/>
              </a:rPr>
              <a:t>&gt;</a:t>
            </a:r>
          </a:p>
          <a:p>
            <a:pPr eaLnBrk="1" hangingPunct="1">
              <a:buFontTx/>
              <a:buNone/>
            </a:pPr>
            <a:endParaRPr lang="en-US" altLang="vi-VN" sz="2200">
              <a:solidFill>
                <a:srgbClr val="262626"/>
              </a:solidFill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endParaRPr lang="en-US" altLang="vi-VN" sz="2200">
              <a:solidFill>
                <a:srgbClr val="262626"/>
              </a:solidFill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endParaRPr lang="en-US" altLang="vi-VN" sz="2200">
              <a:solidFill>
                <a:srgbClr val="262626"/>
              </a:solidFill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endParaRPr lang="en-US" altLang="vi-VN" sz="2200">
              <a:solidFill>
                <a:srgbClr val="262626"/>
              </a:solidFill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endParaRPr lang="en-US" altLang="vi-VN" sz="2200">
              <a:solidFill>
                <a:srgbClr val="262626"/>
              </a:solidFill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endParaRPr lang="en-US" altLang="vi-VN" sz="2200">
              <a:solidFill>
                <a:srgbClr val="262626"/>
              </a:solidFill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endParaRPr lang="en-US" altLang="vi-VN" sz="2200">
              <a:solidFill>
                <a:srgbClr val="262626"/>
              </a:solidFill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endParaRPr lang="en-US" altLang="vi-VN" sz="2200">
              <a:solidFill>
                <a:srgbClr val="262626"/>
              </a:solidFill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vi-VN" sz="2200">
                <a:solidFill>
                  <a:srgbClr val="262626"/>
                </a:solidFill>
                <a:latin typeface="Courier New" panose="02070309020205020404" pitchFamily="49" charset="0"/>
              </a:rPr>
              <a:t>Queue&lt;String&gt; pq = new </a:t>
            </a:r>
            <a:r>
              <a:rPr lang="en-US" altLang="vi-VN" sz="2200" b="1">
                <a:solidFill>
                  <a:srgbClr val="262626"/>
                </a:solidFill>
                <a:latin typeface="Courier New" panose="02070309020205020404" pitchFamily="49" charset="0"/>
              </a:rPr>
              <a:t>PriorityQueue</a:t>
            </a:r>
            <a:r>
              <a:rPr lang="en-US" altLang="vi-VN" sz="2200">
                <a:solidFill>
                  <a:srgbClr val="262626"/>
                </a:solidFill>
                <a:latin typeface="Courier New" panose="02070309020205020404" pitchFamily="49" charset="0"/>
              </a:rPr>
              <a:t>&lt;String&gt;();</a:t>
            </a:r>
          </a:p>
          <a:p>
            <a:pPr eaLnBrk="1" hangingPunct="1">
              <a:buFontTx/>
              <a:buNone/>
            </a:pPr>
            <a:r>
              <a:rPr lang="en-US" altLang="vi-VN" sz="2200">
                <a:solidFill>
                  <a:srgbClr val="262626"/>
                </a:solidFill>
                <a:latin typeface="Courier New" panose="02070309020205020404" pitchFamily="49" charset="0"/>
              </a:rPr>
              <a:t>pq.add("Stuart");</a:t>
            </a:r>
          </a:p>
          <a:p>
            <a:pPr eaLnBrk="1" hangingPunct="1">
              <a:buFontTx/>
              <a:buNone/>
            </a:pPr>
            <a:r>
              <a:rPr lang="en-US" altLang="vi-VN" sz="2200">
                <a:solidFill>
                  <a:srgbClr val="262626"/>
                </a:solidFill>
                <a:latin typeface="Courier New" panose="02070309020205020404" pitchFamily="49" charset="0"/>
              </a:rPr>
              <a:t>pq.add("Marty");</a:t>
            </a:r>
          </a:p>
          <a:p>
            <a:pPr eaLnBrk="1" hangingPunct="1">
              <a:buFontTx/>
              <a:buNone/>
            </a:pPr>
            <a:r>
              <a:rPr lang="en-US" altLang="vi-VN" sz="2200">
                <a:solidFill>
                  <a:srgbClr val="262626"/>
                </a:solidFill>
                <a:latin typeface="Courier New" panose="02070309020205020404" pitchFamily="49" charset="0"/>
              </a:rPr>
              <a:t>...</a:t>
            </a:r>
            <a:endParaRPr lang="en-US" altLang="vi-VN" sz="2200">
              <a:solidFill>
                <a:srgbClr val="262626"/>
              </a:solidFill>
            </a:endParaRPr>
          </a:p>
        </p:txBody>
      </p:sp>
      <p:graphicFrame>
        <p:nvGraphicFramePr>
          <p:cNvPr id="531460" name="Group 4">
            <a:extLst>
              <a:ext uri="{FF2B5EF4-FFF2-40B4-BE49-F238E27FC236}">
                <a16:creationId xmlns:a16="http://schemas.microsoft.com/office/drawing/2014/main" id="{579DFF75-9CA6-FC53-0E08-0D36C42E1399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1828800"/>
          <a:ext cx="8686800" cy="2825118"/>
        </p:xfrm>
        <a:graphic>
          <a:graphicData uri="http://schemas.openxmlformats.org/drawingml/2006/table">
            <a:tbl>
              <a:tblPr/>
              <a:tblGrid>
                <a:gridCol w="3138488">
                  <a:extLst>
                    <a:ext uri="{9D8B030D-6E8A-4147-A177-3AD203B41FA5}">
                      <a16:colId xmlns:a16="http://schemas.microsoft.com/office/drawing/2014/main" val="1414723502"/>
                    </a:ext>
                  </a:extLst>
                </a:gridCol>
                <a:gridCol w="3643312">
                  <a:extLst>
                    <a:ext uri="{9D8B030D-6E8A-4147-A177-3AD203B41FA5}">
                      <a16:colId xmlns:a16="http://schemas.microsoft.com/office/drawing/2014/main" val="207047954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678697358"/>
                    </a:ext>
                  </a:extLst>
                </a:gridCol>
              </a:tblGrid>
              <a:tr h="28257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Method/Constructor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Runtime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088842"/>
                  </a:ext>
                </a:extLst>
              </a:tr>
              <a:tr h="40481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PriorityQueue&lt;</a:t>
                      </a:r>
                      <a:r>
                        <a:rPr kumimoji="0" lang="en-US" altLang="vi-V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E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&gt;()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constructs new empty queue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  O(1)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8733129"/>
                  </a:ext>
                </a:extLst>
              </a:tr>
              <a:tr h="40481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add(</a:t>
                      </a:r>
                      <a:r>
                        <a:rPr kumimoji="0" lang="en-US" altLang="vi-V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E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 value)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adds value in sorted order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  O(log </a:t>
                      </a:r>
                      <a:r>
                        <a:rPr kumimoji="0" lang="en-US" altLang="vi-VN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 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402525"/>
                  </a:ext>
                </a:extLst>
              </a:tr>
              <a:tr h="40481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clear()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removes all elements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  O(1)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424671"/>
                  </a:ext>
                </a:extLst>
              </a:tr>
              <a:tr h="40481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iterator()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returns iterator over elements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  O(1)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858707"/>
                  </a:ext>
                </a:extLst>
              </a:tr>
              <a:tr h="40481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peek()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returns minimum element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  O(1)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569341"/>
                  </a:ext>
                </a:extLst>
              </a:tr>
              <a:tr h="40481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remove()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removes/returns min element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  O(log </a:t>
                      </a:r>
                      <a:r>
                        <a:rPr kumimoji="0" lang="en-US" altLang="vi-VN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 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6989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82" name="Rectangle 2">
            <a:extLst>
              <a:ext uri="{FF2B5EF4-FFF2-40B4-BE49-F238E27FC236}">
                <a16:creationId xmlns:a16="http://schemas.microsoft.com/office/drawing/2014/main" id="{EEC75594-C4D3-690C-29BF-DC4D53C9FE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/>
              <a:t>Priority queue ordering</a:t>
            </a:r>
          </a:p>
        </p:txBody>
      </p:sp>
      <p:sp>
        <p:nvSpPr>
          <p:cNvPr id="532483" name="Rectangle 3">
            <a:extLst>
              <a:ext uri="{FF2B5EF4-FFF2-40B4-BE49-F238E27FC236}">
                <a16:creationId xmlns:a16="http://schemas.microsoft.com/office/drawing/2014/main" id="{7DE887CA-E94F-A478-AA77-AC4E1BB6DC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 eaLnBrk="1" hangingPunct="1"/>
            <a:r>
              <a:rPr lang="en-US" altLang="vi-VN">
                <a:solidFill>
                  <a:srgbClr val="262626"/>
                </a:solidFill>
              </a:rPr>
              <a:t>For a priority queue to work, elements must have an ordering</a:t>
            </a:r>
          </a:p>
          <a:p>
            <a:pPr lvl="1" eaLnBrk="1" hangingPunct="1"/>
            <a:r>
              <a:rPr lang="en-US" altLang="vi-VN">
                <a:solidFill>
                  <a:srgbClr val="404040"/>
                </a:solidFill>
              </a:rPr>
              <a:t>in Java, this means implementing the 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Comparable</a:t>
            </a:r>
            <a:r>
              <a:rPr lang="en-US" altLang="vi-VN">
                <a:solidFill>
                  <a:srgbClr val="404040"/>
                </a:solidFill>
              </a:rPr>
              <a:t> interface</a:t>
            </a:r>
          </a:p>
          <a:p>
            <a:pPr lvl="2" eaLnBrk="1" hangingPunct="1"/>
            <a:r>
              <a:rPr lang="en-US" altLang="vi-VN"/>
              <a:t>many existing types (Integer, String, etc.) already implement this</a:t>
            </a:r>
          </a:p>
          <a:p>
            <a:pPr lvl="2" eaLnBrk="1" hangingPunct="1"/>
            <a:r>
              <a:rPr lang="en-US" altLang="vi-VN"/>
              <a:t>if you store objects of your own types in a PQ, you must implement it</a:t>
            </a:r>
          </a:p>
          <a:p>
            <a:pPr lvl="1" eaLnBrk="1" hangingPunct="1"/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TreeSet</a:t>
            </a:r>
            <a:r>
              <a:rPr lang="en-US" altLang="vi-VN">
                <a:solidFill>
                  <a:srgbClr val="404040"/>
                </a:solidFill>
              </a:rPr>
              <a:t> and 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TreeMap</a:t>
            </a:r>
            <a:r>
              <a:rPr lang="en-US" altLang="vi-VN">
                <a:solidFill>
                  <a:srgbClr val="404040"/>
                </a:solidFill>
              </a:rPr>
              <a:t> also require 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Comparable</a:t>
            </a:r>
            <a:r>
              <a:rPr lang="en-US" altLang="vi-VN">
                <a:solidFill>
                  <a:srgbClr val="404040"/>
                </a:solidFill>
              </a:rPr>
              <a:t> types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vi-VN" sz="200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 sz="2000">
                <a:solidFill>
                  <a:srgbClr val="404040"/>
                </a:solidFill>
                <a:latin typeface="Courier New" panose="02070309020205020404" pitchFamily="49" charset="0"/>
              </a:rPr>
              <a:t>public class Foo </a:t>
            </a:r>
            <a:r>
              <a:rPr lang="en-US" altLang="vi-VN" sz="2000" b="1">
                <a:solidFill>
                  <a:schemeClr val="accent2"/>
                </a:solidFill>
                <a:latin typeface="Courier New" panose="02070309020205020404" pitchFamily="49" charset="0"/>
              </a:rPr>
              <a:t>implements Comparable&lt;Foo&gt;</a:t>
            </a:r>
            <a:r>
              <a:rPr lang="en-US" altLang="vi-VN" sz="2000">
                <a:solidFill>
                  <a:srgbClr val="404040"/>
                </a:solidFill>
                <a:latin typeface="Courier New" panose="02070309020205020404" pitchFamily="49" charset="0"/>
              </a:rPr>
              <a:t> {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 sz="2000">
                <a:solidFill>
                  <a:srgbClr val="404040"/>
                </a:solidFill>
                <a:latin typeface="Courier New" panose="02070309020205020404" pitchFamily="49" charset="0"/>
              </a:rPr>
              <a:t>    …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 sz="2000" b="1">
                <a:solidFill>
                  <a:schemeClr val="accent2"/>
                </a:solidFill>
                <a:latin typeface="Courier New" panose="02070309020205020404" pitchFamily="49" charset="0"/>
              </a:rPr>
              <a:t>    public int compareTo(Foo other) {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 sz="2000">
                <a:solidFill>
                  <a:srgbClr val="008000"/>
                </a:solidFill>
                <a:latin typeface="Courier New" panose="02070309020205020404" pitchFamily="49" charset="0"/>
              </a:rPr>
              <a:t>        // Return &gt; 0 if this object is &gt; other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 sz="2000">
                <a:solidFill>
                  <a:srgbClr val="008000"/>
                </a:solidFill>
                <a:latin typeface="Courier New" panose="02070309020205020404" pitchFamily="49" charset="0"/>
              </a:rPr>
              <a:t>        // Return &lt; 0 if this object is &lt; other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 sz="2000">
                <a:solidFill>
                  <a:srgbClr val="008000"/>
                </a:solidFill>
                <a:latin typeface="Courier New" panose="02070309020205020404" pitchFamily="49" charset="0"/>
              </a:rPr>
              <a:t>        // Return   0 if this object == other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 sz="2000" b="1">
                <a:solidFill>
                  <a:schemeClr val="accent2"/>
                </a:solidFill>
                <a:latin typeface="Courier New" panose="02070309020205020404" pitchFamily="49" charset="0"/>
              </a:rPr>
              <a:t>    }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 sz="2000">
                <a:solidFill>
                  <a:srgbClr val="404040"/>
                </a:solidFill>
                <a:latin typeface="Courier New" panose="02070309020205020404" pitchFamily="49" charset="0"/>
              </a:rPr>
              <a:t>}</a:t>
            </a:r>
            <a:endParaRPr lang="en-US" altLang="vi-VN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266" name="Rectangle 2">
            <a:extLst>
              <a:ext uri="{FF2B5EF4-FFF2-40B4-BE49-F238E27FC236}">
                <a16:creationId xmlns:a16="http://schemas.microsoft.com/office/drawing/2014/main" id="{3F5D3DE6-240C-CA6C-A0EF-E25B907BE7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/>
              <a:t>The Map ADT</a:t>
            </a:r>
          </a:p>
        </p:txBody>
      </p:sp>
      <p:sp>
        <p:nvSpPr>
          <p:cNvPr id="523267" name="Rectangle 3">
            <a:extLst>
              <a:ext uri="{FF2B5EF4-FFF2-40B4-BE49-F238E27FC236}">
                <a16:creationId xmlns:a16="http://schemas.microsoft.com/office/drawing/2014/main" id="{7250266C-215F-03C1-B2C6-0A2EB5312A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r>
              <a:rPr lang="en-US" altLang="vi-VN" b="1">
                <a:solidFill>
                  <a:srgbClr val="262626"/>
                </a:solidFill>
              </a:rPr>
              <a:t>map</a:t>
            </a:r>
            <a:r>
              <a:rPr lang="en-US" altLang="vi-VN">
                <a:solidFill>
                  <a:srgbClr val="262626"/>
                </a:solidFill>
              </a:rPr>
              <a:t>: Holds a set of unique </a:t>
            </a:r>
            <a:r>
              <a:rPr lang="en-US" altLang="vi-VN" i="1">
                <a:solidFill>
                  <a:srgbClr val="262626"/>
                </a:solidFill>
              </a:rPr>
              <a:t>keys</a:t>
            </a:r>
            <a:r>
              <a:rPr lang="en-US" altLang="vi-VN">
                <a:solidFill>
                  <a:srgbClr val="262626"/>
                </a:solidFill>
              </a:rPr>
              <a:t> and a collection of </a:t>
            </a:r>
            <a:r>
              <a:rPr lang="en-US" altLang="vi-VN" i="1">
                <a:solidFill>
                  <a:srgbClr val="262626"/>
                </a:solidFill>
              </a:rPr>
              <a:t>values</a:t>
            </a:r>
            <a:r>
              <a:rPr lang="en-US" altLang="vi-VN">
                <a:solidFill>
                  <a:srgbClr val="262626"/>
                </a:solidFill>
              </a:rPr>
              <a:t>, where each key is associated with one value.</a:t>
            </a:r>
          </a:p>
          <a:p>
            <a:pPr lvl="1"/>
            <a:r>
              <a:rPr lang="en-US" altLang="vi-VN">
                <a:solidFill>
                  <a:srgbClr val="404040"/>
                </a:solidFill>
              </a:rPr>
              <a:t>a.k.a. "dictionary", "associative array", "hash"</a:t>
            </a:r>
          </a:p>
          <a:p>
            <a:pPr lvl="1"/>
            <a:endParaRPr lang="en-US" altLang="vi-VN" sz="1200">
              <a:solidFill>
                <a:srgbClr val="404040"/>
              </a:solidFill>
            </a:endParaRPr>
          </a:p>
          <a:p>
            <a:r>
              <a:rPr lang="en-US" altLang="vi-VN">
                <a:solidFill>
                  <a:srgbClr val="262626"/>
                </a:solidFill>
              </a:rPr>
              <a:t>basic map operations:</a:t>
            </a:r>
          </a:p>
          <a:p>
            <a:pPr lvl="1"/>
            <a:r>
              <a:rPr lang="en-US" altLang="vi-VN" b="1">
                <a:solidFill>
                  <a:srgbClr val="404040"/>
                </a:solidFill>
              </a:rPr>
              <a:t>put</a:t>
            </a:r>
            <a:r>
              <a:rPr lang="en-US" altLang="vi-VN">
                <a:solidFill>
                  <a:srgbClr val="404040"/>
                </a:solidFill>
              </a:rPr>
              <a:t>(</a:t>
            </a:r>
            <a:r>
              <a:rPr lang="en-US" altLang="vi-VN" i="1">
                <a:solidFill>
                  <a:srgbClr val="404040"/>
                </a:solidFill>
              </a:rPr>
              <a:t>key</a:t>
            </a:r>
            <a:r>
              <a:rPr lang="en-US" altLang="vi-VN">
                <a:solidFill>
                  <a:srgbClr val="404040"/>
                </a:solidFill>
              </a:rPr>
              <a:t>, </a:t>
            </a:r>
            <a:r>
              <a:rPr lang="en-US" altLang="vi-VN" i="1">
                <a:solidFill>
                  <a:srgbClr val="404040"/>
                </a:solidFill>
              </a:rPr>
              <a:t>value</a:t>
            </a:r>
            <a:r>
              <a:rPr lang="en-US" altLang="vi-VN">
                <a:solidFill>
                  <a:srgbClr val="404040"/>
                </a:solidFill>
              </a:rPr>
              <a:t>): Adds a </a:t>
            </a:r>
            <a:br>
              <a:rPr lang="en-US" altLang="vi-VN">
                <a:solidFill>
                  <a:srgbClr val="404040"/>
                </a:solidFill>
              </a:rPr>
            </a:br>
            <a:r>
              <a:rPr lang="en-US" altLang="vi-VN">
                <a:solidFill>
                  <a:srgbClr val="404040"/>
                </a:solidFill>
              </a:rPr>
              <a:t>mapping from a key to</a:t>
            </a:r>
            <a:br>
              <a:rPr lang="en-US" altLang="vi-VN">
                <a:solidFill>
                  <a:srgbClr val="404040"/>
                </a:solidFill>
              </a:rPr>
            </a:br>
            <a:r>
              <a:rPr lang="en-US" altLang="vi-VN">
                <a:solidFill>
                  <a:srgbClr val="404040"/>
                </a:solidFill>
              </a:rPr>
              <a:t>a value.</a:t>
            </a:r>
            <a:br>
              <a:rPr lang="en-US" altLang="vi-VN">
                <a:solidFill>
                  <a:srgbClr val="404040"/>
                </a:solidFill>
              </a:rPr>
            </a:br>
            <a:endParaRPr lang="en-US" altLang="vi-VN" sz="800">
              <a:solidFill>
                <a:srgbClr val="404040"/>
              </a:solidFill>
            </a:endParaRPr>
          </a:p>
          <a:p>
            <a:pPr lvl="1"/>
            <a:r>
              <a:rPr lang="en-US" altLang="vi-VN" b="1">
                <a:solidFill>
                  <a:srgbClr val="404040"/>
                </a:solidFill>
              </a:rPr>
              <a:t>get</a:t>
            </a:r>
            <a:r>
              <a:rPr lang="en-US" altLang="vi-VN">
                <a:solidFill>
                  <a:srgbClr val="404040"/>
                </a:solidFill>
              </a:rPr>
              <a:t>(</a:t>
            </a:r>
            <a:r>
              <a:rPr lang="en-US" altLang="vi-VN" i="1">
                <a:solidFill>
                  <a:srgbClr val="404040"/>
                </a:solidFill>
              </a:rPr>
              <a:t>key</a:t>
            </a:r>
            <a:r>
              <a:rPr lang="en-US" altLang="vi-VN">
                <a:solidFill>
                  <a:srgbClr val="404040"/>
                </a:solidFill>
              </a:rPr>
              <a:t>): Retrieves the</a:t>
            </a:r>
            <a:br>
              <a:rPr lang="en-US" altLang="vi-VN">
                <a:solidFill>
                  <a:srgbClr val="404040"/>
                </a:solidFill>
              </a:rPr>
            </a:br>
            <a:r>
              <a:rPr lang="en-US" altLang="vi-VN">
                <a:solidFill>
                  <a:srgbClr val="404040"/>
                </a:solidFill>
              </a:rPr>
              <a:t>value mapped to the key.</a:t>
            </a:r>
            <a:br>
              <a:rPr lang="en-US" altLang="vi-VN">
                <a:solidFill>
                  <a:srgbClr val="404040"/>
                </a:solidFill>
              </a:rPr>
            </a:br>
            <a:endParaRPr lang="en-US" altLang="vi-VN" sz="800">
              <a:solidFill>
                <a:srgbClr val="404040"/>
              </a:solidFill>
            </a:endParaRPr>
          </a:p>
          <a:p>
            <a:pPr lvl="1"/>
            <a:r>
              <a:rPr lang="en-US" altLang="vi-VN" b="1">
                <a:solidFill>
                  <a:srgbClr val="404040"/>
                </a:solidFill>
              </a:rPr>
              <a:t>remove</a:t>
            </a:r>
            <a:r>
              <a:rPr lang="en-US" altLang="vi-VN">
                <a:solidFill>
                  <a:srgbClr val="404040"/>
                </a:solidFill>
              </a:rPr>
              <a:t>(</a:t>
            </a:r>
            <a:r>
              <a:rPr lang="en-US" altLang="vi-VN" i="1">
                <a:solidFill>
                  <a:srgbClr val="404040"/>
                </a:solidFill>
              </a:rPr>
              <a:t>key</a:t>
            </a:r>
            <a:r>
              <a:rPr lang="en-US" altLang="vi-VN">
                <a:solidFill>
                  <a:srgbClr val="404040"/>
                </a:solidFill>
              </a:rPr>
              <a:t>): Removes</a:t>
            </a:r>
            <a:br>
              <a:rPr lang="en-US" altLang="vi-VN">
                <a:solidFill>
                  <a:srgbClr val="404040"/>
                </a:solidFill>
              </a:rPr>
            </a:br>
            <a:r>
              <a:rPr lang="en-US" altLang="vi-VN">
                <a:solidFill>
                  <a:srgbClr val="404040"/>
                </a:solidFill>
              </a:rPr>
              <a:t>the given key and its</a:t>
            </a:r>
            <a:br>
              <a:rPr lang="en-US" altLang="vi-VN">
                <a:solidFill>
                  <a:srgbClr val="404040"/>
                </a:solidFill>
              </a:rPr>
            </a:br>
            <a:r>
              <a:rPr lang="en-US" altLang="vi-VN">
                <a:solidFill>
                  <a:srgbClr val="404040"/>
                </a:solidFill>
              </a:rPr>
              <a:t>mapped value.</a:t>
            </a:r>
          </a:p>
        </p:txBody>
      </p:sp>
      <p:pic>
        <p:nvPicPr>
          <p:cNvPr id="523268" name="Picture 4">
            <a:extLst>
              <a:ext uri="{FF2B5EF4-FFF2-40B4-BE49-F238E27FC236}">
                <a16:creationId xmlns:a16="http://schemas.microsoft.com/office/drawing/2014/main" id="{9D831CAA-CAC4-EA05-E5E2-8A0713BB1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7675" y="2743200"/>
            <a:ext cx="4038600" cy="294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3269" name="Text Box 5">
            <a:extLst>
              <a:ext uri="{FF2B5EF4-FFF2-40B4-BE49-F238E27FC236}">
                <a16:creationId xmlns:a16="http://schemas.microsoft.com/office/drawing/2014/main" id="{1A242D67-1476-A4AA-38B6-3C738B6E5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5957888"/>
            <a:ext cx="48672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vi-VN">
                <a:latin typeface="Courier New" panose="02070309020205020404" pitchFamily="49" charset="0"/>
              </a:rPr>
              <a:t>myMap.get("Juliet")</a:t>
            </a:r>
            <a:r>
              <a:rPr lang="en-US" altLang="vi-VN">
                <a:latin typeface="Tahoma" panose="020B0604030504040204" pitchFamily="34" charset="0"/>
              </a:rPr>
              <a:t> returns </a:t>
            </a:r>
            <a:r>
              <a:rPr lang="en-US" altLang="vi-VN">
                <a:latin typeface="Courier New" panose="02070309020205020404" pitchFamily="49" charset="0"/>
              </a:rPr>
              <a:t>"Capulet"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290" name="Rectangle 2">
            <a:extLst>
              <a:ext uri="{FF2B5EF4-FFF2-40B4-BE49-F238E27FC236}">
                <a16:creationId xmlns:a16="http://schemas.microsoft.com/office/drawing/2014/main" id="{F29AE59E-B5AF-01B9-A551-829446F6A4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/>
              <a:t>Map concepts</a:t>
            </a:r>
          </a:p>
        </p:txBody>
      </p:sp>
      <p:sp>
        <p:nvSpPr>
          <p:cNvPr id="524291" name="Rectangle 3">
            <a:extLst>
              <a:ext uri="{FF2B5EF4-FFF2-40B4-BE49-F238E27FC236}">
                <a16:creationId xmlns:a16="http://schemas.microsoft.com/office/drawing/2014/main" id="{E86268A7-CF7B-6114-7D40-2AEF9F9CAC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r>
              <a:rPr lang="en-US" altLang="vi-VN">
                <a:solidFill>
                  <a:srgbClr val="262626"/>
                </a:solidFill>
              </a:rPr>
              <a:t>a map can be thought of as generalization of a tallying array</a:t>
            </a:r>
          </a:p>
          <a:p>
            <a:pPr lvl="1"/>
            <a:r>
              <a:rPr lang="en-US" altLang="vi-VN">
                <a:solidFill>
                  <a:srgbClr val="404040"/>
                </a:solidFill>
              </a:rPr>
              <a:t>the "index" (key) doesn't have to be an 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int</a:t>
            </a:r>
          </a:p>
          <a:p>
            <a:pPr lvl="1"/>
            <a:endParaRPr lang="en-US" altLang="vi-VN" sz="1600">
              <a:solidFill>
                <a:srgbClr val="404040"/>
              </a:solidFill>
            </a:endParaRPr>
          </a:p>
          <a:p>
            <a:pPr lvl="1"/>
            <a:r>
              <a:rPr lang="en-US" altLang="vi-VN">
                <a:solidFill>
                  <a:srgbClr val="404040"/>
                </a:solidFill>
              </a:rPr>
              <a:t>count digits: 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22092310907</a:t>
            </a:r>
          </a:p>
          <a:p>
            <a:pPr lvl="1">
              <a:lnSpc>
                <a:spcPct val="120000"/>
              </a:lnSpc>
            </a:pPr>
            <a:endParaRPr lang="en-US" altLang="vi-VN">
              <a:solidFill>
                <a:srgbClr val="404040"/>
              </a:solidFill>
            </a:endParaRPr>
          </a:p>
          <a:p>
            <a:pPr lvl="1">
              <a:lnSpc>
                <a:spcPct val="120000"/>
              </a:lnSpc>
            </a:pPr>
            <a:endParaRPr lang="en-US" altLang="vi-VN">
              <a:solidFill>
                <a:srgbClr val="404040"/>
              </a:solidFill>
            </a:endParaRP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vi-VN">
                <a:solidFill>
                  <a:srgbClr val="404040"/>
                </a:solidFill>
              </a:rPr>
              <a:t>		</a:t>
            </a:r>
            <a:r>
              <a:rPr lang="en-US" altLang="vi-VN" b="1">
                <a:solidFill>
                  <a:srgbClr val="008080"/>
                </a:solidFill>
                <a:latin typeface="Courier New" panose="02070309020205020404" pitchFamily="49" charset="0"/>
              </a:rPr>
              <a:t> // (R)epublican, (D)emocrat, (I)ndependent</a:t>
            </a:r>
            <a:endParaRPr lang="en-US" altLang="vi-VN">
              <a:solidFill>
                <a:srgbClr val="404040"/>
              </a:solidFill>
            </a:endParaRPr>
          </a:p>
          <a:p>
            <a:pPr lvl="1">
              <a:lnSpc>
                <a:spcPct val="70000"/>
              </a:lnSpc>
            </a:pPr>
            <a:r>
              <a:rPr lang="en-US" altLang="vi-VN">
                <a:solidFill>
                  <a:srgbClr val="404040"/>
                </a:solidFill>
              </a:rPr>
              <a:t>count votes:	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"RDDDDRRRRRDDDDDDRDRRIRDRRIRDRRID"</a:t>
            </a:r>
            <a:endParaRPr lang="en-US" altLang="vi-VN">
              <a:solidFill>
                <a:srgbClr val="404040"/>
              </a:solidFill>
            </a:endParaRPr>
          </a:p>
        </p:txBody>
      </p:sp>
      <p:graphicFrame>
        <p:nvGraphicFramePr>
          <p:cNvPr id="524292" name="Group 4">
            <a:extLst>
              <a:ext uri="{FF2B5EF4-FFF2-40B4-BE49-F238E27FC236}">
                <a16:creationId xmlns:a16="http://schemas.microsoft.com/office/drawing/2014/main" id="{7C629D8E-9A46-00B9-74FC-E22FA8708104}"/>
              </a:ext>
            </a:extLst>
          </p:cNvPr>
          <p:cNvGraphicFramePr>
            <a:graphicFrameLocks noGrp="1"/>
          </p:cNvGraphicFramePr>
          <p:nvPr/>
        </p:nvGraphicFramePr>
        <p:xfrm>
          <a:off x="4600575" y="2514600"/>
          <a:ext cx="4086225" cy="792480"/>
        </p:xfrm>
        <a:graphic>
          <a:graphicData uri="http://schemas.openxmlformats.org/drawingml/2006/table">
            <a:tbl>
              <a:tblPr/>
              <a:tblGrid>
                <a:gridCol w="782638">
                  <a:extLst>
                    <a:ext uri="{9D8B030D-6E8A-4147-A177-3AD203B41FA5}">
                      <a16:colId xmlns:a16="http://schemas.microsoft.com/office/drawing/2014/main" val="311433191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191095884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4182413387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4077276463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4139056126"/>
                    </a:ext>
                  </a:extLst>
                </a:gridCol>
                <a:gridCol w="331787">
                  <a:extLst>
                    <a:ext uri="{9D8B030D-6E8A-4147-A177-3AD203B41FA5}">
                      <a16:colId xmlns:a16="http://schemas.microsoft.com/office/drawing/2014/main" val="4031823922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541646805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539936193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44594691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279168663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809420893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index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408650"/>
                  </a:ext>
                </a:extLst>
              </a:tr>
              <a:tr h="2667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947714"/>
                  </a:ext>
                </a:extLst>
              </a:tr>
            </a:tbl>
          </a:graphicData>
        </a:graphic>
      </p:graphicFrame>
      <p:sp>
        <p:nvSpPr>
          <p:cNvPr id="524328" name="Line 40">
            <a:extLst>
              <a:ext uri="{FF2B5EF4-FFF2-40B4-BE49-F238E27FC236}">
                <a16:creationId xmlns:a16="http://schemas.microsoft.com/office/drawing/2014/main" id="{12C6FD45-2988-A605-BC70-27ABB2B8F835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3000375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vi-VN"/>
          </a:p>
        </p:txBody>
      </p:sp>
      <p:graphicFrame>
        <p:nvGraphicFramePr>
          <p:cNvPr id="524329" name="Group 41">
            <a:extLst>
              <a:ext uri="{FF2B5EF4-FFF2-40B4-BE49-F238E27FC236}">
                <a16:creationId xmlns:a16="http://schemas.microsoft.com/office/drawing/2014/main" id="{39DC6DEF-04D0-9B22-CF6E-4B19ACB2E743}"/>
              </a:ext>
            </a:extLst>
          </p:cNvPr>
          <p:cNvGraphicFramePr>
            <a:graphicFrameLocks noGrp="1"/>
          </p:cNvGraphicFramePr>
          <p:nvPr/>
        </p:nvGraphicFramePr>
        <p:xfrm>
          <a:off x="1095375" y="4724400"/>
          <a:ext cx="2638425" cy="792480"/>
        </p:xfrm>
        <a:graphic>
          <a:graphicData uri="http://schemas.openxmlformats.org/drawingml/2006/table">
            <a:tbl>
              <a:tblPr/>
              <a:tblGrid>
                <a:gridCol w="855663">
                  <a:extLst>
                    <a:ext uri="{9D8B030D-6E8A-4147-A177-3AD203B41FA5}">
                      <a16:colId xmlns:a16="http://schemas.microsoft.com/office/drawing/2014/main" val="167940206"/>
                    </a:ext>
                  </a:extLst>
                </a:gridCol>
                <a:gridCol w="636587">
                  <a:extLst>
                    <a:ext uri="{9D8B030D-6E8A-4147-A177-3AD203B41FA5}">
                      <a16:colId xmlns:a16="http://schemas.microsoft.com/office/drawing/2014/main" val="3342727648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3748323838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3957255030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key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"R"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"D"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"I"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575138"/>
                  </a:ext>
                </a:extLst>
              </a:tr>
              <a:tr h="2667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38073"/>
                  </a:ext>
                </a:extLst>
              </a:tr>
            </a:tbl>
          </a:graphicData>
        </a:graphic>
      </p:graphicFrame>
      <p:grpSp>
        <p:nvGrpSpPr>
          <p:cNvPr id="524344" name="Group 56">
            <a:extLst>
              <a:ext uri="{FF2B5EF4-FFF2-40B4-BE49-F238E27FC236}">
                <a16:creationId xmlns:a16="http://schemas.microsoft.com/office/drawing/2014/main" id="{EA4ABB3B-17BA-FA34-44FC-CE2BB6C8B1CC}"/>
              </a:ext>
            </a:extLst>
          </p:cNvPr>
          <p:cNvGrpSpPr>
            <a:grpSpLocks/>
          </p:cNvGrpSpPr>
          <p:nvPr/>
        </p:nvGrpSpPr>
        <p:grpSpPr bwMode="auto">
          <a:xfrm>
            <a:off x="5354638" y="4552950"/>
            <a:ext cx="3255962" cy="1695450"/>
            <a:chOff x="3133" y="3216"/>
            <a:chExt cx="2051" cy="1068"/>
          </a:xfrm>
        </p:grpSpPr>
        <p:sp>
          <p:nvSpPr>
            <p:cNvPr id="524345" name="Oval 57">
              <a:extLst>
                <a:ext uri="{FF2B5EF4-FFF2-40B4-BE49-F238E27FC236}">
                  <a16:creationId xmlns:a16="http://schemas.microsoft.com/office/drawing/2014/main" id="{1A8F70E1-4A8B-5E8C-B21B-AA51FFA082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216"/>
              <a:ext cx="816" cy="86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524346" name="Text Box 58">
              <a:extLst>
                <a:ext uri="{FF2B5EF4-FFF2-40B4-BE49-F238E27FC236}">
                  <a16:creationId xmlns:a16="http://schemas.microsoft.com/office/drawing/2014/main" id="{E9D33A2B-9A6D-66C5-53FA-F5423BEAAA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6" y="3264"/>
              <a:ext cx="3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vi-VN">
                  <a:latin typeface="Tahoma" panose="020B0604030504040204" pitchFamily="34" charset="0"/>
                </a:rPr>
                <a:t>"R"</a:t>
              </a:r>
            </a:p>
          </p:txBody>
        </p:sp>
        <p:sp>
          <p:nvSpPr>
            <p:cNvPr id="524347" name="Text Box 59">
              <a:extLst>
                <a:ext uri="{FF2B5EF4-FFF2-40B4-BE49-F238E27FC236}">
                  <a16:creationId xmlns:a16="http://schemas.microsoft.com/office/drawing/2014/main" id="{54DF2A69-2D97-DE3F-2231-E7C953AFF0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3" y="3504"/>
              <a:ext cx="33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vi-VN">
                  <a:latin typeface="Tahoma" panose="020B0604030504040204" pitchFamily="34" charset="0"/>
                </a:rPr>
                <a:t>"D"</a:t>
              </a:r>
            </a:p>
          </p:txBody>
        </p:sp>
        <p:sp>
          <p:nvSpPr>
            <p:cNvPr id="524348" name="Text Box 60">
              <a:extLst>
                <a:ext uri="{FF2B5EF4-FFF2-40B4-BE49-F238E27FC236}">
                  <a16:creationId xmlns:a16="http://schemas.microsoft.com/office/drawing/2014/main" id="{EB838A57-2BF4-1707-CD46-72FE68AE87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3801"/>
              <a:ext cx="28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vi-VN">
                  <a:latin typeface="Tahoma" panose="020B0604030504040204" pitchFamily="34" charset="0"/>
                </a:rPr>
                <a:t>"I"</a:t>
              </a:r>
            </a:p>
          </p:txBody>
        </p:sp>
        <p:sp>
          <p:nvSpPr>
            <p:cNvPr id="524349" name="Oval 61">
              <a:extLst>
                <a:ext uri="{FF2B5EF4-FFF2-40B4-BE49-F238E27FC236}">
                  <a16:creationId xmlns:a16="http://schemas.microsoft.com/office/drawing/2014/main" id="{AFF15893-6847-7E87-A3F8-D66EB9EA8C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3216"/>
              <a:ext cx="816" cy="86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524350" name="Text Box 62">
              <a:extLst>
                <a:ext uri="{FF2B5EF4-FFF2-40B4-BE49-F238E27FC236}">
                  <a16:creationId xmlns:a16="http://schemas.microsoft.com/office/drawing/2014/main" id="{C66555DA-F371-5C28-07EB-E192E73CE5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4" y="3801"/>
              <a:ext cx="27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vi-VN">
                  <a:latin typeface="Tahoma" panose="020B0604030504040204" pitchFamily="34" charset="0"/>
                </a:rPr>
                <a:t>15</a:t>
              </a:r>
            </a:p>
          </p:txBody>
        </p:sp>
        <p:sp>
          <p:nvSpPr>
            <p:cNvPr id="524351" name="Text Box 63">
              <a:extLst>
                <a:ext uri="{FF2B5EF4-FFF2-40B4-BE49-F238E27FC236}">
                  <a16:creationId xmlns:a16="http://schemas.microsoft.com/office/drawing/2014/main" id="{335489B4-4C37-C129-4DE1-4DCC093233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7" y="3552"/>
              <a:ext cx="19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vi-VN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524352" name="Text Box 64">
              <a:extLst>
                <a:ext uri="{FF2B5EF4-FFF2-40B4-BE49-F238E27FC236}">
                  <a16:creationId xmlns:a16="http://schemas.microsoft.com/office/drawing/2014/main" id="{8E4E2508-A994-4EA7-742F-6189409E31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3216"/>
              <a:ext cx="27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vi-VN">
                  <a:latin typeface="Tahoma" panose="020B0604030504040204" pitchFamily="34" charset="0"/>
                </a:rPr>
                <a:t>14</a:t>
              </a:r>
            </a:p>
          </p:txBody>
        </p:sp>
        <p:sp>
          <p:nvSpPr>
            <p:cNvPr id="524353" name="Line 65">
              <a:extLst>
                <a:ext uri="{FF2B5EF4-FFF2-40B4-BE49-F238E27FC236}">
                  <a16:creationId xmlns:a16="http://schemas.microsoft.com/office/drawing/2014/main" id="{4734B758-8F1D-07D7-5039-1763DC7078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3456"/>
              <a:ext cx="72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vi-VN"/>
            </a:p>
          </p:txBody>
        </p:sp>
        <p:sp>
          <p:nvSpPr>
            <p:cNvPr id="524354" name="Line 66">
              <a:extLst>
                <a:ext uri="{FF2B5EF4-FFF2-40B4-BE49-F238E27FC236}">
                  <a16:creationId xmlns:a16="http://schemas.microsoft.com/office/drawing/2014/main" id="{F1C24F1D-6B09-A491-B65D-398516F745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3360"/>
              <a:ext cx="12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vi-VN"/>
            </a:p>
          </p:txBody>
        </p:sp>
        <p:sp>
          <p:nvSpPr>
            <p:cNvPr id="524355" name="Line 67">
              <a:extLst>
                <a:ext uri="{FF2B5EF4-FFF2-40B4-BE49-F238E27FC236}">
                  <a16:creationId xmlns:a16="http://schemas.microsoft.com/office/drawing/2014/main" id="{21144B39-FAED-5049-332D-5001B97DB9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4" y="3696"/>
              <a:ext cx="105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vi-VN"/>
            </a:p>
          </p:txBody>
        </p:sp>
        <p:sp>
          <p:nvSpPr>
            <p:cNvPr id="524356" name="Text Box 68">
              <a:extLst>
                <a:ext uri="{FF2B5EF4-FFF2-40B4-BE49-F238E27FC236}">
                  <a16:creationId xmlns:a16="http://schemas.microsoft.com/office/drawing/2014/main" id="{43555D70-B14E-C38B-9274-B1CDCD7F22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4" y="4052"/>
              <a:ext cx="4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vi-VN">
                  <a:latin typeface="Tahoma" panose="020B0604030504040204" pitchFamily="34" charset="0"/>
                </a:rPr>
                <a:t>keys</a:t>
              </a:r>
            </a:p>
          </p:txBody>
        </p:sp>
        <p:sp>
          <p:nvSpPr>
            <p:cNvPr id="524357" name="Text Box 69">
              <a:extLst>
                <a:ext uri="{FF2B5EF4-FFF2-40B4-BE49-F238E27FC236}">
                  <a16:creationId xmlns:a16="http://schemas.microsoft.com/office/drawing/2014/main" id="{DBC38E97-A100-97E3-DB94-A8EB32FAB7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3" y="4053"/>
              <a:ext cx="51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vi-VN">
                  <a:latin typeface="Tahoma" panose="020B0604030504040204" pitchFamily="34" charset="0"/>
                </a:rPr>
                <a:t>values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14" name="Rectangle 2">
            <a:extLst>
              <a:ext uri="{FF2B5EF4-FFF2-40B4-BE49-F238E27FC236}">
                <a16:creationId xmlns:a16="http://schemas.microsoft.com/office/drawing/2014/main" id="{828B37EA-2C87-D357-D5A2-D1D5F8B734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>
                <a:latin typeface="Courier New" panose="02070309020205020404" pitchFamily="49" charset="0"/>
              </a:rPr>
              <a:t>Map</a:t>
            </a:r>
            <a:r>
              <a:rPr lang="en-US" altLang="vi-VN"/>
              <a:t> implementation</a:t>
            </a:r>
          </a:p>
        </p:txBody>
      </p:sp>
      <p:sp>
        <p:nvSpPr>
          <p:cNvPr id="525315" name="Rectangle 3">
            <a:extLst>
              <a:ext uri="{FF2B5EF4-FFF2-40B4-BE49-F238E27FC236}">
                <a16:creationId xmlns:a16="http://schemas.microsoft.com/office/drawing/2014/main" id="{A7813AC0-0607-DA7A-756F-2B714469ED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r>
              <a:rPr lang="en-US" altLang="vi-VN">
                <a:solidFill>
                  <a:srgbClr val="262626"/>
                </a:solidFill>
              </a:rPr>
              <a:t>in Java, maps are represented by </a:t>
            </a: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Map</a:t>
            </a:r>
            <a:r>
              <a:rPr lang="en-US" altLang="vi-VN">
                <a:solidFill>
                  <a:srgbClr val="262626"/>
                </a:solidFill>
              </a:rPr>
              <a:t> interface in </a:t>
            </a: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java.util</a:t>
            </a:r>
          </a:p>
          <a:p>
            <a:pPr lvl="1"/>
            <a:endParaRPr lang="en-US" altLang="vi-VN" sz="200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Map</a:t>
            </a:r>
            <a:r>
              <a:rPr lang="en-US" altLang="vi-VN">
                <a:solidFill>
                  <a:srgbClr val="262626"/>
                </a:solidFill>
              </a:rPr>
              <a:t> is implemented by the </a:t>
            </a: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HashMap</a:t>
            </a:r>
            <a:r>
              <a:rPr lang="en-US" altLang="vi-VN">
                <a:solidFill>
                  <a:srgbClr val="262626"/>
                </a:solidFill>
              </a:rPr>
              <a:t> and </a:t>
            </a: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TreeMap</a:t>
            </a:r>
            <a:r>
              <a:rPr lang="en-US" altLang="vi-VN">
                <a:solidFill>
                  <a:srgbClr val="262626"/>
                </a:solidFill>
              </a:rPr>
              <a:t> classes</a:t>
            </a:r>
            <a:endParaRPr lang="en-US" altLang="vi-VN">
              <a:solidFill>
                <a:srgbClr val="262626"/>
              </a:solidFill>
              <a:latin typeface="Courier New" panose="02070309020205020404" pitchFamily="49" charset="0"/>
            </a:endParaRPr>
          </a:p>
          <a:p>
            <a:pPr lvl="2"/>
            <a:endParaRPr lang="en-US" altLang="vi-VN" sz="800">
              <a:latin typeface="Courier New" panose="02070309020205020404" pitchFamily="49" charset="0"/>
            </a:endParaRPr>
          </a:p>
          <a:p>
            <a:pPr lvl="1"/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HashMap</a:t>
            </a:r>
            <a:r>
              <a:rPr lang="en-US" altLang="vi-VN">
                <a:solidFill>
                  <a:srgbClr val="404040"/>
                </a:solidFill>
              </a:rPr>
              <a:t>: implemented using an array called a "hash table";</a:t>
            </a:r>
            <a:br>
              <a:rPr lang="en-US" altLang="vi-VN">
                <a:solidFill>
                  <a:srgbClr val="404040"/>
                </a:solidFill>
              </a:rPr>
            </a:br>
            <a:r>
              <a:rPr lang="en-US" altLang="vi-VN">
                <a:solidFill>
                  <a:srgbClr val="404040"/>
                </a:solidFill>
              </a:rPr>
              <a:t>extremely fast: O(1) ; keys are stored in unpredictable order</a:t>
            </a:r>
            <a:br>
              <a:rPr lang="en-US" altLang="vi-VN">
                <a:solidFill>
                  <a:srgbClr val="404040"/>
                </a:solidFill>
              </a:rPr>
            </a:br>
            <a:endParaRPr lang="en-US" altLang="vi-VN" sz="800">
              <a:solidFill>
                <a:srgbClr val="404040"/>
              </a:solidFill>
            </a:endParaRPr>
          </a:p>
          <a:p>
            <a:pPr lvl="1"/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TreeMap</a:t>
            </a:r>
            <a:r>
              <a:rPr lang="en-US" altLang="vi-VN">
                <a:solidFill>
                  <a:srgbClr val="404040"/>
                </a:solidFill>
              </a:rPr>
              <a:t>: implemented as a linked "binary tree" structure;</a:t>
            </a:r>
            <a:br>
              <a:rPr lang="en-US" altLang="vi-VN">
                <a:solidFill>
                  <a:srgbClr val="404040"/>
                </a:solidFill>
              </a:rPr>
            </a:br>
            <a:r>
              <a:rPr lang="en-US" altLang="vi-VN">
                <a:solidFill>
                  <a:srgbClr val="404040"/>
                </a:solidFill>
              </a:rPr>
              <a:t>very fast: O(log N) ; keys are stored in sorted order</a:t>
            </a:r>
          </a:p>
          <a:p>
            <a:pPr lvl="1"/>
            <a:endParaRPr lang="en-US" altLang="vi-VN">
              <a:solidFill>
                <a:srgbClr val="404040"/>
              </a:solidFill>
            </a:endParaRPr>
          </a:p>
          <a:p>
            <a:pPr lvl="1"/>
            <a:r>
              <a:rPr lang="en-US" altLang="vi-VN">
                <a:solidFill>
                  <a:srgbClr val="404040"/>
                </a:solidFill>
              </a:rPr>
              <a:t>A map requires 2 type parameters: one for keys, one for values.</a:t>
            </a:r>
          </a:p>
          <a:p>
            <a:pPr lvl="1"/>
            <a:endParaRPr lang="en-US" altLang="vi-VN">
              <a:solidFill>
                <a:srgbClr val="404040"/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vi-VN" sz="1900">
                <a:solidFill>
                  <a:srgbClr val="008000"/>
                </a:solidFill>
                <a:latin typeface="Courier New" panose="02070309020205020404" pitchFamily="49" charset="0"/>
              </a:rPr>
              <a:t>// maps from String keys to Integer values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vi-VN" sz="1900">
                <a:solidFill>
                  <a:srgbClr val="262626"/>
                </a:solidFill>
                <a:latin typeface="Courier New" panose="02070309020205020404" pitchFamily="49" charset="0"/>
              </a:rPr>
              <a:t>Map</a:t>
            </a:r>
            <a:r>
              <a:rPr lang="en-US" altLang="vi-VN" sz="1900" b="1">
                <a:solidFill>
                  <a:srgbClr val="262626"/>
                </a:solidFill>
                <a:latin typeface="Courier New" panose="02070309020205020404" pitchFamily="49" charset="0"/>
              </a:rPr>
              <a:t>&lt;String, Integer&gt;</a:t>
            </a:r>
            <a:r>
              <a:rPr lang="en-US" altLang="vi-VN" sz="1900">
                <a:solidFill>
                  <a:srgbClr val="262626"/>
                </a:solidFill>
                <a:latin typeface="Courier New" panose="02070309020205020404" pitchFamily="49" charset="0"/>
              </a:rPr>
              <a:t> votes = new HashMap</a:t>
            </a:r>
            <a:r>
              <a:rPr lang="en-US" altLang="vi-VN" sz="1900" b="1">
                <a:solidFill>
                  <a:srgbClr val="262626"/>
                </a:solidFill>
                <a:latin typeface="Courier New" panose="02070309020205020404" pitchFamily="49" charset="0"/>
              </a:rPr>
              <a:t>&lt;String, Integer&gt;</a:t>
            </a:r>
            <a:r>
              <a:rPr lang="en-US" altLang="vi-VN" sz="1900">
                <a:solidFill>
                  <a:srgbClr val="262626"/>
                </a:solidFill>
                <a:latin typeface="Courier New" panose="02070309020205020404" pitchFamily="49" charset="0"/>
              </a:rPr>
              <a:t>();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38" name="Rectangle 2">
            <a:extLst>
              <a:ext uri="{FF2B5EF4-FFF2-40B4-BE49-F238E27FC236}">
                <a16:creationId xmlns:a16="http://schemas.microsoft.com/office/drawing/2014/main" id="{492BC677-5C4B-EBB1-D74E-0437F23295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>
                <a:latin typeface="Courier New" panose="02070309020205020404" pitchFamily="49" charset="0"/>
              </a:rPr>
              <a:t>Map</a:t>
            </a:r>
            <a:r>
              <a:rPr lang="en-US" altLang="vi-VN"/>
              <a:t> methods</a:t>
            </a:r>
          </a:p>
        </p:txBody>
      </p:sp>
      <p:graphicFrame>
        <p:nvGraphicFramePr>
          <p:cNvPr id="526339" name="Group 3">
            <a:extLst>
              <a:ext uri="{FF2B5EF4-FFF2-40B4-BE49-F238E27FC236}">
                <a16:creationId xmlns:a16="http://schemas.microsoft.com/office/drawing/2014/main" id="{28B1B7B0-9BA4-9C04-0F67-359A2824EA5A}"/>
              </a:ext>
            </a:extLst>
          </p:cNvPr>
          <p:cNvGraphicFramePr>
            <a:graphicFrameLocks noGrp="1"/>
          </p:cNvGraphicFramePr>
          <p:nvPr/>
        </p:nvGraphicFramePr>
        <p:xfrm>
          <a:off x="128588" y="1320800"/>
          <a:ext cx="8891587" cy="3259456"/>
        </p:xfrm>
        <a:graphic>
          <a:graphicData uri="http://schemas.openxmlformats.org/drawingml/2006/table">
            <a:tbl>
              <a:tblPr/>
              <a:tblGrid>
                <a:gridCol w="2365375">
                  <a:extLst>
                    <a:ext uri="{9D8B030D-6E8A-4147-A177-3AD203B41FA5}">
                      <a16:colId xmlns:a16="http://schemas.microsoft.com/office/drawing/2014/main" val="2512791645"/>
                    </a:ext>
                  </a:extLst>
                </a:gridCol>
                <a:gridCol w="6526212">
                  <a:extLst>
                    <a:ext uri="{9D8B030D-6E8A-4147-A177-3AD203B41FA5}">
                      <a16:colId xmlns:a16="http://schemas.microsoft.com/office/drawing/2014/main" val="3488141610"/>
                    </a:ext>
                  </a:extLst>
                </a:gridCol>
              </a:tblGrid>
              <a:tr h="4064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put(</a:t>
                      </a:r>
                      <a:r>
                        <a:rPr kumimoji="0" lang="en-US" altLang="vi-V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key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0" lang="en-US" altLang="vi-V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adds a mapping from the given key to the given value;</a:t>
                      </a:r>
                      <a:b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if the key already exists, replaces its value with the given one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0398973"/>
                  </a:ext>
                </a:extLst>
              </a:tr>
              <a:tr h="1841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get(</a:t>
                      </a:r>
                      <a:r>
                        <a:rPr kumimoji="0" lang="en-US" altLang="vi-V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key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returns the value mapped to the given key (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null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if not found)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5382689"/>
                  </a:ext>
                </a:extLst>
              </a:tr>
              <a:tr h="1841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containsKey(</a:t>
                      </a:r>
                      <a:r>
                        <a:rPr kumimoji="0" lang="en-US" altLang="vi-V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key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returns 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if the map contains a mapping for the given key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6992832"/>
                  </a:ext>
                </a:extLst>
              </a:tr>
              <a:tr h="1841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remove(</a:t>
                      </a:r>
                      <a:r>
                        <a:rPr kumimoji="0" lang="en-US" altLang="vi-V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key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removes any existing mapping for the given key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1714234"/>
                  </a:ext>
                </a:extLst>
              </a:tr>
              <a:tr h="39528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clear()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removes all key/value pairs from the map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047297"/>
                  </a:ext>
                </a:extLst>
              </a:tr>
              <a:tr h="39528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size()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returns the number of key/value pairs in the map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533209"/>
                  </a:ext>
                </a:extLst>
              </a:tr>
              <a:tr h="17462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isEmpty()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returns 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if the map's size is 0</a:t>
                      </a:r>
                      <a:endParaRPr kumimoji="0" lang="en-US" altLang="vi-VN" sz="18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172309"/>
                  </a:ext>
                </a:extLst>
              </a:tr>
              <a:tr h="17462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toString()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returns a string such as 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"{a=90, d=60, c=70}"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844278"/>
                  </a:ext>
                </a:extLst>
              </a:tr>
            </a:tbl>
          </a:graphicData>
        </a:graphic>
      </p:graphicFrame>
      <p:graphicFrame>
        <p:nvGraphicFramePr>
          <p:cNvPr id="526368" name="Group 32">
            <a:extLst>
              <a:ext uri="{FF2B5EF4-FFF2-40B4-BE49-F238E27FC236}">
                <a16:creationId xmlns:a16="http://schemas.microsoft.com/office/drawing/2014/main" id="{7728F2D0-43D7-D1F2-73D2-569C8DCC2B4F}"/>
              </a:ext>
            </a:extLst>
          </p:cNvPr>
          <p:cNvGraphicFramePr>
            <a:graphicFrameLocks noGrp="1"/>
          </p:cNvGraphicFramePr>
          <p:nvPr/>
        </p:nvGraphicFramePr>
        <p:xfrm>
          <a:off x="131763" y="4816475"/>
          <a:ext cx="8888412" cy="1510030"/>
        </p:xfrm>
        <a:graphic>
          <a:graphicData uri="http://schemas.openxmlformats.org/drawingml/2006/table">
            <a:tbl>
              <a:tblPr/>
              <a:tblGrid>
                <a:gridCol w="2362200">
                  <a:extLst>
                    <a:ext uri="{9D8B030D-6E8A-4147-A177-3AD203B41FA5}">
                      <a16:colId xmlns:a16="http://schemas.microsoft.com/office/drawing/2014/main" val="3578884394"/>
                    </a:ext>
                  </a:extLst>
                </a:gridCol>
                <a:gridCol w="6526212">
                  <a:extLst>
                    <a:ext uri="{9D8B030D-6E8A-4147-A177-3AD203B41FA5}">
                      <a16:colId xmlns:a16="http://schemas.microsoft.com/office/drawing/2014/main" val="1122196222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keySet()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returns a set of all keys in the map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469657"/>
                  </a:ext>
                </a:extLst>
              </a:tr>
              <a:tr h="36512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values()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returns a collection of all values in the map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7379314"/>
                  </a:ext>
                </a:extLst>
              </a:tr>
              <a:tr h="4127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putAll(</a:t>
                      </a:r>
                      <a:r>
                        <a:rPr kumimoji="0" lang="en-US" altLang="vi-V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map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adds all key/value pairs from the given map to this map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8305126"/>
                  </a:ext>
                </a:extLst>
              </a:tr>
              <a:tr h="1841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equals(</a:t>
                      </a:r>
                      <a:r>
                        <a:rPr kumimoji="0" lang="en-US" altLang="vi-V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map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returns 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true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 if given map has the same mappings as this 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8463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>
            <a:extLst>
              <a:ext uri="{FF2B5EF4-FFF2-40B4-BE49-F238E27FC236}">
                <a16:creationId xmlns:a16="http://schemas.microsoft.com/office/drawing/2014/main" id="{EABF68C1-D7D6-8CCA-BCEE-A685B16727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/>
              <a:t>Using maps</a:t>
            </a:r>
          </a:p>
        </p:txBody>
      </p:sp>
      <p:sp>
        <p:nvSpPr>
          <p:cNvPr id="527363" name="Rectangle 3">
            <a:extLst>
              <a:ext uri="{FF2B5EF4-FFF2-40B4-BE49-F238E27FC236}">
                <a16:creationId xmlns:a16="http://schemas.microsoft.com/office/drawing/2014/main" id="{39013B8C-BF5A-6146-46B8-106FCA3168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r>
              <a:rPr lang="en-US" altLang="vi-VN">
                <a:solidFill>
                  <a:srgbClr val="262626"/>
                </a:solidFill>
              </a:rPr>
              <a:t>A map allows you to get from one half of a pair to the other.</a:t>
            </a:r>
          </a:p>
          <a:p>
            <a:pPr lvl="1"/>
            <a:r>
              <a:rPr lang="en-US" altLang="vi-VN">
                <a:solidFill>
                  <a:srgbClr val="404040"/>
                </a:solidFill>
              </a:rPr>
              <a:t>Remembers one piece of information about every index (key).</a:t>
            </a:r>
            <a:endParaRPr lang="en-US" altLang="vi-VN" i="1">
              <a:solidFill>
                <a:srgbClr val="404040"/>
              </a:solidFill>
            </a:endParaRPr>
          </a:p>
          <a:p>
            <a:pPr lvl="1">
              <a:lnSpc>
                <a:spcPct val="90000"/>
              </a:lnSpc>
            </a:pPr>
            <a:endParaRPr lang="en-US" altLang="vi-VN">
              <a:solidFill>
                <a:srgbClr val="404040"/>
              </a:solidFill>
            </a:endParaRPr>
          </a:p>
          <a:p>
            <a:pPr lvl="1">
              <a:lnSpc>
                <a:spcPct val="90000"/>
              </a:lnSpc>
            </a:pPr>
            <a:endParaRPr lang="en-US" altLang="vi-VN">
              <a:solidFill>
                <a:srgbClr val="404040"/>
              </a:solidFill>
            </a:endParaRPr>
          </a:p>
          <a:p>
            <a:pPr lvl="1">
              <a:lnSpc>
                <a:spcPct val="90000"/>
              </a:lnSpc>
            </a:pPr>
            <a:endParaRPr lang="en-US" altLang="vi-VN">
              <a:solidFill>
                <a:srgbClr val="404040"/>
              </a:solidFill>
            </a:endParaRPr>
          </a:p>
          <a:p>
            <a:pPr lvl="1">
              <a:lnSpc>
                <a:spcPct val="90000"/>
              </a:lnSpc>
            </a:pPr>
            <a:endParaRPr lang="en-US" altLang="vi-VN">
              <a:solidFill>
                <a:srgbClr val="404040"/>
              </a:solidFill>
            </a:endParaRPr>
          </a:p>
          <a:p>
            <a:pPr lvl="1">
              <a:lnSpc>
                <a:spcPct val="90000"/>
              </a:lnSpc>
            </a:pPr>
            <a:endParaRPr lang="en-US" altLang="vi-VN">
              <a:solidFill>
                <a:srgbClr val="404040"/>
              </a:solidFill>
            </a:endParaRPr>
          </a:p>
          <a:p>
            <a:pPr lvl="1"/>
            <a:r>
              <a:rPr lang="en-US" altLang="vi-VN">
                <a:solidFill>
                  <a:srgbClr val="404040"/>
                </a:solidFill>
              </a:rPr>
              <a:t>Later, we can supply only the key and get back the related value:</a:t>
            </a:r>
          </a:p>
          <a:p>
            <a:pPr lvl="2">
              <a:buFontTx/>
              <a:buNone/>
            </a:pPr>
            <a:r>
              <a:rPr lang="en-US" altLang="vi-VN" i="1"/>
              <a:t>	</a:t>
            </a:r>
            <a:r>
              <a:rPr lang="en-US" altLang="vi-VN"/>
              <a:t>Allows us to ask: </a:t>
            </a:r>
            <a:r>
              <a:rPr lang="en-US" altLang="vi-VN" i="1"/>
              <a:t>What is Joe's phone number?</a:t>
            </a:r>
          </a:p>
        </p:txBody>
      </p:sp>
      <p:sp>
        <p:nvSpPr>
          <p:cNvPr id="527364" name="Oval 4">
            <a:extLst>
              <a:ext uri="{FF2B5EF4-FFF2-40B4-BE49-F238E27FC236}">
                <a16:creationId xmlns:a16="http://schemas.microsoft.com/office/drawing/2014/main" id="{16601EFB-4B0E-07DF-F518-0432ED263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5181600"/>
            <a:ext cx="2209800" cy="9144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vi-VN"/>
              <a:t>Map</a:t>
            </a:r>
          </a:p>
        </p:txBody>
      </p:sp>
      <p:sp>
        <p:nvSpPr>
          <p:cNvPr id="527365" name="Line 5">
            <a:extLst>
              <a:ext uri="{FF2B5EF4-FFF2-40B4-BE49-F238E27FC236}">
                <a16:creationId xmlns:a16="http://schemas.microsoft.com/office/drawing/2014/main" id="{EC25000F-3AEA-8AAD-2F64-213350392FD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5451475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vi-VN"/>
          </a:p>
        </p:txBody>
      </p:sp>
      <p:sp>
        <p:nvSpPr>
          <p:cNvPr id="527366" name="Text Box 6">
            <a:extLst>
              <a:ext uri="{FF2B5EF4-FFF2-40B4-BE49-F238E27FC236}">
                <a16:creationId xmlns:a16="http://schemas.microsoft.com/office/drawing/2014/main" id="{74618F13-8190-D709-E2D6-E55ADE348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9800" y="5105400"/>
            <a:ext cx="1549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vi-VN">
                <a:latin typeface="Courier New" panose="02070309020205020404" pitchFamily="49" charset="0"/>
              </a:rPr>
              <a:t>get("Joe")</a:t>
            </a:r>
          </a:p>
        </p:txBody>
      </p:sp>
      <p:sp>
        <p:nvSpPr>
          <p:cNvPr id="527367" name="Text Box 7">
            <a:extLst>
              <a:ext uri="{FF2B5EF4-FFF2-40B4-BE49-F238E27FC236}">
                <a16:creationId xmlns:a16="http://schemas.microsoft.com/office/drawing/2014/main" id="{C5388BAB-2F61-9F95-0EE7-0CEE6CCC22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5805488"/>
            <a:ext cx="20955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vi-VN">
                <a:latin typeface="Courier New" panose="02070309020205020404" pitchFamily="49" charset="0"/>
              </a:rPr>
              <a:t>"206-685-2181"</a:t>
            </a:r>
          </a:p>
        </p:txBody>
      </p:sp>
      <p:sp>
        <p:nvSpPr>
          <p:cNvPr id="527368" name="Oval 8">
            <a:extLst>
              <a:ext uri="{FF2B5EF4-FFF2-40B4-BE49-F238E27FC236}">
                <a16:creationId xmlns:a16="http://schemas.microsoft.com/office/drawing/2014/main" id="{FA35254A-F41F-9C29-DEDF-97886D4FE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6050" y="2667000"/>
            <a:ext cx="2209800" cy="9144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vi-VN"/>
              <a:t>Map</a:t>
            </a:r>
          </a:p>
        </p:txBody>
      </p:sp>
      <p:sp>
        <p:nvSpPr>
          <p:cNvPr id="527369" name="Line 9">
            <a:extLst>
              <a:ext uri="{FF2B5EF4-FFF2-40B4-BE49-F238E27FC236}">
                <a16:creationId xmlns:a16="http://schemas.microsoft.com/office/drawing/2014/main" id="{14B598A9-0D58-C667-6635-1B5284126B9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3124200"/>
            <a:ext cx="40830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vi-VN"/>
          </a:p>
        </p:txBody>
      </p:sp>
      <p:sp>
        <p:nvSpPr>
          <p:cNvPr id="527370" name="Text Box 10">
            <a:extLst>
              <a:ext uri="{FF2B5EF4-FFF2-40B4-BE49-F238E27FC236}">
                <a16:creationId xmlns:a16="http://schemas.microsoft.com/office/drawing/2014/main" id="{E4E781EA-0DFD-33CA-D5E7-0B0ECFAE44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482850"/>
            <a:ext cx="3733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vi-VN">
                <a:solidFill>
                  <a:srgbClr val="008000"/>
                </a:solidFill>
                <a:latin typeface="Courier New" panose="02070309020205020404" pitchFamily="49" charset="0"/>
              </a:rPr>
              <a:t>//   key      value</a:t>
            </a:r>
          </a:p>
          <a:p>
            <a:pPr algn="l"/>
            <a:r>
              <a:rPr lang="en-US" altLang="vi-VN">
                <a:latin typeface="Courier New" panose="02070309020205020404" pitchFamily="49" charset="0"/>
              </a:rPr>
              <a:t>put("Joe", "206-685-2181")</a:t>
            </a:r>
          </a:p>
        </p:txBody>
      </p:sp>
      <p:sp>
        <p:nvSpPr>
          <p:cNvPr id="527371" name="Line 11">
            <a:extLst>
              <a:ext uri="{FF2B5EF4-FFF2-40B4-BE49-F238E27FC236}">
                <a16:creationId xmlns:a16="http://schemas.microsoft.com/office/drawing/2014/main" id="{5BFA59E4-CC02-93AD-88AF-0E81FE23749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5805488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vi-VN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386" name="Rectangle 2">
            <a:extLst>
              <a:ext uri="{FF2B5EF4-FFF2-40B4-BE49-F238E27FC236}">
                <a16:creationId xmlns:a16="http://schemas.microsoft.com/office/drawing/2014/main" id="{3358D847-994E-151D-6F00-CD2721D32E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/>
              <a:t>Maps vs. sets</a:t>
            </a:r>
          </a:p>
        </p:txBody>
      </p:sp>
      <p:sp>
        <p:nvSpPr>
          <p:cNvPr id="528387" name="Rectangle 3">
            <a:extLst>
              <a:ext uri="{FF2B5EF4-FFF2-40B4-BE49-F238E27FC236}">
                <a16:creationId xmlns:a16="http://schemas.microsoft.com/office/drawing/2014/main" id="{627E6897-2764-38DB-B580-4FDAE9C88A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r>
              <a:rPr lang="en-US" altLang="vi-VN">
                <a:solidFill>
                  <a:srgbClr val="262626"/>
                </a:solidFill>
              </a:rPr>
              <a:t>A set is like a map from elements to </a:t>
            </a: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boolean</a:t>
            </a:r>
            <a:r>
              <a:rPr lang="en-US" altLang="vi-VN">
                <a:solidFill>
                  <a:srgbClr val="262626"/>
                </a:solidFill>
              </a:rPr>
              <a:t> values.</a:t>
            </a:r>
          </a:p>
          <a:p>
            <a:pPr lvl="1"/>
            <a:r>
              <a:rPr lang="en-US" altLang="vi-VN" i="1">
                <a:solidFill>
                  <a:srgbClr val="404040"/>
                </a:solidFill>
              </a:rPr>
              <a:t>Set:  Is Joe found in the set? (true/false)</a:t>
            </a:r>
          </a:p>
          <a:p>
            <a:pPr lvl="1">
              <a:lnSpc>
                <a:spcPct val="90000"/>
              </a:lnSpc>
            </a:pPr>
            <a:endParaRPr lang="en-US" altLang="vi-VN">
              <a:solidFill>
                <a:srgbClr val="404040"/>
              </a:solidFill>
            </a:endParaRPr>
          </a:p>
          <a:p>
            <a:pPr lvl="1">
              <a:lnSpc>
                <a:spcPct val="90000"/>
              </a:lnSpc>
            </a:pPr>
            <a:endParaRPr lang="en-US" altLang="vi-VN">
              <a:solidFill>
                <a:srgbClr val="404040"/>
              </a:solidFill>
            </a:endParaRPr>
          </a:p>
          <a:p>
            <a:pPr lvl="1">
              <a:lnSpc>
                <a:spcPct val="90000"/>
              </a:lnSpc>
            </a:pPr>
            <a:endParaRPr lang="en-US" altLang="vi-VN">
              <a:solidFill>
                <a:srgbClr val="404040"/>
              </a:solidFill>
            </a:endParaRPr>
          </a:p>
          <a:p>
            <a:pPr lvl="1">
              <a:lnSpc>
                <a:spcPct val="90000"/>
              </a:lnSpc>
            </a:pPr>
            <a:endParaRPr lang="en-US" altLang="vi-VN">
              <a:solidFill>
                <a:srgbClr val="404040"/>
              </a:solidFill>
            </a:endParaRPr>
          </a:p>
          <a:p>
            <a:pPr lvl="1">
              <a:lnSpc>
                <a:spcPct val="90000"/>
              </a:lnSpc>
            </a:pPr>
            <a:endParaRPr lang="en-US" altLang="vi-VN">
              <a:solidFill>
                <a:srgbClr val="404040"/>
              </a:solidFill>
            </a:endParaRPr>
          </a:p>
          <a:p>
            <a:pPr lvl="1">
              <a:lnSpc>
                <a:spcPct val="90000"/>
              </a:lnSpc>
            </a:pPr>
            <a:endParaRPr lang="en-US" altLang="vi-VN">
              <a:solidFill>
                <a:srgbClr val="404040"/>
              </a:solidFill>
            </a:endParaRPr>
          </a:p>
          <a:p>
            <a:pPr lvl="1"/>
            <a:r>
              <a:rPr lang="en-US" altLang="vi-VN" i="1">
                <a:solidFill>
                  <a:srgbClr val="404040"/>
                </a:solidFill>
              </a:rPr>
              <a:t>Map:  What is Joe's phone number?</a:t>
            </a:r>
          </a:p>
        </p:txBody>
      </p:sp>
      <p:sp>
        <p:nvSpPr>
          <p:cNvPr id="528388" name="Oval 4">
            <a:extLst>
              <a:ext uri="{FF2B5EF4-FFF2-40B4-BE49-F238E27FC236}">
                <a16:creationId xmlns:a16="http://schemas.microsoft.com/office/drawing/2014/main" id="{98CB6838-4908-D212-92C8-C3AB48DF5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438400"/>
            <a:ext cx="2209800" cy="9144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vi-VN"/>
              <a:t>Set</a:t>
            </a:r>
          </a:p>
        </p:txBody>
      </p:sp>
      <p:sp>
        <p:nvSpPr>
          <p:cNvPr id="528389" name="Line 5">
            <a:extLst>
              <a:ext uri="{FF2B5EF4-FFF2-40B4-BE49-F238E27FC236}">
                <a16:creationId xmlns:a16="http://schemas.microsoft.com/office/drawing/2014/main" id="{41B9E681-9A03-6C8B-8137-F940C58C6C6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28956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vi-VN"/>
          </a:p>
        </p:txBody>
      </p:sp>
      <p:sp>
        <p:nvSpPr>
          <p:cNvPr id="528390" name="Text Box 6">
            <a:extLst>
              <a:ext uri="{FF2B5EF4-FFF2-40B4-BE49-F238E27FC236}">
                <a16:creationId xmlns:a16="http://schemas.microsoft.com/office/drawing/2014/main" id="{F5D32EF6-BBC0-E427-8605-2083DB276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1225" y="2473325"/>
            <a:ext cx="8667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vi-VN">
                <a:latin typeface="Courier New" panose="02070309020205020404" pitchFamily="49" charset="0"/>
              </a:rPr>
              <a:t>"Joe"</a:t>
            </a:r>
          </a:p>
        </p:txBody>
      </p:sp>
      <p:sp>
        <p:nvSpPr>
          <p:cNvPr id="528391" name="Line 7">
            <a:extLst>
              <a:ext uri="{FF2B5EF4-FFF2-40B4-BE49-F238E27FC236}">
                <a16:creationId xmlns:a16="http://schemas.microsoft.com/office/drawing/2014/main" id="{1DEE5BFF-C62E-2E89-380C-F5EC70FFAB9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28956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vi-VN"/>
          </a:p>
        </p:txBody>
      </p:sp>
      <p:sp>
        <p:nvSpPr>
          <p:cNvPr id="528392" name="Text Box 8">
            <a:extLst>
              <a:ext uri="{FF2B5EF4-FFF2-40B4-BE49-F238E27FC236}">
                <a16:creationId xmlns:a16="http://schemas.microsoft.com/office/drawing/2014/main" id="{567A229D-EA02-FE82-3C34-C1556FF99E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2325" y="2478088"/>
            <a:ext cx="730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vi-VN">
                <a:latin typeface="Courier New" panose="02070309020205020404" pitchFamily="49" charset="0"/>
              </a:rPr>
              <a:t>true</a:t>
            </a:r>
          </a:p>
        </p:txBody>
      </p:sp>
      <p:sp>
        <p:nvSpPr>
          <p:cNvPr id="528393" name="Text Box 9">
            <a:extLst>
              <a:ext uri="{FF2B5EF4-FFF2-40B4-BE49-F238E27FC236}">
                <a16:creationId xmlns:a16="http://schemas.microsoft.com/office/drawing/2014/main" id="{56289469-FC72-D546-CF36-D535E3C01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8825" y="2935288"/>
            <a:ext cx="8667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vi-VN">
                <a:latin typeface="Courier New" panose="02070309020205020404" pitchFamily="49" charset="0"/>
              </a:rPr>
              <a:t>false</a:t>
            </a:r>
          </a:p>
        </p:txBody>
      </p:sp>
      <p:sp>
        <p:nvSpPr>
          <p:cNvPr id="528394" name="Oval 10">
            <a:extLst>
              <a:ext uri="{FF2B5EF4-FFF2-40B4-BE49-F238E27FC236}">
                <a16:creationId xmlns:a16="http://schemas.microsoft.com/office/drawing/2014/main" id="{2FAD9351-9755-7E67-A8E4-8F61749A5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953000"/>
            <a:ext cx="2209800" cy="9144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vi-VN"/>
              <a:t>Map</a:t>
            </a:r>
          </a:p>
        </p:txBody>
      </p:sp>
      <p:sp>
        <p:nvSpPr>
          <p:cNvPr id="528395" name="Line 11">
            <a:extLst>
              <a:ext uri="{FF2B5EF4-FFF2-40B4-BE49-F238E27FC236}">
                <a16:creationId xmlns:a16="http://schemas.microsoft.com/office/drawing/2014/main" id="{7FF7CC55-2048-C886-243F-1EBF9A7E9F0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54102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vi-VN"/>
          </a:p>
        </p:txBody>
      </p:sp>
      <p:sp>
        <p:nvSpPr>
          <p:cNvPr id="528396" name="Text Box 12">
            <a:extLst>
              <a:ext uri="{FF2B5EF4-FFF2-40B4-BE49-F238E27FC236}">
                <a16:creationId xmlns:a16="http://schemas.microsoft.com/office/drawing/2014/main" id="{F642B808-178E-A835-5039-18226A0BC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1225" y="4987925"/>
            <a:ext cx="8667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vi-VN">
                <a:latin typeface="Courier New" panose="02070309020205020404" pitchFamily="49" charset="0"/>
              </a:rPr>
              <a:t>"Joe"</a:t>
            </a:r>
          </a:p>
        </p:txBody>
      </p:sp>
      <p:sp>
        <p:nvSpPr>
          <p:cNvPr id="528397" name="Line 13">
            <a:extLst>
              <a:ext uri="{FF2B5EF4-FFF2-40B4-BE49-F238E27FC236}">
                <a16:creationId xmlns:a16="http://schemas.microsoft.com/office/drawing/2014/main" id="{4CE591E8-D397-6DA4-58C0-E0E4E5A04EB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5410200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vi-VN"/>
          </a:p>
        </p:txBody>
      </p:sp>
      <p:sp>
        <p:nvSpPr>
          <p:cNvPr id="528398" name="Text Box 14">
            <a:extLst>
              <a:ext uri="{FF2B5EF4-FFF2-40B4-BE49-F238E27FC236}">
                <a16:creationId xmlns:a16="http://schemas.microsoft.com/office/drawing/2014/main" id="{DDE33CF2-7E70-AB14-57C1-7FFCDC5359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0700" y="4992688"/>
            <a:ext cx="20955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vi-VN">
                <a:latin typeface="Courier New" panose="02070309020205020404" pitchFamily="49" charset="0"/>
              </a:rPr>
              <a:t>"206-685-2181"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2">
            <a:extLst>
              <a:ext uri="{FF2B5EF4-FFF2-40B4-BE49-F238E27FC236}">
                <a16:creationId xmlns:a16="http://schemas.microsoft.com/office/drawing/2014/main" id="{D39820C6-5514-6CCA-4976-3BEDE23C72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>
                <a:latin typeface="Courier New" panose="02070309020205020404" pitchFamily="49" charset="0"/>
              </a:rPr>
              <a:t>keySet</a:t>
            </a:r>
            <a:r>
              <a:rPr lang="en-US" altLang="vi-VN"/>
              <a:t> and </a:t>
            </a:r>
            <a:r>
              <a:rPr lang="en-US" altLang="vi-VN">
                <a:latin typeface="Courier New" panose="02070309020205020404" pitchFamily="49" charset="0"/>
              </a:rPr>
              <a:t>values</a:t>
            </a:r>
          </a:p>
        </p:txBody>
      </p:sp>
      <p:sp>
        <p:nvSpPr>
          <p:cNvPr id="529411" name="Rectangle 3">
            <a:extLst>
              <a:ext uri="{FF2B5EF4-FFF2-40B4-BE49-F238E27FC236}">
                <a16:creationId xmlns:a16="http://schemas.microsoft.com/office/drawing/2014/main" id="{D9A335B4-D913-2E89-F0C9-623D5EC38E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keySet</a:t>
            </a:r>
            <a:r>
              <a:rPr lang="en-US" altLang="vi-VN">
                <a:solidFill>
                  <a:srgbClr val="262626"/>
                </a:solidFill>
              </a:rPr>
              <a:t> method returns </a:t>
            </a: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Set</a:t>
            </a:r>
            <a:r>
              <a:rPr lang="en-US" altLang="vi-VN">
                <a:solidFill>
                  <a:srgbClr val="262626"/>
                </a:solidFill>
              </a:rPr>
              <a:t> of all keys in map</a:t>
            </a:r>
          </a:p>
          <a:p>
            <a:pPr lvl="1"/>
            <a:r>
              <a:rPr lang="en-US" altLang="vi-VN">
                <a:solidFill>
                  <a:srgbClr val="404040"/>
                </a:solidFill>
              </a:rPr>
              <a:t>can loop over the keys in a foreach loop</a:t>
            </a:r>
          </a:p>
          <a:p>
            <a:pPr lvl="1"/>
            <a:r>
              <a:rPr lang="en-US" altLang="vi-VN">
                <a:solidFill>
                  <a:srgbClr val="404040"/>
                </a:solidFill>
              </a:rPr>
              <a:t>can get each key's associated value by calling 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get</a:t>
            </a:r>
            <a:r>
              <a:rPr lang="en-US" altLang="vi-VN">
                <a:solidFill>
                  <a:srgbClr val="404040"/>
                </a:solidFill>
              </a:rPr>
              <a:t> on the map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endParaRPr lang="en-US" altLang="vi-VN" sz="100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vi-VN" sz="1800">
                <a:solidFill>
                  <a:srgbClr val="404040"/>
                </a:solidFill>
                <a:latin typeface="Courier New" panose="02070309020205020404" pitchFamily="49" charset="0"/>
              </a:rPr>
              <a:t>Map&lt;String, Integer&gt; ages = new TreeMap&lt;String, Integer&gt;();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vi-VN" sz="1800">
                <a:solidFill>
                  <a:srgbClr val="404040"/>
                </a:solidFill>
                <a:latin typeface="Courier New" panose="02070309020205020404" pitchFamily="49" charset="0"/>
              </a:rPr>
              <a:t>ages.put("Joe", 57);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vi-VN" sz="1800">
                <a:solidFill>
                  <a:srgbClr val="404040"/>
                </a:solidFill>
                <a:latin typeface="Courier New" panose="02070309020205020404" pitchFamily="49" charset="0"/>
              </a:rPr>
              <a:t>ages.put("Geneva", 2);  </a:t>
            </a:r>
            <a:r>
              <a:rPr lang="en-US" altLang="vi-VN" sz="1800">
                <a:solidFill>
                  <a:srgbClr val="008000"/>
                </a:solidFill>
                <a:latin typeface="Courier New" panose="02070309020205020404" pitchFamily="49" charset="0"/>
              </a:rPr>
              <a:t>// ages.keySet() returns Set&lt;String&gt;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vi-VN" sz="1800">
                <a:solidFill>
                  <a:srgbClr val="404040"/>
                </a:solidFill>
                <a:latin typeface="Courier New" panose="02070309020205020404" pitchFamily="49" charset="0"/>
              </a:rPr>
              <a:t>ages.put("Vicki", 19);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vi-VN" sz="1800">
                <a:solidFill>
                  <a:srgbClr val="404040"/>
                </a:solidFill>
                <a:latin typeface="Courier New" panose="02070309020205020404" pitchFamily="49" charset="0"/>
              </a:rPr>
              <a:t>for (String name : </a:t>
            </a:r>
            <a:r>
              <a:rPr lang="en-US" altLang="vi-VN" sz="1800" b="1">
                <a:solidFill>
                  <a:srgbClr val="404040"/>
                </a:solidFill>
                <a:latin typeface="Courier New" panose="02070309020205020404" pitchFamily="49" charset="0"/>
              </a:rPr>
              <a:t>ages.keySet()</a:t>
            </a:r>
            <a:r>
              <a:rPr lang="en-US" altLang="vi-VN" sz="1800">
                <a:solidFill>
                  <a:srgbClr val="404040"/>
                </a:solidFill>
                <a:latin typeface="Courier New" panose="02070309020205020404" pitchFamily="49" charset="0"/>
              </a:rPr>
              <a:t>) {          </a:t>
            </a:r>
            <a:r>
              <a:rPr lang="en-US" altLang="vi-VN" sz="1800">
                <a:solidFill>
                  <a:srgbClr val="008000"/>
                </a:solidFill>
                <a:latin typeface="Courier New" panose="02070309020205020404" pitchFamily="49" charset="0"/>
              </a:rPr>
              <a:t>// Geneva -&gt; 2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vi-VN" sz="1800">
                <a:solidFill>
                  <a:srgbClr val="404040"/>
                </a:solidFill>
                <a:latin typeface="Courier New" panose="02070309020205020404" pitchFamily="49" charset="0"/>
              </a:rPr>
              <a:t>    int age = </a:t>
            </a:r>
            <a:r>
              <a:rPr lang="en-US" altLang="vi-VN" sz="1800" b="1">
                <a:solidFill>
                  <a:srgbClr val="404040"/>
                </a:solidFill>
                <a:latin typeface="Courier New" panose="02070309020205020404" pitchFamily="49" charset="0"/>
              </a:rPr>
              <a:t>ages.get(name)</a:t>
            </a:r>
            <a:r>
              <a:rPr lang="en-US" altLang="vi-VN" sz="1800">
                <a:solidFill>
                  <a:srgbClr val="404040"/>
                </a:solidFill>
                <a:latin typeface="Courier New" panose="02070309020205020404" pitchFamily="49" charset="0"/>
              </a:rPr>
              <a:t>;                </a:t>
            </a:r>
            <a:r>
              <a:rPr lang="en-US" altLang="vi-VN" sz="1800">
                <a:solidFill>
                  <a:srgbClr val="008000"/>
                </a:solidFill>
                <a:latin typeface="Courier New" panose="02070309020205020404" pitchFamily="49" charset="0"/>
              </a:rPr>
              <a:t>// Joe -&gt; 57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vi-VN" sz="1800">
                <a:solidFill>
                  <a:srgbClr val="404040"/>
                </a:solidFill>
                <a:latin typeface="Courier New" panose="02070309020205020404" pitchFamily="49" charset="0"/>
              </a:rPr>
              <a:t>    System.out.println(name + " -&gt; " + age); </a:t>
            </a:r>
            <a:r>
              <a:rPr lang="en-US" altLang="vi-VN" sz="1800">
                <a:solidFill>
                  <a:srgbClr val="008000"/>
                </a:solidFill>
                <a:latin typeface="Courier New" panose="02070309020205020404" pitchFamily="49" charset="0"/>
              </a:rPr>
              <a:t>// Vicki -&gt; 19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vi-VN" sz="1800">
                <a:solidFill>
                  <a:srgbClr val="404040"/>
                </a:solidFill>
                <a:latin typeface="Courier New" panose="02070309020205020404" pitchFamily="49" charset="0"/>
              </a:rPr>
              <a:t>}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endParaRPr lang="en-US" altLang="vi-VN" sz="100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values</a:t>
            </a:r>
            <a:r>
              <a:rPr lang="en-US" altLang="vi-VN">
                <a:solidFill>
                  <a:srgbClr val="262626"/>
                </a:solidFill>
              </a:rPr>
              <a:t> method returns </a:t>
            </a: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Collection</a:t>
            </a:r>
            <a:r>
              <a:rPr lang="en-US" altLang="vi-VN">
                <a:solidFill>
                  <a:srgbClr val="262626"/>
                </a:solidFill>
              </a:rPr>
              <a:t> of all values in map</a:t>
            </a:r>
          </a:p>
          <a:p>
            <a:pPr lvl="1"/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ages.values()</a:t>
            </a:r>
            <a:r>
              <a:rPr lang="en-US" altLang="vi-VN">
                <a:solidFill>
                  <a:srgbClr val="404040"/>
                </a:solidFill>
              </a:rPr>
              <a:t> above returns 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[2, 57, 19]</a:t>
            </a:r>
          </a:p>
          <a:p>
            <a:pPr lvl="1"/>
            <a:r>
              <a:rPr lang="en-US" altLang="vi-VN">
                <a:solidFill>
                  <a:srgbClr val="404040"/>
                </a:solidFill>
              </a:rPr>
              <a:t>can loop over the values with a for-each loop</a:t>
            </a:r>
          </a:p>
          <a:p>
            <a:pPr lvl="1"/>
            <a:r>
              <a:rPr lang="en-US" altLang="vi-VN">
                <a:solidFill>
                  <a:srgbClr val="404040"/>
                </a:solidFill>
              </a:rPr>
              <a:t>no easy way to get from a value back to its associated key(s)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294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294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294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294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890" name="Rectangle 2">
            <a:extLst>
              <a:ext uri="{FF2B5EF4-FFF2-40B4-BE49-F238E27FC236}">
                <a16:creationId xmlns:a16="http://schemas.microsoft.com/office/drawing/2014/main" id="{C41B73B4-CA88-8E0E-95B8-039E3D1223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/>
              <a:t>Collections summary</a:t>
            </a:r>
          </a:p>
        </p:txBody>
      </p:sp>
      <p:sp>
        <p:nvSpPr>
          <p:cNvPr id="549891" name="Rectangle 3">
            <a:extLst>
              <a:ext uri="{FF2B5EF4-FFF2-40B4-BE49-F238E27FC236}">
                <a16:creationId xmlns:a16="http://schemas.microsoft.com/office/drawing/2014/main" id="{57CA1461-B713-88BE-718D-756675C9C0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endParaRPr lang="en-US" altLang="vi-VN">
              <a:solidFill>
                <a:srgbClr val="262626"/>
              </a:solidFill>
            </a:endParaRPr>
          </a:p>
          <a:p>
            <a:endParaRPr lang="en-US" altLang="vi-VN">
              <a:solidFill>
                <a:srgbClr val="262626"/>
              </a:solidFill>
            </a:endParaRPr>
          </a:p>
          <a:p>
            <a:endParaRPr lang="en-US" altLang="vi-VN">
              <a:solidFill>
                <a:srgbClr val="262626"/>
              </a:solidFill>
            </a:endParaRPr>
          </a:p>
          <a:p>
            <a:endParaRPr lang="en-US" altLang="vi-VN">
              <a:solidFill>
                <a:srgbClr val="262626"/>
              </a:solidFill>
            </a:endParaRPr>
          </a:p>
          <a:p>
            <a:pPr lvl="1"/>
            <a:endParaRPr lang="en-US" altLang="vi-VN">
              <a:solidFill>
                <a:srgbClr val="404040"/>
              </a:solidFill>
            </a:endParaRPr>
          </a:p>
          <a:p>
            <a:pPr lvl="1"/>
            <a:endParaRPr lang="en-US" altLang="vi-VN">
              <a:solidFill>
                <a:srgbClr val="404040"/>
              </a:solidFill>
            </a:endParaRPr>
          </a:p>
          <a:p>
            <a:pPr lvl="1"/>
            <a:endParaRPr lang="en-US" altLang="vi-VN">
              <a:solidFill>
                <a:srgbClr val="404040"/>
              </a:solidFill>
            </a:endParaRPr>
          </a:p>
          <a:p>
            <a:pPr lvl="1"/>
            <a:endParaRPr lang="en-US" altLang="vi-VN">
              <a:solidFill>
                <a:srgbClr val="404040"/>
              </a:solidFill>
            </a:endParaRPr>
          </a:p>
          <a:p>
            <a:pPr lvl="1"/>
            <a:endParaRPr lang="en-US" altLang="vi-VN">
              <a:solidFill>
                <a:srgbClr val="404040"/>
              </a:solidFill>
            </a:endParaRPr>
          </a:p>
          <a:p>
            <a:pPr lvl="1"/>
            <a:endParaRPr lang="en-US" altLang="vi-VN">
              <a:solidFill>
                <a:srgbClr val="404040"/>
              </a:solidFill>
            </a:endParaRPr>
          </a:p>
          <a:p>
            <a:pPr lvl="1"/>
            <a:endParaRPr lang="en-US" altLang="vi-VN">
              <a:solidFill>
                <a:srgbClr val="404040"/>
              </a:solidFill>
            </a:endParaRPr>
          </a:p>
          <a:p>
            <a:pPr lvl="1"/>
            <a:r>
              <a:rPr lang="en-US" altLang="vi-VN">
                <a:solidFill>
                  <a:srgbClr val="404040"/>
                </a:solidFill>
              </a:rPr>
              <a:t>It is important to be able to choose a collection properly based on the capabilities needed and constraints of the problem to solve.</a:t>
            </a:r>
          </a:p>
        </p:txBody>
      </p:sp>
      <p:graphicFrame>
        <p:nvGraphicFramePr>
          <p:cNvPr id="549892" name="Group 4">
            <a:extLst>
              <a:ext uri="{FF2B5EF4-FFF2-40B4-BE49-F238E27FC236}">
                <a16:creationId xmlns:a16="http://schemas.microsoft.com/office/drawing/2014/main" id="{46D7168D-4AC5-A0B1-15FD-102DCDF1263D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295400"/>
          <a:ext cx="8853488" cy="4537710"/>
        </p:xfrm>
        <a:graphic>
          <a:graphicData uri="http://schemas.openxmlformats.org/drawingml/2006/table">
            <a:tbl>
              <a:tblPr/>
              <a:tblGrid>
                <a:gridCol w="2239963">
                  <a:extLst>
                    <a:ext uri="{9D8B030D-6E8A-4147-A177-3AD203B41FA5}">
                      <a16:colId xmlns:a16="http://schemas.microsoft.com/office/drawing/2014/main" val="3256824276"/>
                    </a:ext>
                  </a:extLst>
                </a:gridCol>
                <a:gridCol w="2205037">
                  <a:extLst>
                    <a:ext uri="{9D8B030D-6E8A-4147-A177-3AD203B41FA5}">
                      <a16:colId xmlns:a16="http://schemas.microsoft.com/office/drawing/2014/main" val="756749026"/>
                    </a:ext>
                  </a:extLst>
                </a:gridCol>
                <a:gridCol w="2203450">
                  <a:extLst>
                    <a:ext uri="{9D8B030D-6E8A-4147-A177-3AD203B41FA5}">
                      <a16:colId xmlns:a16="http://schemas.microsoft.com/office/drawing/2014/main" val="4121278235"/>
                    </a:ext>
                  </a:extLst>
                </a:gridCol>
                <a:gridCol w="2205038">
                  <a:extLst>
                    <a:ext uri="{9D8B030D-6E8A-4147-A177-3AD203B41FA5}">
                      <a16:colId xmlns:a16="http://schemas.microsoft.com/office/drawing/2014/main" val="3752863577"/>
                    </a:ext>
                  </a:extLst>
                </a:gridCol>
              </a:tblGrid>
              <a:tr h="2349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collection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ordering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benefits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weaknesses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5808808"/>
                  </a:ext>
                </a:extLst>
              </a:tr>
              <a:tr h="377825">
                <a:tc>
                  <a:txBody>
                    <a:bodyPr/>
                    <a:lstStyle>
                      <a:lvl1pPr marL="49213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9213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array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by index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fast; simple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6350" indent="-6350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little functionality; cannot resize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2548770"/>
                  </a:ext>
                </a:extLst>
              </a:tr>
              <a:tr h="376238">
                <a:tc>
                  <a:txBody>
                    <a:bodyPr/>
                    <a:lstStyle>
                      <a:lvl1pPr marL="49213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9213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ArrayList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by insertion, by index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random access; fast to modify at end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6350" indent="-6350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slow to modify in middle/front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996158"/>
                  </a:ext>
                </a:extLst>
              </a:tr>
              <a:tr h="377825">
                <a:tc>
                  <a:txBody>
                    <a:bodyPr/>
                    <a:lstStyle>
                      <a:lvl1pPr marL="49213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9213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LinkedList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by insertion, by index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fast to modify at both ends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6350" indent="-6350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poor random access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066860"/>
                  </a:ext>
                </a:extLst>
              </a:tr>
              <a:tr h="298450">
                <a:tc>
                  <a:txBody>
                    <a:bodyPr/>
                    <a:lstStyle>
                      <a:lvl1pPr marL="49213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9213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TreeSet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sorted order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sorted;  O(log 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6350" indent="-6350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must be comparable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565242"/>
                  </a:ext>
                </a:extLst>
              </a:tr>
              <a:tr h="217488">
                <a:tc>
                  <a:txBody>
                    <a:bodyPr/>
                    <a:lstStyle>
                      <a:lvl1pPr marL="49213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9213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HashSet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unpredictable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very fast;  O(1)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6350" indent="-6350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unordered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121014"/>
                  </a:ext>
                </a:extLst>
              </a:tr>
              <a:tr h="219075">
                <a:tc>
                  <a:txBody>
                    <a:bodyPr/>
                    <a:lstStyle>
                      <a:lvl1pPr marL="49213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9213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LinkedHashSet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order of insertion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very fast;  O(1)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6350" indent="-6350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uses extra memory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215867"/>
                  </a:ext>
                </a:extLst>
              </a:tr>
              <a:tr h="217488">
                <a:tc>
                  <a:txBody>
                    <a:bodyPr/>
                    <a:lstStyle>
                      <a:lvl1pPr marL="49213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9213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TreeMap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sorted order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sorted;  O(log 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6350" indent="-6350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must be comparable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9452881"/>
                  </a:ext>
                </a:extLst>
              </a:tr>
              <a:tr h="217488">
                <a:tc>
                  <a:txBody>
                    <a:bodyPr/>
                    <a:lstStyle>
                      <a:lvl1pPr marL="49213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9213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HashMap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unpredictable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very fast;  O(1)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6350" indent="-6350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unordered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8247867"/>
                  </a:ext>
                </a:extLst>
              </a:tr>
              <a:tr h="217488">
                <a:tc>
                  <a:txBody>
                    <a:bodyPr/>
                    <a:lstStyle>
                      <a:lvl1pPr marL="49213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9213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LinkedHashMap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order of insertion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very fast;  O(1)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6350" indent="-6350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uses extra memory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4052079"/>
                  </a:ext>
                </a:extLst>
              </a:tr>
              <a:tr h="217488">
                <a:tc>
                  <a:txBody>
                    <a:bodyPr/>
                    <a:lstStyle>
                      <a:lvl1pPr marL="49213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9213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PriorityQueue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natural/comparable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fast ordered access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6350" indent="-6350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must be comparable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701128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082" name="Rectangle 2">
            <a:extLst>
              <a:ext uri="{FF2B5EF4-FFF2-40B4-BE49-F238E27FC236}">
                <a16:creationId xmlns:a16="http://schemas.microsoft.com/office/drawing/2014/main" id="{CEF97E4D-C552-B636-61A6-A69479B102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/>
              <a:t>Choosing a collection</a:t>
            </a:r>
          </a:p>
        </p:txBody>
      </p:sp>
      <p:sp>
        <p:nvSpPr>
          <p:cNvPr id="558083" name="Rectangle 3">
            <a:extLst>
              <a:ext uri="{FF2B5EF4-FFF2-40B4-BE49-F238E27FC236}">
                <a16:creationId xmlns:a16="http://schemas.microsoft.com/office/drawing/2014/main" id="{74C89875-550F-0169-D77A-C259CA8FB7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endParaRPr lang="en-US" altLang="vi-VN">
              <a:solidFill>
                <a:srgbClr val="262626"/>
              </a:solidFill>
            </a:endParaRPr>
          </a:p>
          <a:p>
            <a:endParaRPr lang="en-US" altLang="vi-VN">
              <a:solidFill>
                <a:srgbClr val="262626"/>
              </a:solidFill>
            </a:endParaRPr>
          </a:p>
          <a:p>
            <a:endParaRPr lang="en-US" altLang="vi-VN">
              <a:solidFill>
                <a:srgbClr val="262626"/>
              </a:solidFill>
            </a:endParaRPr>
          </a:p>
          <a:p>
            <a:endParaRPr lang="en-US" altLang="vi-VN">
              <a:solidFill>
                <a:srgbClr val="262626"/>
              </a:solidFill>
            </a:endParaRPr>
          </a:p>
          <a:p>
            <a:endParaRPr lang="en-US" altLang="vi-VN">
              <a:solidFill>
                <a:srgbClr val="262626"/>
              </a:solidFill>
            </a:endParaRPr>
          </a:p>
          <a:p>
            <a:endParaRPr lang="en-US" altLang="vi-VN">
              <a:solidFill>
                <a:srgbClr val="262626"/>
              </a:solidFill>
            </a:endParaRPr>
          </a:p>
          <a:p>
            <a:endParaRPr lang="en-US" altLang="vi-VN">
              <a:solidFill>
                <a:srgbClr val="262626"/>
              </a:solidFill>
            </a:endParaRPr>
          </a:p>
          <a:p>
            <a:endParaRPr lang="en-US" altLang="vi-VN">
              <a:solidFill>
                <a:srgbClr val="262626"/>
              </a:solidFill>
            </a:endParaRPr>
          </a:p>
          <a:p>
            <a:endParaRPr lang="en-US" altLang="vi-VN">
              <a:solidFill>
                <a:srgbClr val="262626"/>
              </a:solidFill>
            </a:endParaRPr>
          </a:p>
          <a:p>
            <a:endParaRPr lang="en-US" altLang="vi-VN">
              <a:solidFill>
                <a:srgbClr val="262626"/>
              </a:solidFill>
            </a:endParaRPr>
          </a:p>
          <a:p>
            <a:endParaRPr lang="en-US" altLang="vi-VN">
              <a:solidFill>
                <a:srgbClr val="262626"/>
              </a:solidFill>
            </a:endParaRPr>
          </a:p>
          <a:p>
            <a:pPr lvl="1"/>
            <a:r>
              <a:rPr lang="en-US" altLang="vi-VN">
                <a:solidFill>
                  <a:srgbClr val="404040"/>
                </a:solidFill>
              </a:rPr>
              <a:t>see also: </a:t>
            </a:r>
            <a:r>
              <a:rPr lang="en-US" altLang="vi-VN" sz="1600">
                <a:solidFill>
                  <a:srgbClr val="404040"/>
                </a:solidFill>
                <a:hlinkClick r:id="rId2"/>
              </a:rPr>
              <a:t>http://initbinder.com/bunker/wp-content/uploads/2011/03/collections.png</a:t>
            </a:r>
            <a:endParaRPr lang="en-US" altLang="vi-VN" sz="1600">
              <a:solidFill>
                <a:srgbClr val="404040"/>
              </a:solidFill>
            </a:endParaRPr>
          </a:p>
        </p:txBody>
      </p:sp>
      <p:pic>
        <p:nvPicPr>
          <p:cNvPr id="558084" name="Picture 4">
            <a:extLst>
              <a:ext uri="{FF2B5EF4-FFF2-40B4-BE49-F238E27FC236}">
                <a16:creationId xmlns:a16="http://schemas.microsoft.com/office/drawing/2014/main" id="{A70F731D-6CC5-1B3E-E3D6-4F34812A9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15"/>
          <a:stretch>
            <a:fillRect/>
          </a:stretch>
        </p:blipFill>
        <p:spPr bwMode="auto">
          <a:xfrm>
            <a:off x="1143000" y="1219200"/>
            <a:ext cx="6858000" cy="4879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866" name="Rectangle 2">
            <a:extLst>
              <a:ext uri="{FF2B5EF4-FFF2-40B4-BE49-F238E27FC236}">
                <a16:creationId xmlns:a16="http://schemas.microsoft.com/office/drawing/2014/main" id="{C16EDEF0-338B-C421-C898-4CA622DC69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/>
              <a:t>Compound collections</a:t>
            </a:r>
          </a:p>
        </p:txBody>
      </p:sp>
      <p:sp>
        <p:nvSpPr>
          <p:cNvPr id="548867" name="Rectangle 3">
            <a:extLst>
              <a:ext uri="{FF2B5EF4-FFF2-40B4-BE49-F238E27FC236}">
                <a16:creationId xmlns:a16="http://schemas.microsoft.com/office/drawing/2014/main" id="{94C88F30-0F79-2827-D1E4-D437A61721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r>
              <a:rPr lang="en-US" altLang="vi-VN">
                <a:solidFill>
                  <a:srgbClr val="262626"/>
                </a:solidFill>
              </a:rPr>
              <a:t>You will often find that you want a collection of collections:</a:t>
            </a:r>
          </a:p>
          <a:p>
            <a:pPr lvl="1">
              <a:lnSpc>
                <a:spcPct val="90000"/>
              </a:lnSpc>
            </a:pPr>
            <a:r>
              <a:rPr lang="en-US" altLang="vi-VN">
                <a:solidFill>
                  <a:srgbClr val="404040"/>
                </a:solidFill>
              </a:rPr>
              <a:t>a list of lists; a map of strings to lists; a queue of sets; ...</a:t>
            </a:r>
          </a:p>
          <a:p>
            <a:pPr lvl="1">
              <a:lnSpc>
                <a:spcPct val="90000"/>
              </a:lnSpc>
            </a:pPr>
            <a:endParaRPr lang="en-US" altLang="vi-VN">
              <a:solidFill>
                <a:srgbClr val="40404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vi-VN" i="1">
                <a:solidFill>
                  <a:srgbClr val="262626"/>
                </a:solidFill>
              </a:rPr>
              <a:t>Example:</a:t>
            </a:r>
            <a:r>
              <a:rPr lang="en-US" altLang="vi-VN">
                <a:solidFill>
                  <a:srgbClr val="262626"/>
                </a:solidFill>
              </a:rPr>
              <a:t> how would you store people's friends?</a:t>
            </a:r>
          </a:p>
          <a:p>
            <a:pPr lvl="1"/>
            <a:r>
              <a:rPr lang="en-US" altLang="vi-VN">
                <a:solidFill>
                  <a:srgbClr val="404040"/>
                </a:solidFill>
              </a:rPr>
              <a:t>i.e., I need to quickly look up the names of all of Jimmy's buddies,</a:t>
            </a:r>
            <a:br>
              <a:rPr lang="en-US" altLang="vi-VN">
                <a:solidFill>
                  <a:srgbClr val="404040"/>
                </a:solidFill>
              </a:rPr>
            </a:br>
            <a:r>
              <a:rPr lang="en-US" altLang="vi-VN">
                <a:solidFill>
                  <a:srgbClr val="404040"/>
                </a:solidFill>
              </a:rPr>
              <a:t>or test whether a given person is a friend of Jimmy's or not.</a:t>
            </a:r>
            <a:endParaRPr lang="en-US" altLang="vi-VN" sz="1000">
              <a:solidFill>
                <a:srgbClr val="40404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endParaRPr lang="en-US" altLang="vi-VN" sz="2200" b="1">
              <a:solidFill>
                <a:srgbClr val="26262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 sz="200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don't forget to initialize each Set of friends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 sz="2000" b="1">
                <a:solidFill>
                  <a:srgbClr val="40404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Map&lt;String, Set&lt;String&gt;&gt;</a:t>
            </a:r>
            <a:r>
              <a:rPr lang="en-US" altLang="vi-VN" sz="2000">
                <a:solidFill>
                  <a:srgbClr val="40404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pals =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 sz="2000">
                <a:solidFill>
                  <a:srgbClr val="40404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new HashMap&lt;String, Set&lt;String&gt;&gt;();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 sz="200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pals.put("Jimmy", new HashSet&lt;String&gt;());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 sz="2000">
                <a:solidFill>
                  <a:srgbClr val="40404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pals.get("Jimmy").add("Bill");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 sz="2000">
                <a:solidFill>
                  <a:srgbClr val="40404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pals.get("Jimmy").add("Katherine");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 sz="2000">
                <a:solidFill>
                  <a:srgbClr val="40404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pals.get("Jimmy").add("Stuart");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48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48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48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48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488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488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914" name="Rectangle 2">
            <a:extLst>
              <a:ext uri="{FF2B5EF4-FFF2-40B4-BE49-F238E27FC236}">
                <a16:creationId xmlns:a16="http://schemas.microsoft.com/office/drawing/2014/main" id="{18D91E9F-D7F9-5D16-6DD5-EAC3A81064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/>
              <a:t>Iterators (11.1)</a:t>
            </a:r>
          </a:p>
        </p:txBody>
      </p:sp>
      <p:sp>
        <p:nvSpPr>
          <p:cNvPr id="550915" name="Rectangle 3">
            <a:extLst>
              <a:ext uri="{FF2B5EF4-FFF2-40B4-BE49-F238E27FC236}">
                <a16:creationId xmlns:a16="http://schemas.microsoft.com/office/drawing/2014/main" id="{70620CDB-6C77-CA39-91BE-E83FAEEE82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r>
              <a:rPr lang="en-US" altLang="vi-VN" b="1">
                <a:solidFill>
                  <a:srgbClr val="262626"/>
                </a:solidFill>
              </a:rPr>
              <a:t>iterator</a:t>
            </a:r>
            <a:r>
              <a:rPr lang="en-US" altLang="vi-VN">
                <a:solidFill>
                  <a:srgbClr val="262626"/>
                </a:solidFill>
              </a:rPr>
              <a:t>: An object that allows a client to traverse the elements of any collection.</a:t>
            </a:r>
          </a:p>
          <a:p>
            <a:pPr lvl="1"/>
            <a:r>
              <a:rPr lang="en-US" altLang="vi-VN">
                <a:solidFill>
                  <a:srgbClr val="404040"/>
                </a:solidFill>
              </a:rPr>
              <a:t>Remembers a position, and lets you:</a:t>
            </a:r>
          </a:p>
          <a:p>
            <a:pPr lvl="2"/>
            <a:r>
              <a:rPr lang="en-US" altLang="vi-VN"/>
              <a:t>get the element at that position</a:t>
            </a:r>
          </a:p>
          <a:p>
            <a:pPr lvl="2"/>
            <a:r>
              <a:rPr lang="en-US" altLang="vi-VN"/>
              <a:t>advance to the next position</a:t>
            </a:r>
          </a:p>
          <a:p>
            <a:pPr lvl="2"/>
            <a:r>
              <a:rPr lang="en-US" altLang="vi-VN"/>
              <a:t>remove the element at that position</a:t>
            </a:r>
          </a:p>
        </p:txBody>
      </p:sp>
      <p:graphicFrame>
        <p:nvGraphicFramePr>
          <p:cNvPr id="550916" name="Group 4">
            <a:extLst>
              <a:ext uri="{FF2B5EF4-FFF2-40B4-BE49-F238E27FC236}">
                <a16:creationId xmlns:a16="http://schemas.microsoft.com/office/drawing/2014/main" id="{89512B7D-054F-CDE1-93D1-4D200C73C359}"/>
              </a:ext>
            </a:extLst>
          </p:cNvPr>
          <p:cNvGraphicFramePr>
            <a:graphicFrameLocks noGrp="1"/>
          </p:cNvGraphicFramePr>
          <p:nvPr/>
        </p:nvGraphicFramePr>
        <p:xfrm>
          <a:off x="771525" y="4067175"/>
          <a:ext cx="4557713" cy="1188720"/>
        </p:xfrm>
        <a:graphic>
          <a:graphicData uri="http://schemas.openxmlformats.org/drawingml/2006/table">
            <a:tbl>
              <a:tblPr/>
              <a:tblGrid>
                <a:gridCol w="782638">
                  <a:extLst>
                    <a:ext uri="{9D8B030D-6E8A-4147-A177-3AD203B41FA5}">
                      <a16:colId xmlns:a16="http://schemas.microsoft.com/office/drawing/2014/main" val="2645082811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1381431202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83216331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39180212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587642226"/>
                    </a:ext>
                  </a:extLst>
                </a:gridCol>
                <a:gridCol w="369887">
                  <a:extLst>
                    <a:ext uri="{9D8B030D-6E8A-4147-A177-3AD203B41FA5}">
                      <a16:colId xmlns:a16="http://schemas.microsoft.com/office/drawing/2014/main" val="3760058379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750985085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3444566545"/>
                    </a:ext>
                  </a:extLst>
                </a:gridCol>
                <a:gridCol w="369888">
                  <a:extLst>
                    <a:ext uri="{9D8B030D-6E8A-4147-A177-3AD203B41FA5}">
                      <a16:colId xmlns:a16="http://schemas.microsoft.com/office/drawing/2014/main" val="315918186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1424221292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699329754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Calibri" panose="020F0502020204030204" pitchFamily="34" charset="0"/>
                        </a:rPr>
                        <a:t>index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256730"/>
                  </a:ext>
                </a:extLst>
              </a:tr>
              <a:tr h="3048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value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769353"/>
                  </a:ext>
                </a:extLst>
              </a:tr>
              <a:tr h="3048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size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6227409"/>
                  </a:ext>
                </a:extLst>
              </a:tr>
            </a:tbl>
          </a:graphicData>
        </a:graphic>
      </p:graphicFrame>
      <p:sp>
        <p:nvSpPr>
          <p:cNvPr id="550966" name="Text Box 54">
            <a:extLst>
              <a:ext uri="{FF2B5EF4-FFF2-40B4-BE49-F238E27FC236}">
                <a16:creationId xmlns:a16="http://schemas.microsoft.com/office/drawing/2014/main" id="{C17D1258-B338-353F-C8BA-037A623D6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448175"/>
            <a:ext cx="466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vi-VN">
                <a:latin typeface="Tahoma" panose="020B0604030504040204" pitchFamily="34" charset="0"/>
              </a:rPr>
              <a:t>list</a:t>
            </a:r>
          </a:p>
        </p:txBody>
      </p:sp>
      <p:grpSp>
        <p:nvGrpSpPr>
          <p:cNvPr id="550967" name="Group 55">
            <a:extLst>
              <a:ext uri="{FF2B5EF4-FFF2-40B4-BE49-F238E27FC236}">
                <a16:creationId xmlns:a16="http://schemas.microsoft.com/office/drawing/2014/main" id="{6ECFB2D9-2A27-99BB-429A-D9B8796A0731}"/>
              </a:ext>
            </a:extLst>
          </p:cNvPr>
          <p:cNvGrpSpPr>
            <a:grpSpLocks/>
          </p:cNvGrpSpPr>
          <p:nvPr/>
        </p:nvGrpSpPr>
        <p:grpSpPr bwMode="auto">
          <a:xfrm>
            <a:off x="385763" y="4905375"/>
            <a:ext cx="3205162" cy="1295400"/>
            <a:chOff x="1533" y="3408"/>
            <a:chExt cx="2019" cy="816"/>
          </a:xfrm>
        </p:grpSpPr>
        <p:sp>
          <p:nvSpPr>
            <p:cNvPr id="550968" name="Rectangle 56">
              <a:extLst>
                <a:ext uri="{FF2B5EF4-FFF2-40B4-BE49-F238E27FC236}">
                  <a16:creationId xmlns:a16="http://schemas.microsoft.com/office/drawing/2014/main" id="{EC3F86E0-7724-BB1D-2833-0DEA4FB997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792"/>
              <a:ext cx="1392" cy="432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/>
              <a:r>
                <a:rPr lang="en-US" altLang="vi-VN">
                  <a:latin typeface="Tahoma" panose="020B0604030504040204" pitchFamily="34" charset="0"/>
                </a:rPr>
                <a:t>current element:	9</a:t>
              </a:r>
            </a:p>
            <a:p>
              <a:pPr algn="l"/>
              <a:r>
                <a:rPr lang="en-US" altLang="vi-VN"/>
                <a:t>current index:	2</a:t>
              </a:r>
              <a:endParaRPr lang="en-US" altLang="vi-VN">
                <a:latin typeface="Tahoma" panose="020B0604030504040204" pitchFamily="34" charset="0"/>
              </a:endParaRPr>
            </a:p>
          </p:txBody>
        </p:sp>
        <p:sp>
          <p:nvSpPr>
            <p:cNvPr id="550969" name="Line 57">
              <a:extLst>
                <a:ext uri="{FF2B5EF4-FFF2-40B4-BE49-F238E27FC236}">
                  <a16:creationId xmlns:a16="http://schemas.microsoft.com/office/drawing/2014/main" id="{E142666C-9149-C5EC-ACBA-298C47FE09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32" y="340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vi-VN"/>
            </a:p>
          </p:txBody>
        </p:sp>
        <p:sp>
          <p:nvSpPr>
            <p:cNvPr id="550970" name="Text Box 58">
              <a:extLst>
                <a:ext uri="{FF2B5EF4-FFF2-40B4-BE49-F238E27FC236}">
                  <a16:creationId xmlns:a16="http://schemas.microsoft.com/office/drawing/2014/main" id="{40154083-41F1-4DB1-53E9-2EB44AD7F3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3" y="3897"/>
              <a:ext cx="57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vi-VN">
                  <a:latin typeface="Tahoma" panose="020B0604030504040204" pitchFamily="34" charset="0"/>
                </a:rPr>
                <a:t>iterator</a:t>
              </a:r>
            </a:p>
          </p:txBody>
        </p:sp>
      </p:grpSp>
      <p:sp>
        <p:nvSpPr>
          <p:cNvPr id="550971" name="Text Box 59">
            <a:extLst>
              <a:ext uri="{FF2B5EF4-FFF2-40B4-BE49-F238E27FC236}">
                <a16:creationId xmlns:a16="http://schemas.microsoft.com/office/drawing/2014/main" id="{027297F7-FA1B-7574-202C-AEA3B9E36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0" y="4386263"/>
            <a:ext cx="482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vi-VN">
                <a:latin typeface="Tahoma" panose="020B0604030504040204" pitchFamily="34" charset="0"/>
              </a:rPr>
              <a:t>set</a:t>
            </a:r>
          </a:p>
        </p:txBody>
      </p:sp>
      <p:grpSp>
        <p:nvGrpSpPr>
          <p:cNvPr id="550972" name="Group 60">
            <a:extLst>
              <a:ext uri="{FF2B5EF4-FFF2-40B4-BE49-F238E27FC236}">
                <a16:creationId xmlns:a16="http://schemas.microsoft.com/office/drawing/2014/main" id="{A6959D58-DBF2-ACF5-47D0-1CFD9F9C4357}"/>
              </a:ext>
            </a:extLst>
          </p:cNvPr>
          <p:cNvGrpSpPr>
            <a:grpSpLocks/>
          </p:cNvGrpSpPr>
          <p:nvPr/>
        </p:nvGrpSpPr>
        <p:grpSpPr bwMode="auto">
          <a:xfrm>
            <a:off x="6786563" y="3962400"/>
            <a:ext cx="1366837" cy="1447800"/>
            <a:chOff x="4275" y="2736"/>
            <a:chExt cx="861" cy="912"/>
          </a:xfrm>
        </p:grpSpPr>
        <p:sp>
          <p:nvSpPr>
            <p:cNvPr id="550973" name="Oval 61">
              <a:extLst>
                <a:ext uri="{FF2B5EF4-FFF2-40B4-BE49-F238E27FC236}">
                  <a16:creationId xmlns:a16="http://schemas.microsoft.com/office/drawing/2014/main" id="{43FA950D-06D1-5BCB-A930-D655DFC8B6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5" y="2736"/>
              <a:ext cx="861" cy="91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550974" name="Text Box 62">
              <a:extLst>
                <a:ext uri="{FF2B5EF4-FFF2-40B4-BE49-F238E27FC236}">
                  <a16:creationId xmlns:a16="http://schemas.microsoft.com/office/drawing/2014/main" id="{7F8BF76D-D54C-23C9-308F-C2006B3E52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6" y="2832"/>
              <a:ext cx="4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vi-VN">
                  <a:latin typeface="Tahoma" panose="020B0604030504040204" pitchFamily="34" charset="0"/>
                </a:rPr>
                <a:t>"the"</a:t>
              </a:r>
            </a:p>
          </p:txBody>
        </p:sp>
        <p:sp>
          <p:nvSpPr>
            <p:cNvPr id="550975" name="Text Box 63">
              <a:extLst>
                <a:ext uri="{FF2B5EF4-FFF2-40B4-BE49-F238E27FC236}">
                  <a16:creationId xmlns:a16="http://schemas.microsoft.com/office/drawing/2014/main" id="{F4C7FA4D-9393-211B-F770-CC0CB986A6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8" y="307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vi-VN">
                  <a:latin typeface="Tahoma" panose="020B0604030504040204" pitchFamily="34" charset="0"/>
                </a:rPr>
                <a:t>"to"</a:t>
              </a:r>
            </a:p>
          </p:txBody>
        </p:sp>
        <p:sp>
          <p:nvSpPr>
            <p:cNvPr id="550976" name="Text Box 64">
              <a:extLst>
                <a:ext uri="{FF2B5EF4-FFF2-40B4-BE49-F238E27FC236}">
                  <a16:creationId xmlns:a16="http://schemas.microsoft.com/office/drawing/2014/main" id="{6180FEFF-7648-B125-1565-0E3DCC7649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7" y="3321"/>
              <a:ext cx="52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vi-VN">
                  <a:latin typeface="Tahoma" panose="020B0604030504040204" pitchFamily="34" charset="0"/>
                </a:rPr>
                <a:t>"from"</a:t>
              </a:r>
            </a:p>
          </p:txBody>
        </p:sp>
        <p:sp>
          <p:nvSpPr>
            <p:cNvPr id="550977" name="Text Box 65">
              <a:extLst>
                <a:ext uri="{FF2B5EF4-FFF2-40B4-BE49-F238E27FC236}">
                  <a16:creationId xmlns:a16="http://schemas.microsoft.com/office/drawing/2014/main" id="{0FE7B1C6-D1BA-9120-7B4D-E69EBA8B49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3" y="3081"/>
              <a:ext cx="41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vi-VN">
                  <a:latin typeface="Tahoma" panose="020B0604030504040204" pitchFamily="34" charset="0"/>
                </a:rPr>
                <a:t>"we"</a:t>
              </a:r>
            </a:p>
          </p:txBody>
        </p:sp>
      </p:grpSp>
      <p:grpSp>
        <p:nvGrpSpPr>
          <p:cNvPr id="550978" name="Group 66">
            <a:extLst>
              <a:ext uri="{FF2B5EF4-FFF2-40B4-BE49-F238E27FC236}">
                <a16:creationId xmlns:a16="http://schemas.microsoft.com/office/drawing/2014/main" id="{EEB2771F-76BB-B8CA-FED7-D813AF51D2A2}"/>
              </a:ext>
            </a:extLst>
          </p:cNvPr>
          <p:cNvGrpSpPr>
            <a:grpSpLocks/>
          </p:cNvGrpSpPr>
          <p:nvPr/>
        </p:nvGrpSpPr>
        <p:grpSpPr bwMode="auto">
          <a:xfrm>
            <a:off x="5024438" y="5210175"/>
            <a:ext cx="3662362" cy="990600"/>
            <a:chOff x="3165" y="3552"/>
            <a:chExt cx="2307" cy="624"/>
          </a:xfrm>
        </p:grpSpPr>
        <p:sp>
          <p:nvSpPr>
            <p:cNvPr id="550979" name="Rectangle 67">
              <a:extLst>
                <a:ext uri="{FF2B5EF4-FFF2-40B4-BE49-F238E27FC236}">
                  <a16:creationId xmlns:a16="http://schemas.microsoft.com/office/drawing/2014/main" id="{847C1352-9EA8-4130-C278-5ABDF3D4E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3744"/>
              <a:ext cx="1680" cy="432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/>
              <a:r>
                <a:rPr lang="en-US" altLang="vi-VN">
                  <a:latin typeface="Tahoma" panose="020B0604030504040204" pitchFamily="34" charset="0"/>
                </a:rPr>
                <a:t>current element:	"from"</a:t>
              </a:r>
            </a:p>
            <a:p>
              <a:pPr algn="l"/>
              <a:r>
                <a:rPr lang="en-US" altLang="vi-VN">
                  <a:latin typeface="Tahoma" panose="020B0604030504040204" pitchFamily="34" charset="0"/>
                </a:rPr>
                <a:t>next element:	"the"</a:t>
              </a:r>
            </a:p>
          </p:txBody>
        </p:sp>
        <p:sp>
          <p:nvSpPr>
            <p:cNvPr id="550980" name="Line 68">
              <a:extLst>
                <a:ext uri="{FF2B5EF4-FFF2-40B4-BE49-F238E27FC236}">
                  <a16:creationId xmlns:a16="http://schemas.microsoft.com/office/drawing/2014/main" id="{AEB4B40E-8A95-CBA2-22E6-1249ECE24C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8" y="355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vi-VN"/>
            </a:p>
          </p:txBody>
        </p:sp>
        <p:sp>
          <p:nvSpPr>
            <p:cNvPr id="550981" name="Text Box 69">
              <a:extLst>
                <a:ext uri="{FF2B5EF4-FFF2-40B4-BE49-F238E27FC236}">
                  <a16:creationId xmlns:a16="http://schemas.microsoft.com/office/drawing/2014/main" id="{1AEC25D2-A678-6FAC-793D-8EC84C07AC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5" y="3849"/>
              <a:ext cx="57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vi-VN">
                  <a:latin typeface="Tahoma" panose="020B0604030504040204" pitchFamily="34" charset="0"/>
                </a:rPr>
                <a:t>iterator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938" name="Rectangle 2">
            <a:extLst>
              <a:ext uri="{FF2B5EF4-FFF2-40B4-BE49-F238E27FC236}">
                <a16:creationId xmlns:a16="http://schemas.microsoft.com/office/drawing/2014/main" id="{26346AFC-B9CA-A952-65FB-661C6AA0BB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>
                <a:latin typeface="Courier New" panose="02070309020205020404" pitchFamily="49" charset="0"/>
              </a:rPr>
              <a:t>Iterator</a:t>
            </a:r>
            <a:r>
              <a:rPr lang="en-US" altLang="vi-VN"/>
              <a:t> methods</a:t>
            </a:r>
          </a:p>
        </p:txBody>
      </p:sp>
      <p:sp>
        <p:nvSpPr>
          <p:cNvPr id="551939" name="Rectangle 3">
            <a:extLst>
              <a:ext uri="{FF2B5EF4-FFF2-40B4-BE49-F238E27FC236}">
                <a16:creationId xmlns:a16="http://schemas.microsoft.com/office/drawing/2014/main" id="{E0B90070-3B27-1632-EC36-7F513DD1E1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endParaRPr lang="en-US" altLang="vi-VN">
              <a:solidFill>
                <a:srgbClr val="262626"/>
              </a:solidFill>
              <a:latin typeface="Courier New" panose="02070309020205020404" pitchFamily="49" charset="0"/>
            </a:endParaRPr>
          </a:p>
          <a:p>
            <a:pPr lvl="1"/>
            <a:endParaRPr lang="en-US" altLang="vi-VN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lvl="1"/>
            <a:endParaRPr lang="en-US" altLang="vi-VN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lvl="1"/>
            <a:endParaRPr lang="en-US" altLang="vi-VN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lvl="1"/>
            <a:endParaRPr lang="en-US" altLang="vi-VN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lvl="1"/>
            <a:endParaRPr lang="en-US" altLang="vi-VN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Iterator</a:t>
            </a:r>
            <a:r>
              <a:rPr lang="en-US" altLang="vi-VN">
                <a:solidFill>
                  <a:srgbClr val="262626"/>
                </a:solidFill>
              </a:rPr>
              <a:t> interface in </a:t>
            </a: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java.util</a:t>
            </a:r>
          </a:p>
          <a:p>
            <a:pPr lvl="1"/>
            <a:r>
              <a:rPr lang="en-US" altLang="vi-VN">
                <a:solidFill>
                  <a:srgbClr val="404040"/>
                </a:solidFill>
              </a:rPr>
              <a:t>every collection has an 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iterator()</a:t>
            </a:r>
            <a:r>
              <a:rPr lang="en-US" altLang="vi-VN">
                <a:solidFill>
                  <a:srgbClr val="404040"/>
                </a:solidFill>
              </a:rPr>
              <a:t> method that returns an iterator over its elements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vi-VN" sz="800">
              <a:solidFill>
                <a:srgbClr val="404040"/>
              </a:solidFill>
            </a:endParaRPr>
          </a:p>
          <a:p>
            <a:pPr lvl="1">
              <a:buFont typeface="Wingdings" panose="05000000000000000000" pitchFamily="2" charset="2"/>
              <a:buNone/>
            </a:pPr>
            <a:endParaRPr lang="en-US" altLang="vi-VN" sz="800">
              <a:solidFill>
                <a:srgbClr val="404040"/>
              </a:solidFill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	Set&lt;String&gt; set = new HashSet&lt;String&gt;();</a:t>
            </a:r>
          </a:p>
          <a:p>
            <a:pPr lvl="1">
              <a:lnSpc>
                <a:spcPct val="50000"/>
              </a:lnSpc>
              <a:buFont typeface="Wingdings" panose="05000000000000000000" pitchFamily="2" charset="2"/>
              <a:buNone/>
            </a:pP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	</a:t>
            </a:r>
            <a:r>
              <a:rPr lang="en-US" altLang="vi-VN">
                <a:solidFill>
                  <a:srgbClr val="404040"/>
                </a:solidFill>
              </a:rPr>
              <a:t>...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 b="1">
                <a:solidFill>
                  <a:schemeClr val="accent2"/>
                </a:solidFill>
                <a:latin typeface="Courier New" panose="02070309020205020404" pitchFamily="49" charset="0"/>
              </a:rPr>
              <a:t>	Iterator&lt;String&gt; itr = set.iterator();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vi-VN" b="1">
                <a:solidFill>
                  <a:schemeClr val="accent2"/>
                </a:solidFill>
                <a:latin typeface="Courier New" panose="02070309020205020404" pitchFamily="49" charset="0"/>
              </a:rPr>
              <a:t>	</a:t>
            </a:r>
            <a:r>
              <a:rPr lang="en-US" altLang="vi-VN">
                <a:solidFill>
                  <a:schemeClr val="accent2"/>
                </a:solidFill>
              </a:rPr>
              <a:t>...</a:t>
            </a:r>
          </a:p>
        </p:txBody>
      </p:sp>
      <p:graphicFrame>
        <p:nvGraphicFramePr>
          <p:cNvPr id="551940" name="Group 4">
            <a:extLst>
              <a:ext uri="{FF2B5EF4-FFF2-40B4-BE49-F238E27FC236}">
                <a16:creationId xmlns:a16="http://schemas.microsoft.com/office/drawing/2014/main" id="{5DCBA466-B1D0-11C2-E82A-7B9A1A6CEE4F}"/>
              </a:ext>
            </a:extLst>
          </p:cNvPr>
          <p:cNvGraphicFramePr>
            <a:graphicFrameLocks noGrp="1"/>
          </p:cNvGraphicFramePr>
          <p:nvPr/>
        </p:nvGraphicFramePr>
        <p:xfrm>
          <a:off x="123825" y="1371600"/>
          <a:ext cx="8915400" cy="1909128"/>
        </p:xfrm>
        <a:graphic>
          <a:graphicData uri="http://schemas.openxmlformats.org/drawingml/2006/table">
            <a:tbl>
              <a:tblPr/>
              <a:tblGrid>
                <a:gridCol w="1555750">
                  <a:extLst>
                    <a:ext uri="{9D8B030D-6E8A-4147-A177-3AD203B41FA5}">
                      <a16:colId xmlns:a16="http://schemas.microsoft.com/office/drawing/2014/main" val="3999169299"/>
                    </a:ext>
                  </a:extLst>
                </a:gridCol>
                <a:gridCol w="7359650">
                  <a:extLst>
                    <a:ext uri="{9D8B030D-6E8A-4147-A177-3AD203B41FA5}">
                      <a16:colId xmlns:a16="http://schemas.microsoft.com/office/drawing/2014/main" val="1513129896"/>
                    </a:ext>
                  </a:extLst>
                </a:gridCol>
              </a:tblGrid>
              <a:tr h="30162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hasNext()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returns 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if there are more elements to examine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6149915"/>
                  </a:ext>
                </a:extLst>
              </a:tr>
              <a:tr h="74771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next()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returns the next element from the collection (throws a 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NoSuchElementException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if there are none left to examine)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0521900"/>
                  </a:ext>
                </a:extLst>
              </a:tr>
              <a:tr h="76517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remove()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removes the last value returned by 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next()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  (throws an 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IllegalStateException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if you haven't called 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next()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yet)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49279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62" name="Rectangle 2">
            <a:extLst>
              <a:ext uri="{FF2B5EF4-FFF2-40B4-BE49-F238E27FC236}">
                <a16:creationId xmlns:a16="http://schemas.microsoft.com/office/drawing/2014/main" id="{C69429A9-C3AD-DCB3-D2E6-B4062455C7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>
                <a:latin typeface="Courier New" panose="02070309020205020404" pitchFamily="49" charset="0"/>
              </a:rPr>
              <a:t>Iterator</a:t>
            </a:r>
            <a:r>
              <a:rPr lang="en-US" altLang="vi-VN"/>
              <a:t> example</a:t>
            </a:r>
          </a:p>
        </p:txBody>
      </p:sp>
      <p:sp>
        <p:nvSpPr>
          <p:cNvPr id="552963" name="Rectangle 3">
            <a:extLst>
              <a:ext uri="{FF2B5EF4-FFF2-40B4-BE49-F238E27FC236}">
                <a16:creationId xmlns:a16="http://schemas.microsoft.com/office/drawing/2014/main" id="{6ED2BD68-DA6F-3D41-C945-6613D364C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lnSpc>
                <a:spcPct val="65000"/>
              </a:lnSpc>
              <a:buFontTx/>
              <a:buNone/>
            </a:pPr>
            <a:r>
              <a:rPr lang="en-US" altLang="vi-VN" sz="1600" dirty="0">
                <a:solidFill>
                  <a:srgbClr val="262626"/>
                </a:solidFill>
                <a:latin typeface="Courier New" panose="02070309020205020404" pitchFamily="49" charset="0"/>
              </a:rPr>
              <a:t>	Set&lt;Integer&gt; scores = new </a:t>
            </a:r>
            <a:r>
              <a:rPr lang="en-US" altLang="vi-VN" sz="1600" dirty="0" err="1">
                <a:solidFill>
                  <a:srgbClr val="262626"/>
                </a:solidFill>
                <a:latin typeface="Courier New" panose="02070309020205020404" pitchFamily="49" charset="0"/>
              </a:rPr>
              <a:t>TreeSet</a:t>
            </a:r>
            <a:r>
              <a:rPr lang="en-US" altLang="vi-VN" sz="1600" dirty="0">
                <a:solidFill>
                  <a:srgbClr val="262626"/>
                </a:solidFill>
                <a:latin typeface="Courier New" panose="02070309020205020404" pitchFamily="49" charset="0"/>
              </a:rPr>
              <a:t>&lt;Integer&gt;();</a:t>
            </a:r>
          </a:p>
          <a:p>
            <a:pPr>
              <a:lnSpc>
                <a:spcPct val="65000"/>
              </a:lnSpc>
              <a:buFontTx/>
              <a:buNone/>
            </a:pPr>
            <a:r>
              <a:rPr lang="en-US" altLang="vi-VN" sz="1600" dirty="0">
                <a:solidFill>
                  <a:srgbClr val="262626"/>
                </a:solidFill>
                <a:latin typeface="Courier New" panose="02070309020205020404" pitchFamily="49" charset="0"/>
              </a:rPr>
              <a:t>	</a:t>
            </a:r>
            <a:r>
              <a:rPr lang="en-US" altLang="vi-VN" sz="1600" dirty="0" err="1">
                <a:solidFill>
                  <a:srgbClr val="262626"/>
                </a:solidFill>
                <a:latin typeface="Courier New" panose="02070309020205020404" pitchFamily="49" charset="0"/>
              </a:rPr>
              <a:t>scores.add</a:t>
            </a:r>
            <a:r>
              <a:rPr lang="en-US" altLang="vi-VN" sz="1600" dirty="0">
                <a:solidFill>
                  <a:srgbClr val="262626"/>
                </a:solidFill>
                <a:latin typeface="Courier New" panose="02070309020205020404" pitchFamily="49" charset="0"/>
              </a:rPr>
              <a:t>(94);</a:t>
            </a:r>
          </a:p>
          <a:p>
            <a:pPr>
              <a:lnSpc>
                <a:spcPct val="65000"/>
              </a:lnSpc>
              <a:buFontTx/>
              <a:buNone/>
            </a:pPr>
            <a:r>
              <a:rPr lang="en-US" altLang="vi-VN" sz="1600" dirty="0">
                <a:solidFill>
                  <a:srgbClr val="262626"/>
                </a:solidFill>
                <a:latin typeface="Courier New" panose="02070309020205020404" pitchFamily="49" charset="0"/>
              </a:rPr>
              <a:t>	</a:t>
            </a:r>
            <a:r>
              <a:rPr lang="en-US" altLang="vi-VN" sz="1600" dirty="0" err="1">
                <a:solidFill>
                  <a:srgbClr val="262626"/>
                </a:solidFill>
                <a:latin typeface="Courier New" panose="02070309020205020404" pitchFamily="49" charset="0"/>
              </a:rPr>
              <a:t>scores.add</a:t>
            </a:r>
            <a:r>
              <a:rPr lang="en-US" altLang="vi-VN" sz="1600" dirty="0">
                <a:solidFill>
                  <a:srgbClr val="262626"/>
                </a:solidFill>
                <a:latin typeface="Courier New" panose="02070309020205020404" pitchFamily="49" charset="0"/>
              </a:rPr>
              <a:t>(38);   </a:t>
            </a:r>
            <a:r>
              <a:rPr lang="en-US" altLang="vi-VN" sz="1600" b="1" dirty="0">
                <a:solidFill>
                  <a:srgbClr val="008000"/>
                </a:solidFill>
                <a:latin typeface="Courier New" panose="02070309020205020404" pitchFamily="49" charset="0"/>
              </a:rPr>
              <a:t>// Jenny</a:t>
            </a:r>
          </a:p>
          <a:p>
            <a:pPr>
              <a:lnSpc>
                <a:spcPct val="65000"/>
              </a:lnSpc>
              <a:buFontTx/>
              <a:buNone/>
            </a:pPr>
            <a:r>
              <a:rPr lang="en-US" altLang="vi-VN" sz="1600" dirty="0">
                <a:solidFill>
                  <a:srgbClr val="262626"/>
                </a:solidFill>
                <a:latin typeface="Courier New" panose="02070309020205020404" pitchFamily="49" charset="0"/>
              </a:rPr>
              <a:t>	</a:t>
            </a:r>
            <a:r>
              <a:rPr lang="en-US" altLang="vi-VN" sz="1600" dirty="0" err="1">
                <a:solidFill>
                  <a:srgbClr val="262626"/>
                </a:solidFill>
                <a:latin typeface="Courier New" panose="02070309020205020404" pitchFamily="49" charset="0"/>
              </a:rPr>
              <a:t>scores.add</a:t>
            </a:r>
            <a:r>
              <a:rPr lang="en-US" altLang="vi-VN" sz="1600" dirty="0">
                <a:solidFill>
                  <a:srgbClr val="262626"/>
                </a:solidFill>
                <a:latin typeface="Courier New" panose="02070309020205020404" pitchFamily="49" charset="0"/>
              </a:rPr>
              <a:t>(87);</a:t>
            </a:r>
          </a:p>
          <a:p>
            <a:pPr>
              <a:lnSpc>
                <a:spcPct val="65000"/>
              </a:lnSpc>
              <a:buFontTx/>
              <a:buNone/>
            </a:pPr>
            <a:r>
              <a:rPr lang="en-US" altLang="vi-VN" sz="1600" dirty="0">
                <a:solidFill>
                  <a:srgbClr val="262626"/>
                </a:solidFill>
                <a:latin typeface="Courier New" panose="02070309020205020404" pitchFamily="49" charset="0"/>
              </a:rPr>
              <a:t>	</a:t>
            </a:r>
            <a:r>
              <a:rPr lang="en-US" altLang="vi-VN" sz="1600" dirty="0" err="1">
                <a:solidFill>
                  <a:srgbClr val="262626"/>
                </a:solidFill>
                <a:latin typeface="Courier New" panose="02070309020205020404" pitchFamily="49" charset="0"/>
              </a:rPr>
              <a:t>scores.add</a:t>
            </a:r>
            <a:r>
              <a:rPr lang="en-US" altLang="vi-VN" sz="1600" dirty="0">
                <a:solidFill>
                  <a:srgbClr val="262626"/>
                </a:solidFill>
                <a:latin typeface="Courier New" panose="02070309020205020404" pitchFamily="49" charset="0"/>
              </a:rPr>
              <a:t>(43);   </a:t>
            </a:r>
            <a:r>
              <a:rPr lang="en-US" altLang="vi-VN" sz="1600" b="1" dirty="0">
                <a:solidFill>
                  <a:srgbClr val="008000"/>
                </a:solidFill>
                <a:latin typeface="Courier New" panose="02070309020205020404" pitchFamily="49" charset="0"/>
              </a:rPr>
              <a:t>// Marty</a:t>
            </a:r>
          </a:p>
          <a:p>
            <a:pPr>
              <a:lnSpc>
                <a:spcPct val="65000"/>
              </a:lnSpc>
              <a:buFontTx/>
              <a:buNone/>
            </a:pPr>
            <a:r>
              <a:rPr lang="en-US" altLang="vi-VN" sz="1600" dirty="0">
                <a:solidFill>
                  <a:srgbClr val="262626"/>
                </a:solidFill>
                <a:latin typeface="Courier New" panose="02070309020205020404" pitchFamily="49" charset="0"/>
              </a:rPr>
              <a:t>	</a:t>
            </a:r>
            <a:r>
              <a:rPr lang="en-US" altLang="vi-VN" sz="1600" dirty="0" err="1">
                <a:solidFill>
                  <a:srgbClr val="262626"/>
                </a:solidFill>
                <a:latin typeface="Courier New" panose="02070309020205020404" pitchFamily="49" charset="0"/>
              </a:rPr>
              <a:t>scores.add</a:t>
            </a:r>
            <a:r>
              <a:rPr lang="en-US" altLang="vi-VN" sz="1600" dirty="0">
                <a:solidFill>
                  <a:srgbClr val="262626"/>
                </a:solidFill>
                <a:latin typeface="Courier New" panose="02070309020205020404" pitchFamily="49" charset="0"/>
              </a:rPr>
              <a:t>(72);</a:t>
            </a:r>
          </a:p>
          <a:p>
            <a:pPr>
              <a:lnSpc>
                <a:spcPct val="65000"/>
              </a:lnSpc>
              <a:buFontTx/>
              <a:buNone/>
            </a:pPr>
            <a:r>
              <a:rPr lang="en-US" altLang="vi-VN" sz="1600" dirty="0">
                <a:solidFill>
                  <a:srgbClr val="262626"/>
                </a:solidFill>
                <a:latin typeface="Courier New" panose="02070309020205020404" pitchFamily="49" charset="0"/>
              </a:rPr>
              <a:t>	</a:t>
            </a:r>
            <a:r>
              <a:rPr lang="en-US" altLang="vi-VN" sz="1600" dirty="0">
                <a:solidFill>
                  <a:srgbClr val="262626"/>
                </a:solidFill>
              </a:rPr>
              <a:t>...</a:t>
            </a:r>
          </a:p>
          <a:p>
            <a:pPr>
              <a:lnSpc>
                <a:spcPct val="65000"/>
              </a:lnSpc>
              <a:buFontTx/>
              <a:buNone/>
            </a:pPr>
            <a:endParaRPr lang="en-US" altLang="vi-VN" sz="1600" dirty="0">
              <a:solidFill>
                <a:srgbClr val="262626"/>
              </a:solidFill>
            </a:endParaRPr>
          </a:p>
          <a:p>
            <a:pPr>
              <a:lnSpc>
                <a:spcPct val="65000"/>
              </a:lnSpc>
              <a:buFontTx/>
              <a:buNone/>
            </a:pPr>
            <a:r>
              <a:rPr lang="en-US" altLang="vi-VN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	Iterator&lt;Integer&gt; </a:t>
            </a:r>
            <a:r>
              <a:rPr lang="en-US" altLang="vi-VN" sz="16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itr</a:t>
            </a:r>
            <a:r>
              <a:rPr lang="en-US" altLang="vi-VN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= </a:t>
            </a:r>
            <a:r>
              <a:rPr lang="en-US" altLang="vi-VN" sz="16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scores.iterator</a:t>
            </a:r>
            <a:r>
              <a:rPr lang="en-US" altLang="vi-VN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();</a:t>
            </a:r>
          </a:p>
          <a:p>
            <a:pPr>
              <a:lnSpc>
                <a:spcPct val="65000"/>
              </a:lnSpc>
              <a:buFontTx/>
              <a:buNone/>
            </a:pPr>
            <a:r>
              <a:rPr lang="en-US" altLang="vi-VN" sz="1600" dirty="0">
                <a:solidFill>
                  <a:srgbClr val="262626"/>
                </a:solidFill>
                <a:latin typeface="Courier New" panose="02070309020205020404" pitchFamily="49" charset="0"/>
              </a:rPr>
              <a:t>	while (</a:t>
            </a:r>
            <a:r>
              <a:rPr lang="en-US" altLang="vi-VN" sz="16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itr.hasNext</a:t>
            </a:r>
            <a:r>
              <a:rPr lang="en-US" altLang="vi-VN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()</a:t>
            </a:r>
            <a:r>
              <a:rPr lang="en-US" altLang="vi-VN" sz="1600" dirty="0">
                <a:solidFill>
                  <a:srgbClr val="262626"/>
                </a:solidFill>
                <a:latin typeface="Courier New" panose="02070309020205020404" pitchFamily="49" charset="0"/>
              </a:rPr>
              <a:t>) {</a:t>
            </a:r>
          </a:p>
          <a:p>
            <a:pPr>
              <a:lnSpc>
                <a:spcPct val="65000"/>
              </a:lnSpc>
              <a:buFontTx/>
              <a:buNone/>
            </a:pPr>
            <a:r>
              <a:rPr lang="en-US" altLang="vi-VN" sz="1600" dirty="0">
                <a:solidFill>
                  <a:srgbClr val="262626"/>
                </a:solidFill>
                <a:latin typeface="Courier New" panose="02070309020205020404" pitchFamily="49" charset="0"/>
              </a:rPr>
              <a:t>	    int score = </a:t>
            </a:r>
            <a:r>
              <a:rPr lang="en-US" altLang="vi-VN" sz="16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itr.next</a:t>
            </a:r>
            <a:r>
              <a:rPr lang="en-US" altLang="vi-VN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()</a:t>
            </a:r>
            <a:r>
              <a:rPr lang="en-US" altLang="vi-VN" sz="1600" dirty="0">
                <a:solidFill>
                  <a:srgbClr val="262626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65000"/>
              </a:lnSpc>
              <a:buFontTx/>
              <a:buNone/>
            </a:pPr>
            <a:endParaRPr lang="en-US" altLang="vi-VN" sz="1600" dirty="0">
              <a:solidFill>
                <a:srgbClr val="262626"/>
              </a:solidFill>
              <a:latin typeface="Courier New" panose="02070309020205020404" pitchFamily="49" charset="0"/>
            </a:endParaRPr>
          </a:p>
          <a:p>
            <a:pPr>
              <a:lnSpc>
                <a:spcPct val="65000"/>
              </a:lnSpc>
              <a:buFontTx/>
              <a:buNone/>
            </a:pPr>
            <a:r>
              <a:rPr lang="en-US" altLang="vi-VN" sz="1600" dirty="0">
                <a:solidFill>
                  <a:srgbClr val="262626"/>
                </a:solidFill>
                <a:latin typeface="Courier New" panose="02070309020205020404" pitchFamily="49" charset="0"/>
              </a:rPr>
              <a:t>	    </a:t>
            </a:r>
            <a:r>
              <a:rPr lang="en-US" altLang="vi-VN" sz="1600" dirty="0" err="1">
                <a:solidFill>
                  <a:srgbClr val="262626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vi-VN" sz="1600" dirty="0">
                <a:solidFill>
                  <a:srgbClr val="262626"/>
                </a:solidFill>
                <a:latin typeface="Courier New" panose="02070309020205020404" pitchFamily="49" charset="0"/>
              </a:rPr>
              <a:t>("The score is " + score);</a:t>
            </a:r>
          </a:p>
          <a:p>
            <a:pPr>
              <a:lnSpc>
                <a:spcPct val="65000"/>
              </a:lnSpc>
              <a:buFontTx/>
              <a:buNone/>
            </a:pPr>
            <a:endParaRPr lang="en-US" altLang="vi-VN" sz="1600" dirty="0">
              <a:solidFill>
                <a:srgbClr val="262626"/>
              </a:solidFill>
              <a:latin typeface="Courier New" panose="02070309020205020404" pitchFamily="49" charset="0"/>
            </a:endParaRPr>
          </a:p>
          <a:p>
            <a:pPr>
              <a:lnSpc>
                <a:spcPct val="65000"/>
              </a:lnSpc>
              <a:buFontTx/>
              <a:buNone/>
            </a:pPr>
            <a:r>
              <a:rPr lang="en-US" altLang="vi-VN" sz="1600" b="1" dirty="0">
                <a:solidFill>
                  <a:srgbClr val="008000"/>
                </a:solidFill>
                <a:latin typeface="Courier New" panose="02070309020205020404" pitchFamily="49" charset="0"/>
              </a:rPr>
              <a:t>	    // eliminate any failing grades</a:t>
            </a:r>
          </a:p>
          <a:p>
            <a:pPr>
              <a:lnSpc>
                <a:spcPct val="65000"/>
              </a:lnSpc>
              <a:buFontTx/>
              <a:buNone/>
            </a:pPr>
            <a:r>
              <a:rPr lang="en-US" altLang="vi-VN" sz="1600" dirty="0">
                <a:solidFill>
                  <a:srgbClr val="262626"/>
                </a:solidFill>
                <a:latin typeface="Courier New" panose="02070309020205020404" pitchFamily="49" charset="0"/>
              </a:rPr>
              <a:t>	    if (score &lt; 60) {</a:t>
            </a:r>
          </a:p>
          <a:p>
            <a:pPr>
              <a:lnSpc>
                <a:spcPct val="65000"/>
              </a:lnSpc>
              <a:buFontTx/>
              <a:buNone/>
            </a:pPr>
            <a:r>
              <a:rPr lang="en-US" altLang="vi-VN" sz="1600" dirty="0">
                <a:solidFill>
                  <a:srgbClr val="262626"/>
                </a:solidFill>
                <a:latin typeface="Courier New" panose="02070309020205020404" pitchFamily="49" charset="0"/>
              </a:rPr>
              <a:t>	        </a:t>
            </a:r>
            <a:r>
              <a:rPr lang="en-US" altLang="vi-VN" sz="16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itr.remove</a:t>
            </a:r>
            <a:r>
              <a:rPr lang="en-US" altLang="vi-VN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()</a:t>
            </a:r>
            <a:r>
              <a:rPr lang="en-US" altLang="vi-VN" sz="1600" dirty="0">
                <a:solidFill>
                  <a:srgbClr val="262626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65000"/>
              </a:lnSpc>
              <a:buFontTx/>
              <a:buNone/>
            </a:pPr>
            <a:r>
              <a:rPr lang="en-US" altLang="vi-VN" sz="1600" dirty="0">
                <a:solidFill>
                  <a:srgbClr val="262626"/>
                </a:solidFill>
                <a:latin typeface="Courier New" panose="02070309020205020404" pitchFamily="49" charset="0"/>
              </a:rPr>
              <a:t>	    }</a:t>
            </a:r>
          </a:p>
          <a:p>
            <a:pPr>
              <a:lnSpc>
                <a:spcPct val="65000"/>
              </a:lnSpc>
              <a:buFontTx/>
              <a:buNone/>
            </a:pPr>
            <a:r>
              <a:rPr lang="en-US" altLang="vi-VN" sz="1600" dirty="0">
                <a:solidFill>
                  <a:srgbClr val="262626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lnSpc>
                <a:spcPct val="65000"/>
              </a:lnSpc>
              <a:buFontTx/>
              <a:buNone/>
            </a:pPr>
            <a:r>
              <a:rPr lang="en-US" altLang="vi-VN" sz="1600" dirty="0">
                <a:solidFill>
                  <a:srgbClr val="262626"/>
                </a:solidFill>
                <a:latin typeface="Courier New" panose="02070309020205020404" pitchFamily="49" charset="0"/>
              </a:rPr>
              <a:t>	</a:t>
            </a:r>
            <a:r>
              <a:rPr lang="en-US" altLang="vi-VN" sz="1600" dirty="0" err="1">
                <a:solidFill>
                  <a:srgbClr val="262626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vi-VN" sz="1600" dirty="0">
                <a:solidFill>
                  <a:srgbClr val="262626"/>
                </a:solidFill>
                <a:latin typeface="Courier New" panose="02070309020205020404" pitchFamily="49" charset="0"/>
              </a:rPr>
              <a:t>(scores);</a:t>
            </a:r>
            <a:r>
              <a:rPr lang="en-US" altLang="vi-VN" sz="1600" b="1" dirty="0">
                <a:solidFill>
                  <a:srgbClr val="008000"/>
                </a:solidFill>
                <a:latin typeface="Courier New" panose="02070309020205020404" pitchFamily="49" charset="0"/>
              </a:rPr>
              <a:t>  // [72, 87, 94]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986" name="Rectangle 2">
            <a:extLst>
              <a:ext uri="{FF2B5EF4-FFF2-40B4-BE49-F238E27FC236}">
                <a16:creationId xmlns:a16="http://schemas.microsoft.com/office/drawing/2014/main" id="{5B0993A5-341C-F76E-AF8A-BD3020C21C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/>
              <a:t>A surprising example</a:t>
            </a:r>
          </a:p>
        </p:txBody>
      </p:sp>
      <p:sp>
        <p:nvSpPr>
          <p:cNvPr id="553987" name="Rectangle 3">
            <a:extLst>
              <a:ext uri="{FF2B5EF4-FFF2-40B4-BE49-F238E27FC236}">
                <a16:creationId xmlns:a16="http://schemas.microsoft.com/office/drawing/2014/main" id="{8A3D345A-E283-6F43-0476-21A96BA7A4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r>
              <a:rPr lang="en-US" altLang="vi-VN">
                <a:solidFill>
                  <a:srgbClr val="262626"/>
                </a:solidFill>
              </a:rPr>
              <a:t>What's bad about this code?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vi-VN" sz="100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 sz="2000">
                <a:solidFill>
                  <a:srgbClr val="404040"/>
                </a:solidFill>
                <a:latin typeface="Courier New" panose="02070309020205020404" pitchFamily="49" charset="0"/>
              </a:rPr>
              <a:t>List&lt;Integer&gt; list = new </a:t>
            </a:r>
            <a:r>
              <a:rPr lang="en-US" altLang="vi-VN" sz="2000" b="1">
                <a:solidFill>
                  <a:srgbClr val="404040"/>
                </a:solidFill>
                <a:latin typeface="Courier New" panose="02070309020205020404" pitchFamily="49" charset="0"/>
              </a:rPr>
              <a:t>LinkedList</a:t>
            </a:r>
            <a:r>
              <a:rPr lang="en-US" altLang="vi-VN" sz="2000">
                <a:solidFill>
                  <a:srgbClr val="404040"/>
                </a:solidFill>
                <a:latin typeface="Courier New" panose="02070309020205020404" pitchFamily="49" charset="0"/>
              </a:rPr>
              <a:t>&lt;Integer&gt;();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vi-VN" sz="80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 sz="2000" i="1">
                <a:solidFill>
                  <a:srgbClr val="404040"/>
                </a:solidFill>
              </a:rPr>
              <a:t>...  (add lots of elements) ...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vi-VN" sz="800" i="1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 sz="2000">
                <a:solidFill>
                  <a:srgbClr val="404040"/>
                </a:solidFill>
                <a:latin typeface="Courier New" panose="02070309020205020404" pitchFamily="49" charset="0"/>
              </a:rPr>
              <a:t>for (int i = 0; i &lt; </a:t>
            </a:r>
            <a:r>
              <a:rPr lang="en-US" altLang="vi-VN" sz="2000" b="1">
                <a:solidFill>
                  <a:srgbClr val="404040"/>
                </a:solidFill>
                <a:latin typeface="Courier New" panose="02070309020205020404" pitchFamily="49" charset="0"/>
              </a:rPr>
              <a:t>list.size()</a:t>
            </a:r>
            <a:r>
              <a:rPr lang="en-US" altLang="vi-VN" sz="2000">
                <a:solidFill>
                  <a:srgbClr val="404040"/>
                </a:solidFill>
                <a:latin typeface="Courier New" panose="02070309020205020404" pitchFamily="49" charset="0"/>
              </a:rPr>
              <a:t>; i++) {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 sz="2000">
                <a:solidFill>
                  <a:srgbClr val="404040"/>
                </a:solidFill>
                <a:latin typeface="Courier New" panose="02070309020205020404" pitchFamily="49" charset="0"/>
              </a:rPr>
              <a:t>    System.out.println(</a:t>
            </a:r>
            <a:r>
              <a:rPr lang="en-US" altLang="vi-VN" sz="2000" b="1">
                <a:solidFill>
                  <a:srgbClr val="404040"/>
                </a:solidFill>
                <a:latin typeface="Courier New" panose="02070309020205020404" pitchFamily="49" charset="0"/>
              </a:rPr>
              <a:t>list.get(i)</a:t>
            </a:r>
            <a:r>
              <a:rPr lang="en-US" altLang="vi-VN" sz="2000">
                <a:solidFill>
                  <a:srgbClr val="404040"/>
                </a:solidFill>
                <a:latin typeface="Courier New" panose="02070309020205020404" pitchFamily="49" charset="0"/>
              </a:rPr>
              <a:t>);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 sz="2000">
                <a:solidFill>
                  <a:srgbClr val="40404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553988" name="Rectangle 4">
            <a:extLst>
              <a:ext uri="{FF2B5EF4-FFF2-40B4-BE49-F238E27FC236}">
                <a16:creationId xmlns:a16="http://schemas.microsoft.com/office/drawing/2014/main" id="{BD96AA2E-F1CC-6ED6-45BE-FD5919366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343400"/>
            <a:ext cx="1905000" cy="1371600"/>
          </a:xfrm>
          <a:prstGeom prst="rect">
            <a:avLst/>
          </a:prstGeom>
          <a:solidFill>
            <a:srgbClr val="E6E6E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r"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r"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r"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r"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en-US" altLang="vi-VN">
                <a:latin typeface="Tahoma" panose="020B0604030504040204" pitchFamily="34" charset="0"/>
              </a:rPr>
              <a:t>front	= </a:t>
            </a:r>
          </a:p>
          <a:p>
            <a:pPr algn="l" eaLnBrk="1" hangingPunct="1">
              <a:lnSpc>
                <a:spcPct val="150000"/>
              </a:lnSpc>
            </a:pPr>
            <a:endParaRPr lang="en-US" altLang="vi-VN">
              <a:latin typeface="Tahoma" panose="020B0604030504040204" pitchFamily="34" charset="0"/>
            </a:endParaRPr>
          </a:p>
        </p:txBody>
      </p:sp>
      <p:sp>
        <p:nvSpPr>
          <p:cNvPr id="553989" name="Rectangle 5">
            <a:extLst>
              <a:ext uri="{FF2B5EF4-FFF2-40B4-BE49-F238E27FC236}">
                <a16:creationId xmlns:a16="http://schemas.microsoft.com/office/drawing/2014/main" id="{6663FA5A-DD6D-6639-A99A-0FCF5F2CD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4475" y="472440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vi-VN"/>
          </a:p>
        </p:txBody>
      </p:sp>
      <p:sp>
        <p:nvSpPr>
          <p:cNvPr id="553990" name="Line 6">
            <a:extLst>
              <a:ext uri="{FF2B5EF4-FFF2-40B4-BE49-F238E27FC236}">
                <a16:creationId xmlns:a16="http://schemas.microsoft.com/office/drawing/2014/main" id="{04FEE41E-93EB-CCA2-AD1E-799E0A679F6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24025" y="4695825"/>
            <a:ext cx="1400175" cy="190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vi-VN"/>
          </a:p>
        </p:txBody>
      </p:sp>
      <p:graphicFrame>
        <p:nvGraphicFramePr>
          <p:cNvPr id="553991" name="Group 7">
            <a:extLst>
              <a:ext uri="{FF2B5EF4-FFF2-40B4-BE49-F238E27FC236}">
                <a16:creationId xmlns:a16="http://schemas.microsoft.com/office/drawing/2014/main" id="{FA2DAC2C-B0FF-E050-8F09-FE9CF875A570}"/>
              </a:ext>
            </a:extLst>
          </p:cNvPr>
          <p:cNvGraphicFramePr>
            <a:graphicFrameLocks noGrp="1"/>
          </p:cNvGraphicFramePr>
          <p:nvPr/>
        </p:nvGraphicFramePr>
        <p:xfrm>
          <a:off x="3276600" y="4267200"/>
          <a:ext cx="1346200" cy="792480"/>
        </p:xfrm>
        <a:graphic>
          <a:graphicData uri="http://schemas.openxmlformats.org/drawingml/2006/table">
            <a:tbl>
              <a:tblPr/>
              <a:tblGrid>
                <a:gridCol w="676275">
                  <a:extLst>
                    <a:ext uri="{9D8B030D-6E8A-4147-A177-3AD203B41FA5}">
                      <a16:colId xmlns:a16="http://schemas.microsoft.com/office/drawing/2014/main" val="3896485768"/>
                    </a:ext>
                  </a:extLst>
                </a:gridCol>
                <a:gridCol w="669925">
                  <a:extLst>
                    <a:ext uri="{9D8B030D-6E8A-4147-A177-3AD203B41FA5}">
                      <a16:colId xmlns:a16="http://schemas.microsoft.com/office/drawing/2014/main" val="2628004930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next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028090"/>
                  </a:ext>
                </a:extLst>
              </a:tr>
              <a:tr h="1778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725213"/>
                  </a:ext>
                </a:extLst>
              </a:tr>
            </a:tbl>
          </a:graphicData>
        </a:graphic>
      </p:graphicFrame>
      <p:sp>
        <p:nvSpPr>
          <p:cNvPr id="554002" name="Line 18">
            <a:extLst>
              <a:ext uri="{FF2B5EF4-FFF2-40B4-BE49-F238E27FC236}">
                <a16:creationId xmlns:a16="http://schemas.microsoft.com/office/drawing/2014/main" id="{ADE69770-F9C4-2500-7F37-F314D3D2210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70400" y="4886325"/>
            <a:ext cx="762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vi-VN"/>
          </a:p>
        </p:txBody>
      </p:sp>
      <p:graphicFrame>
        <p:nvGraphicFramePr>
          <p:cNvPr id="554003" name="Group 19">
            <a:extLst>
              <a:ext uri="{FF2B5EF4-FFF2-40B4-BE49-F238E27FC236}">
                <a16:creationId xmlns:a16="http://schemas.microsoft.com/office/drawing/2014/main" id="{6E446C75-D079-DBFF-F6DD-4DA5D2D3448A}"/>
              </a:ext>
            </a:extLst>
          </p:cNvPr>
          <p:cNvGraphicFramePr>
            <a:graphicFrameLocks noGrp="1"/>
          </p:cNvGraphicFramePr>
          <p:nvPr/>
        </p:nvGraphicFramePr>
        <p:xfrm>
          <a:off x="5270500" y="4276725"/>
          <a:ext cx="1346200" cy="796290"/>
        </p:xfrm>
        <a:graphic>
          <a:graphicData uri="http://schemas.openxmlformats.org/drawingml/2006/table">
            <a:tbl>
              <a:tblPr/>
              <a:tblGrid>
                <a:gridCol w="676275">
                  <a:extLst>
                    <a:ext uri="{9D8B030D-6E8A-4147-A177-3AD203B41FA5}">
                      <a16:colId xmlns:a16="http://schemas.microsoft.com/office/drawing/2014/main" val="3100368777"/>
                    </a:ext>
                  </a:extLst>
                </a:gridCol>
                <a:gridCol w="669925">
                  <a:extLst>
                    <a:ext uri="{9D8B030D-6E8A-4147-A177-3AD203B41FA5}">
                      <a16:colId xmlns:a16="http://schemas.microsoft.com/office/drawing/2014/main" val="1618555377"/>
                    </a:ext>
                  </a:extLst>
                </a:gridCol>
              </a:tblGrid>
              <a:tr h="4000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next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885363"/>
                  </a:ext>
                </a:extLst>
              </a:tr>
              <a:tr h="1778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-3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084688"/>
                  </a:ext>
                </a:extLst>
              </a:tr>
            </a:tbl>
          </a:graphicData>
        </a:graphic>
      </p:graphicFrame>
      <p:sp>
        <p:nvSpPr>
          <p:cNvPr id="554014" name="Line 30">
            <a:extLst>
              <a:ext uri="{FF2B5EF4-FFF2-40B4-BE49-F238E27FC236}">
                <a16:creationId xmlns:a16="http://schemas.microsoft.com/office/drawing/2014/main" id="{0EEBA883-54F7-E56D-3881-BAD32D40AD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64300" y="4895850"/>
            <a:ext cx="762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vi-VN"/>
          </a:p>
        </p:txBody>
      </p:sp>
      <p:graphicFrame>
        <p:nvGraphicFramePr>
          <p:cNvPr id="554015" name="Group 31">
            <a:extLst>
              <a:ext uri="{FF2B5EF4-FFF2-40B4-BE49-F238E27FC236}">
                <a16:creationId xmlns:a16="http://schemas.microsoft.com/office/drawing/2014/main" id="{2D63D9B4-0DBD-3748-FA59-7EC552B16BB4}"/>
              </a:ext>
            </a:extLst>
          </p:cNvPr>
          <p:cNvGraphicFramePr>
            <a:graphicFrameLocks noGrp="1"/>
          </p:cNvGraphicFramePr>
          <p:nvPr/>
        </p:nvGraphicFramePr>
        <p:xfrm>
          <a:off x="7264400" y="4295775"/>
          <a:ext cx="1346200" cy="796290"/>
        </p:xfrm>
        <a:graphic>
          <a:graphicData uri="http://schemas.openxmlformats.org/drawingml/2006/table">
            <a:tbl>
              <a:tblPr/>
              <a:tblGrid>
                <a:gridCol w="676275">
                  <a:extLst>
                    <a:ext uri="{9D8B030D-6E8A-4147-A177-3AD203B41FA5}">
                      <a16:colId xmlns:a16="http://schemas.microsoft.com/office/drawing/2014/main" val="3811804226"/>
                    </a:ext>
                  </a:extLst>
                </a:gridCol>
                <a:gridCol w="669925">
                  <a:extLst>
                    <a:ext uri="{9D8B030D-6E8A-4147-A177-3AD203B41FA5}">
                      <a16:colId xmlns:a16="http://schemas.microsoft.com/office/drawing/2014/main" val="551587001"/>
                    </a:ext>
                  </a:extLst>
                </a:gridCol>
              </a:tblGrid>
              <a:tr h="4000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next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973281"/>
                  </a:ext>
                </a:extLst>
              </a:tr>
              <a:tr h="1778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769542"/>
                  </a:ext>
                </a:extLst>
              </a:tr>
            </a:tbl>
          </a:graphicData>
        </a:graphic>
      </p:graphicFrame>
      <p:sp>
        <p:nvSpPr>
          <p:cNvPr id="554026" name="Line 42">
            <a:extLst>
              <a:ext uri="{FF2B5EF4-FFF2-40B4-BE49-F238E27FC236}">
                <a16:creationId xmlns:a16="http://schemas.microsoft.com/office/drawing/2014/main" id="{CAA332A5-C457-6834-CD9B-A3C98188D7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24800" y="4705350"/>
            <a:ext cx="685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vi-VN"/>
          </a:p>
        </p:txBody>
      </p:sp>
      <p:sp>
        <p:nvSpPr>
          <p:cNvPr id="554027" name="Text Box 43">
            <a:extLst>
              <a:ext uri="{FF2B5EF4-FFF2-40B4-BE49-F238E27FC236}">
                <a16:creationId xmlns:a16="http://schemas.microsoft.com/office/drawing/2014/main" id="{857BD44A-2F3C-EE88-50A8-F56C99CB50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5195888"/>
            <a:ext cx="11906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vi-VN">
                <a:solidFill>
                  <a:schemeClr val="bg2"/>
                </a:solidFill>
                <a:latin typeface="Tahoma" panose="020B0604030504040204" pitchFamily="34" charset="0"/>
              </a:rPr>
              <a:t>element 0</a:t>
            </a:r>
          </a:p>
        </p:txBody>
      </p:sp>
      <p:sp>
        <p:nvSpPr>
          <p:cNvPr id="554028" name="Text Box 44">
            <a:extLst>
              <a:ext uri="{FF2B5EF4-FFF2-40B4-BE49-F238E27FC236}">
                <a16:creationId xmlns:a16="http://schemas.microsoft.com/office/drawing/2014/main" id="{C73E94B6-DE35-B39D-012D-E6AE73D847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2575" y="5195888"/>
            <a:ext cx="11906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vi-VN">
                <a:solidFill>
                  <a:schemeClr val="bg2"/>
                </a:solidFill>
                <a:latin typeface="Tahoma" panose="020B0604030504040204" pitchFamily="34" charset="0"/>
              </a:rPr>
              <a:t>element 1</a:t>
            </a:r>
          </a:p>
        </p:txBody>
      </p:sp>
      <p:sp>
        <p:nvSpPr>
          <p:cNvPr id="554029" name="Text Box 45">
            <a:extLst>
              <a:ext uri="{FF2B5EF4-FFF2-40B4-BE49-F238E27FC236}">
                <a16:creationId xmlns:a16="http://schemas.microsoft.com/office/drawing/2014/main" id="{62DF38DC-EE13-6DDA-373E-00EF27A07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3775" y="5195888"/>
            <a:ext cx="11906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vi-VN">
                <a:solidFill>
                  <a:schemeClr val="bg2"/>
                </a:solidFill>
                <a:latin typeface="Tahoma" panose="020B0604030504040204" pitchFamily="34" charset="0"/>
              </a:rPr>
              <a:t>element 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010" name="Rectangle 2">
            <a:extLst>
              <a:ext uri="{FF2B5EF4-FFF2-40B4-BE49-F238E27FC236}">
                <a16:creationId xmlns:a16="http://schemas.microsoft.com/office/drawing/2014/main" id="{EE34A4DA-E360-76B7-4C59-8BBDF576A2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/>
              <a:t>Iterators and linked lists</a:t>
            </a:r>
          </a:p>
        </p:txBody>
      </p:sp>
      <p:sp>
        <p:nvSpPr>
          <p:cNvPr id="555011" name="Rectangle 3">
            <a:extLst>
              <a:ext uri="{FF2B5EF4-FFF2-40B4-BE49-F238E27FC236}">
                <a16:creationId xmlns:a16="http://schemas.microsoft.com/office/drawing/2014/main" id="{F86A750F-D5DE-801D-7FA1-7B17D99D79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r>
              <a:rPr lang="en-US" altLang="vi-VN">
                <a:solidFill>
                  <a:srgbClr val="262626"/>
                </a:solidFill>
              </a:rPr>
              <a:t>Iterators are particularly useful with linked lists.</a:t>
            </a:r>
          </a:p>
          <a:p>
            <a:pPr lvl="1"/>
            <a:r>
              <a:rPr lang="en-US" altLang="vi-VN">
                <a:solidFill>
                  <a:srgbClr val="404040"/>
                </a:solidFill>
              </a:rPr>
              <a:t>The previous code is O(N</a:t>
            </a:r>
            <a:r>
              <a:rPr lang="en-US" altLang="vi-VN" baseline="30000">
                <a:solidFill>
                  <a:srgbClr val="404040"/>
                </a:solidFill>
              </a:rPr>
              <a:t>2</a:t>
            </a:r>
            <a:r>
              <a:rPr lang="en-US" altLang="vi-VN">
                <a:solidFill>
                  <a:srgbClr val="404040"/>
                </a:solidFill>
              </a:rPr>
              <a:t>) because each call on 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get</a:t>
            </a:r>
            <a:r>
              <a:rPr lang="en-US" altLang="vi-VN">
                <a:solidFill>
                  <a:srgbClr val="404040"/>
                </a:solidFill>
              </a:rPr>
              <a:t> must start from the beginning of the list and walk to index </a:t>
            </a:r>
            <a:r>
              <a:rPr lang="en-US" altLang="vi-VN">
                <a:solidFill>
                  <a:srgbClr val="404040"/>
                </a:solidFill>
                <a:latin typeface="Courier New" panose="02070309020205020404" pitchFamily="49" charset="0"/>
              </a:rPr>
              <a:t>i</a:t>
            </a:r>
            <a:r>
              <a:rPr lang="en-US" altLang="vi-VN">
                <a:solidFill>
                  <a:srgbClr val="404040"/>
                </a:solidFill>
              </a:rPr>
              <a:t>.</a:t>
            </a:r>
          </a:p>
          <a:p>
            <a:pPr lvl="1"/>
            <a:r>
              <a:rPr lang="en-US" altLang="vi-VN">
                <a:solidFill>
                  <a:srgbClr val="404040"/>
                </a:solidFill>
              </a:rPr>
              <a:t>Using an iterator, the same code is O(N).  The iterator remembers its position and doesn't start over each time.</a:t>
            </a:r>
          </a:p>
        </p:txBody>
      </p:sp>
      <p:grpSp>
        <p:nvGrpSpPr>
          <p:cNvPr id="555012" name="Group 4">
            <a:extLst>
              <a:ext uri="{FF2B5EF4-FFF2-40B4-BE49-F238E27FC236}">
                <a16:creationId xmlns:a16="http://schemas.microsoft.com/office/drawing/2014/main" id="{3B43B9EB-B8FF-E066-52A7-E4E79D3BC5EF}"/>
              </a:ext>
            </a:extLst>
          </p:cNvPr>
          <p:cNvGrpSpPr>
            <a:grpSpLocks/>
          </p:cNvGrpSpPr>
          <p:nvPr/>
        </p:nvGrpSpPr>
        <p:grpSpPr bwMode="auto">
          <a:xfrm>
            <a:off x="3794125" y="5562600"/>
            <a:ext cx="3368675" cy="1066800"/>
            <a:chOff x="2390" y="3408"/>
            <a:chExt cx="2122" cy="672"/>
          </a:xfrm>
        </p:grpSpPr>
        <p:sp>
          <p:nvSpPr>
            <p:cNvPr id="555013" name="Rectangle 5">
              <a:extLst>
                <a:ext uri="{FF2B5EF4-FFF2-40B4-BE49-F238E27FC236}">
                  <a16:creationId xmlns:a16="http://schemas.microsoft.com/office/drawing/2014/main" id="{D9E2401D-A2AE-B1EA-0434-FD93394031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1" y="3648"/>
              <a:ext cx="1491" cy="432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/>
              <a:r>
                <a:rPr lang="en-US" altLang="vi-VN">
                  <a:latin typeface="Tahoma" panose="020B0604030504040204" pitchFamily="34" charset="0"/>
                </a:rPr>
                <a:t>current element:	-3</a:t>
              </a:r>
            </a:p>
            <a:p>
              <a:pPr algn="l"/>
              <a:r>
                <a:rPr lang="en-US" altLang="vi-VN"/>
                <a:t>current index:	 1</a:t>
              </a:r>
              <a:endParaRPr lang="en-US" altLang="vi-VN">
                <a:latin typeface="Tahoma" panose="020B0604030504040204" pitchFamily="34" charset="0"/>
              </a:endParaRPr>
            </a:p>
          </p:txBody>
        </p:sp>
        <p:sp>
          <p:nvSpPr>
            <p:cNvPr id="555014" name="Line 6">
              <a:extLst>
                <a:ext uri="{FF2B5EF4-FFF2-40B4-BE49-F238E27FC236}">
                  <a16:creationId xmlns:a16="http://schemas.microsoft.com/office/drawing/2014/main" id="{2B8549C1-A1F0-AC67-BB5A-AE946E83F0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1" y="34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vi-VN"/>
            </a:p>
          </p:txBody>
        </p:sp>
        <p:sp>
          <p:nvSpPr>
            <p:cNvPr id="555015" name="Text Box 7">
              <a:extLst>
                <a:ext uri="{FF2B5EF4-FFF2-40B4-BE49-F238E27FC236}">
                  <a16:creationId xmlns:a16="http://schemas.microsoft.com/office/drawing/2014/main" id="{D297A71D-C6D3-3D68-4F87-7822564F0E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0" y="3753"/>
              <a:ext cx="5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vi-VN">
                  <a:latin typeface="Tahoma" panose="020B0604030504040204" pitchFamily="34" charset="0"/>
                </a:rPr>
                <a:t>iterator</a:t>
              </a:r>
            </a:p>
          </p:txBody>
        </p:sp>
      </p:grpSp>
      <p:sp>
        <p:nvSpPr>
          <p:cNvPr id="555016" name="Rectangle 8">
            <a:extLst>
              <a:ext uri="{FF2B5EF4-FFF2-40B4-BE49-F238E27FC236}">
                <a16:creationId xmlns:a16="http://schemas.microsoft.com/office/drawing/2014/main" id="{7C96A26C-ACEB-F043-28E7-0F9023E29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343400"/>
            <a:ext cx="1905000" cy="1371600"/>
          </a:xfrm>
          <a:prstGeom prst="rect">
            <a:avLst/>
          </a:prstGeom>
          <a:solidFill>
            <a:srgbClr val="E6E6E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r"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r"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r"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r"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en-US" altLang="vi-VN">
                <a:latin typeface="Tahoma" panose="020B0604030504040204" pitchFamily="34" charset="0"/>
              </a:rPr>
              <a:t>front	= </a:t>
            </a:r>
          </a:p>
          <a:p>
            <a:pPr algn="l" eaLnBrk="1" hangingPunct="1">
              <a:lnSpc>
                <a:spcPct val="150000"/>
              </a:lnSpc>
            </a:pPr>
            <a:endParaRPr lang="en-US" altLang="vi-VN">
              <a:latin typeface="Tahoma" panose="020B0604030504040204" pitchFamily="34" charset="0"/>
            </a:endParaRPr>
          </a:p>
        </p:txBody>
      </p:sp>
      <p:sp>
        <p:nvSpPr>
          <p:cNvPr id="555017" name="Rectangle 9">
            <a:extLst>
              <a:ext uri="{FF2B5EF4-FFF2-40B4-BE49-F238E27FC236}">
                <a16:creationId xmlns:a16="http://schemas.microsoft.com/office/drawing/2014/main" id="{A274CD3D-36FA-6CC2-0A9E-B606687CF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4475" y="472440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vi-VN"/>
          </a:p>
        </p:txBody>
      </p:sp>
      <p:sp>
        <p:nvSpPr>
          <p:cNvPr id="555018" name="Line 10">
            <a:extLst>
              <a:ext uri="{FF2B5EF4-FFF2-40B4-BE49-F238E27FC236}">
                <a16:creationId xmlns:a16="http://schemas.microsoft.com/office/drawing/2014/main" id="{13CF55CB-042F-6059-BD38-5BC5465A86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24025" y="4695825"/>
            <a:ext cx="1400175" cy="190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vi-VN"/>
          </a:p>
        </p:txBody>
      </p:sp>
      <p:graphicFrame>
        <p:nvGraphicFramePr>
          <p:cNvPr id="555019" name="Group 11">
            <a:extLst>
              <a:ext uri="{FF2B5EF4-FFF2-40B4-BE49-F238E27FC236}">
                <a16:creationId xmlns:a16="http://schemas.microsoft.com/office/drawing/2014/main" id="{1AFDC029-353E-302B-F1D1-F8609DB25F41}"/>
              </a:ext>
            </a:extLst>
          </p:cNvPr>
          <p:cNvGraphicFramePr>
            <a:graphicFrameLocks noGrp="1"/>
          </p:cNvGraphicFramePr>
          <p:nvPr/>
        </p:nvGraphicFramePr>
        <p:xfrm>
          <a:off x="3276600" y="4267200"/>
          <a:ext cx="1346200" cy="792480"/>
        </p:xfrm>
        <a:graphic>
          <a:graphicData uri="http://schemas.openxmlformats.org/drawingml/2006/table">
            <a:tbl>
              <a:tblPr/>
              <a:tblGrid>
                <a:gridCol w="676275">
                  <a:extLst>
                    <a:ext uri="{9D8B030D-6E8A-4147-A177-3AD203B41FA5}">
                      <a16:colId xmlns:a16="http://schemas.microsoft.com/office/drawing/2014/main" val="1233665355"/>
                    </a:ext>
                  </a:extLst>
                </a:gridCol>
                <a:gridCol w="669925">
                  <a:extLst>
                    <a:ext uri="{9D8B030D-6E8A-4147-A177-3AD203B41FA5}">
                      <a16:colId xmlns:a16="http://schemas.microsoft.com/office/drawing/2014/main" val="2216955674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next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372626"/>
                  </a:ext>
                </a:extLst>
              </a:tr>
              <a:tr h="1778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243333"/>
                  </a:ext>
                </a:extLst>
              </a:tr>
            </a:tbl>
          </a:graphicData>
        </a:graphic>
      </p:graphicFrame>
      <p:sp>
        <p:nvSpPr>
          <p:cNvPr id="555030" name="Line 22">
            <a:extLst>
              <a:ext uri="{FF2B5EF4-FFF2-40B4-BE49-F238E27FC236}">
                <a16:creationId xmlns:a16="http://schemas.microsoft.com/office/drawing/2014/main" id="{4E7E2B1F-C901-D6EA-37BD-A221CE29D4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70400" y="4886325"/>
            <a:ext cx="762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vi-VN"/>
          </a:p>
        </p:txBody>
      </p:sp>
      <p:graphicFrame>
        <p:nvGraphicFramePr>
          <p:cNvPr id="555031" name="Group 23">
            <a:extLst>
              <a:ext uri="{FF2B5EF4-FFF2-40B4-BE49-F238E27FC236}">
                <a16:creationId xmlns:a16="http://schemas.microsoft.com/office/drawing/2014/main" id="{A55DC869-5108-2F74-69DB-5D36AB37B447}"/>
              </a:ext>
            </a:extLst>
          </p:cNvPr>
          <p:cNvGraphicFramePr>
            <a:graphicFrameLocks noGrp="1"/>
          </p:cNvGraphicFramePr>
          <p:nvPr/>
        </p:nvGraphicFramePr>
        <p:xfrm>
          <a:off x="5270500" y="4276725"/>
          <a:ext cx="1346200" cy="796290"/>
        </p:xfrm>
        <a:graphic>
          <a:graphicData uri="http://schemas.openxmlformats.org/drawingml/2006/table">
            <a:tbl>
              <a:tblPr/>
              <a:tblGrid>
                <a:gridCol w="676275">
                  <a:extLst>
                    <a:ext uri="{9D8B030D-6E8A-4147-A177-3AD203B41FA5}">
                      <a16:colId xmlns:a16="http://schemas.microsoft.com/office/drawing/2014/main" val="2190890252"/>
                    </a:ext>
                  </a:extLst>
                </a:gridCol>
                <a:gridCol w="669925">
                  <a:extLst>
                    <a:ext uri="{9D8B030D-6E8A-4147-A177-3AD203B41FA5}">
                      <a16:colId xmlns:a16="http://schemas.microsoft.com/office/drawing/2014/main" val="3776009292"/>
                    </a:ext>
                  </a:extLst>
                </a:gridCol>
              </a:tblGrid>
              <a:tr h="4000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next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860242"/>
                  </a:ext>
                </a:extLst>
              </a:tr>
              <a:tr h="1778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-3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540084"/>
                  </a:ext>
                </a:extLst>
              </a:tr>
            </a:tbl>
          </a:graphicData>
        </a:graphic>
      </p:graphicFrame>
      <p:sp>
        <p:nvSpPr>
          <p:cNvPr id="555042" name="Line 34">
            <a:extLst>
              <a:ext uri="{FF2B5EF4-FFF2-40B4-BE49-F238E27FC236}">
                <a16:creationId xmlns:a16="http://schemas.microsoft.com/office/drawing/2014/main" id="{9BD428D5-1CDD-16B6-9D39-76DD15E02E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64300" y="4895850"/>
            <a:ext cx="762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vi-VN"/>
          </a:p>
        </p:txBody>
      </p:sp>
      <p:graphicFrame>
        <p:nvGraphicFramePr>
          <p:cNvPr id="555043" name="Group 35">
            <a:extLst>
              <a:ext uri="{FF2B5EF4-FFF2-40B4-BE49-F238E27FC236}">
                <a16:creationId xmlns:a16="http://schemas.microsoft.com/office/drawing/2014/main" id="{88FA70C6-E193-AA50-A9EF-DF39B5551F83}"/>
              </a:ext>
            </a:extLst>
          </p:cNvPr>
          <p:cNvGraphicFramePr>
            <a:graphicFrameLocks noGrp="1"/>
          </p:cNvGraphicFramePr>
          <p:nvPr/>
        </p:nvGraphicFramePr>
        <p:xfrm>
          <a:off x="7264400" y="4295775"/>
          <a:ext cx="1346200" cy="796290"/>
        </p:xfrm>
        <a:graphic>
          <a:graphicData uri="http://schemas.openxmlformats.org/drawingml/2006/table">
            <a:tbl>
              <a:tblPr/>
              <a:tblGrid>
                <a:gridCol w="676275">
                  <a:extLst>
                    <a:ext uri="{9D8B030D-6E8A-4147-A177-3AD203B41FA5}">
                      <a16:colId xmlns:a16="http://schemas.microsoft.com/office/drawing/2014/main" val="3776784917"/>
                    </a:ext>
                  </a:extLst>
                </a:gridCol>
                <a:gridCol w="669925">
                  <a:extLst>
                    <a:ext uri="{9D8B030D-6E8A-4147-A177-3AD203B41FA5}">
                      <a16:colId xmlns:a16="http://schemas.microsoft.com/office/drawing/2014/main" val="3816317328"/>
                    </a:ext>
                  </a:extLst>
                </a:gridCol>
              </a:tblGrid>
              <a:tr h="4000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next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361155"/>
                  </a:ext>
                </a:extLst>
              </a:tr>
              <a:tr h="1778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3460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7397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030288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376363"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18335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2907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747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2051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vi-VN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933368"/>
                  </a:ext>
                </a:extLst>
              </a:tr>
            </a:tbl>
          </a:graphicData>
        </a:graphic>
      </p:graphicFrame>
      <p:sp>
        <p:nvSpPr>
          <p:cNvPr id="555054" name="Line 46">
            <a:extLst>
              <a:ext uri="{FF2B5EF4-FFF2-40B4-BE49-F238E27FC236}">
                <a16:creationId xmlns:a16="http://schemas.microsoft.com/office/drawing/2014/main" id="{D5E0413D-527B-8712-03A2-B1D6892ED7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24800" y="4705350"/>
            <a:ext cx="685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vi-VN"/>
          </a:p>
        </p:txBody>
      </p:sp>
      <p:sp>
        <p:nvSpPr>
          <p:cNvPr id="555055" name="Text Box 47">
            <a:extLst>
              <a:ext uri="{FF2B5EF4-FFF2-40B4-BE49-F238E27FC236}">
                <a16:creationId xmlns:a16="http://schemas.microsoft.com/office/drawing/2014/main" id="{948C7EE6-B06E-D0DC-DAD1-597C80E1C4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5195888"/>
            <a:ext cx="11906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vi-VN">
                <a:solidFill>
                  <a:schemeClr val="bg2"/>
                </a:solidFill>
                <a:latin typeface="Tahoma" panose="020B0604030504040204" pitchFamily="34" charset="0"/>
              </a:rPr>
              <a:t>element 0</a:t>
            </a:r>
          </a:p>
        </p:txBody>
      </p:sp>
      <p:sp>
        <p:nvSpPr>
          <p:cNvPr id="555056" name="Text Box 48">
            <a:extLst>
              <a:ext uri="{FF2B5EF4-FFF2-40B4-BE49-F238E27FC236}">
                <a16:creationId xmlns:a16="http://schemas.microsoft.com/office/drawing/2014/main" id="{39828D04-06AB-C26B-9595-96784AB01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2575" y="5195888"/>
            <a:ext cx="11906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vi-VN">
                <a:solidFill>
                  <a:schemeClr val="bg2"/>
                </a:solidFill>
                <a:latin typeface="Tahoma" panose="020B0604030504040204" pitchFamily="34" charset="0"/>
              </a:rPr>
              <a:t>element 1</a:t>
            </a:r>
          </a:p>
        </p:txBody>
      </p:sp>
      <p:sp>
        <p:nvSpPr>
          <p:cNvPr id="555057" name="Text Box 49">
            <a:extLst>
              <a:ext uri="{FF2B5EF4-FFF2-40B4-BE49-F238E27FC236}">
                <a16:creationId xmlns:a16="http://schemas.microsoft.com/office/drawing/2014/main" id="{E6314D65-D425-72F6-3FCC-2508A533F7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3775" y="5195888"/>
            <a:ext cx="11906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vi-VN">
                <a:solidFill>
                  <a:schemeClr val="bg2"/>
                </a:solidFill>
                <a:latin typeface="Tahoma" panose="020B0604030504040204" pitchFamily="34" charset="0"/>
              </a:rPr>
              <a:t>element 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034" name="Rectangle 2">
            <a:extLst>
              <a:ext uri="{FF2B5EF4-FFF2-40B4-BE49-F238E27FC236}">
                <a16:creationId xmlns:a16="http://schemas.microsoft.com/office/drawing/2014/main" id="{084FA3C7-A76B-E742-E837-AF8D641954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/>
              <a:t>ListIterator</a:t>
            </a:r>
          </a:p>
        </p:txBody>
      </p:sp>
      <p:sp>
        <p:nvSpPr>
          <p:cNvPr id="556035" name="Rectangle 3">
            <a:extLst>
              <a:ext uri="{FF2B5EF4-FFF2-40B4-BE49-F238E27FC236}">
                <a16:creationId xmlns:a16="http://schemas.microsoft.com/office/drawing/2014/main" id="{7F1703C8-CA1E-6763-C32C-77118CE7C6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 lvl="1"/>
            <a:endParaRPr lang="en-US" altLang="vi-VN">
              <a:solidFill>
                <a:srgbClr val="404040"/>
              </a:solidFill>
            </a:endParaRPr>
          </a:p>
          <a:p>
            <a:pPr lvl="1"/>
            <a:endParaRPr lang="en-US" altLang="vi-VN">
              <a:solidFill>
                <a:srgbClr val="404040"/>
              </a:solidFill>
            </a:endParaRPr>
          </a:p>
          <a:p>
            <a:pPr lvl="1"/>
            <a:endParaRPr lang="en-US" altLang="vi-VN">
              <a:solidFill>
                <a:srgbClr val="404040"/>
              </a:solidFill>
            </a:endParaRPr>
          </a:p>
          <a:p>
            <a:pPr lvl="1"/>
            <a:endParaRPr lang="en-US" altLang="vi-VN">
              <a:solidFill>
                <a:srgbClr val="404040"/>
              </a:solidFill>
            </a:endParaRPr>
          </a:p>
          <a:p>
            <a:pPr lvl="1"/>
            <a:endParaRPr lang="en-US" altLang="vi-VN">
              <a:solidFill>
                <a:srgbClr val="404040"/>
              </a:solidFill>
            </a:endParaRPr>
          </a:p>
          <a:p>
            <a:pPr lvl="1"/>
            <a:endParaRPr lang="en-US" altLang="vi-VN">
              <a:solidFill>
                <a:srgbClr val="404040"/>
              </a:solidFill>
            </a:endParaRPr>
          </a:p>
          <a:p>
            <a:pPr lvl="1"/>
            <a:endParaRPr lang="en-US" altLang="vi-VN">
              <a:solidFill>
                <a:srgbClr val="404040"/>
              </a:solidFill>
            </a:endParaRPr>
          </a:p>
          <a:p>
            <a:pPr lvl="1"/>
            <a:endParaRPr lang="en-US" altLang="vi-VN">
              <a:solidFill>
                <a:srgbClr val="404040"/>
              </a:solidFill>
            </a:endParaRPr>
          </a:p>
          <a:p>
            <a:pPr lvl="1"/>
            <a:endParaRPr lang="en-US" altLang="vi-VN">
              <a:solidFill>
                <a:srgbClr val="404040"/>
              </a:solidFill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vi-VN" sz="2000">
                <a:solidFill>
                  <a:srgbClr val="404040"/>
                </a:solidFill>
                <a:latin typeface="Courier New" panose="02070309020205020404" pitchFamily="49" charset="0"/>
              </a:rPr>
              <a:t>ListIterator&lt;String&gt; li = myList.</a:t>
            </a:r>
            <a:r>
              <a:rPr lang="en-US" altLang="vi-VN" sz="2000" b="1">
                <a:solidFill>
                  <a:schemeClr val="accent2"/>
                </a:solidFill>
                <a:latin typeface="Courier New" panose="02070309020205020404" pitchFamily="49" charset="0"/>
              </a:rPr>
              <a:t>listIterator</a:t>
            </a:r>
            <a:r>
              <a:rPr lang="en-US" altLang="vi-VN" sz="2000">
                <a:solidFill>
                  <a:srgbClr val="404040"/>
                </a:solidFill>
                <a:latin typeface="Courier New" panose="02070309020205020404" pitchFamily="49" charset="0"/>
              </a:rPr>
              <a:t>();</a:t>
            </a:r>
          </a:p>
          <a:p>
            <a:pPr>
              <a:buFontTx/>
              <a:buNone/>
            </a:pPr>
            <a:endParaRPr lang="en-US" altLang="vi-VN" sz="1200">
              <a:solidFill>
                <a:srgbClr val="262626"/>
              </a:solidFill>
              <a:latin typeface="Courier New" panose="02070309020205020404" pitchFamily="49" charset="0"/>
            </a:endParaRPr>
          </a:p>
          <a:p>
            <a:r>
              <a:rPr lang="en-US" altLang="vi-VN">
                <a:solidFill>
                  <a:srgbClr val="262626"/>
                </a:solidFill>
              </a:rPr>
              <a:t>lists have a more powerful </a:t>
            </a:r>
            <a:r>
              <a:rPr lang="en-US" altLang="vi-VN">
                <a:solidFill>
                  <a:srgbClr val="262626"/>
                </a:solidFill>
                <a:latin typeface="Courier New" panose="02070309020205020404" pitchFamily="49" charset="0"/>
              </a:rPr>
              <a:t>ListIterator</a:t>
            </a:r>
            <a:r>
              <a:rPr lang="en-US" altLang="vi-VN">
                <a:solidFill>
                  <a:srgbClr val="262626"/>
                </a:solidFill>
              </a:rPr>
              <a:t> with more methods</a:t>
            </a:r>
          </a:p>
          <a:p>
            <a:pPr lvl="1"/>
            <a:r>
              <a:rPr lang="en-US" altLang="vi-VN">
                <a:solidFill>
                  <a:srgbClr val="404040"/>
                </a:solidFill>
              </a:rPr>
              <a:t>can iterate forwards or backwards</a:t>
            </a:r>
          </a:p>
          <a:p>
            <a:pPr lvl="1"/>
            <a:r>
              <a:rPr lang="en-US" altLang="vi-VN">
                <a:solidFill>
                  <a:srgbClr val="404040"/>
                </a:solidFill>
              </a:rPr>
              <a:t>can add/set element values (efficient for linked lists)</a:t>
            </a:r>
          </a:p>
        </p:txBody>
      </p:sp>
      <p:graphicFrame>
        <p:nvGraphicFramePr>
          <p:cNvPr id="556036" name="Group 4">
            <a:extLst>
              <a:ext uri="{FF2B5EF4-FFF2-40B4-BE49-F238E27FC236}">
                <a16:creationId xmlns:a16="http://schemas.microsoft.com/office/drawing/2014/main" id="{909AC835-A24C-CD7C-3A92-CA8A0CE335E5}"/>
              </a:ext>
            </a:extLst>
          </p:cNvPr>
          <p:cNvGraphicFramePr>
            <a:graphicFrameLocks noGrp="1"/>
          </p:cNvGraphicFramePr>
          <p:nvPr/>
        </p:nvGraphicFramePr>
        <p:xfrm>
          <a:off x="123825" y="1295400"/>
          <a:ext cx="8943975" cy="3542348"/>
        </p:xfrm>
        <a:graphic>
          <a:graphicData uri="http://schemas.openxmlformats.org/drawingml/2006/table">
            <a:tbl>
              <a:tblPr/>
              <a:tblGrid>
                <a:gridCol w="2619375">
                  <a:extLst>
                    <a:ext uri="{9D8B030D-6E8A-4147-A177-3AD203B41FA5}">
                      <a16:colId xmlns:a16="http://schemas.microsoft.com/office/drawing/2014/main" val="482659760"/>
                    </a:ext>
                  </a:extLst>
                </a:gridCol>
                <a:gridCol w="6324600">
                  <a:extLst>
                    <a:ext uri="{9D8B030D-6E8A-4147-A177-3AD203B41FA5}">
                      <a16:colId xmlns:a16="http://schemas.microsoft.com/office/drawing/2014/main" val="929974827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add(</a:t>
                      </a:r>
                      <a:r>
                        <a:rPr kumimoji="0" lang="en-US" altLang="vi-V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inserts an element just after the iterator's position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1088215"/>
                  </a:ext>
                </a:extLst>
              </a:tr>
              <a:tr h="58578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hasPrevious()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if there are more elements </a:t>
                      </a:r>
                      <a:r>
                        <a:rPr kumimoji="0" lang="en-US" altLang="vi-VN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before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 the iterator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6591656"/>
                  </a:ext>
                </a:extLst>
              </a:tr>
              <a:tr h="60166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nextIndex()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the index of the element that would be returned the next time 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next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is called on the iterator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8956961"/>
                  </a:ext>
                </a:extLst>
              </a:tr>
              <a:tr h="60007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previousIndex()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the index of the element that would be returned the next time 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previous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is called on the iterator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4177698"/>
                  </a:ext>
                </a:extLst>
              </a:tr>
              <a:tr h="60166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previous()</a:t>
                      </a:r>
                      <a:endParaRPr kumimoji="0" lang="en-US" altLang="vi-VN" sz="20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returns the element before the iterator (throws a 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NoSuchElementException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if there are none)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7803129"/>
                  </a:ext>
                </a:extLst>
              </a:tr>
              <a:tr h="60007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set(</a:t>
                      </a:r>
                      <a:r>
                        <a:rPr kumimoji="0" lang="en-US" altLang="vi-V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value</a:t>
                      </a:r>
                      <a:r>
                        <a:rPr kumimoji="0" lang="en-US" altLang="vi-V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replaces the element last returned by 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next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or 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previous</a:t>
                      </a:r>
                      <a:r>
                        <a:rPr kumimoji="0" lang="en-US" altLang="vi-V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with the given 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6596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9CF22D4F-F24C-417E-AB5B-5D336272499A}" vid="{25E40AFB-0DF1-4DB4-890D-FD744701D8A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10559</TotalTime>
  <Words>4894</Words>
  <Application>Microsoft Office PowerPoint</Application>
  <PresentationFormat>On-screen Show (4:3)</PresentationFormat>
  <Paragraphs>1011</Paragraphs>
  <Slides>47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6" baseType="lpstr">
      <vt:lpstr>Arial</vt:lpstr>
      <vt:lpstr>Lucida Sans</vt:lpstr>
      <vt:lpstr>Calibri</vt:lpstr>
      <vt:lpstr>Wingdings</vt:lpstr>
      <vt:lpstr>Times New Roman</vt:lpstr>
      <vt:lpstr>Tahoma</vt:lpstr>
      <vt:lpstr>Courier New</vt:lpstr>
      <vt:lpstr>Verdana</vt:lpstr>
      <vt:lpstr>Theme1</vt:lpstr>
      <vt:lpstr>PowerPoint Presentation</vt:lpstr>
      <vt:lpstr>Java Collection Framework  Tài liệu tham khảo</vt:lpstr>
      <vt:lpstr>Arrays</vt:lpstr>
      <vt:lpstr>Array declaration</vt:lpstr>
      <vt:lpstr>Accessing elements; length</vt:lpstr>
      <vt:lpstr>Limitations of arrays</vt:lpstr>
      <vt:lpstr>Collections</vt:lpstr>
      <vt:lpstr>Java collection framework</vt:lpstr>
      <vt:lpstr>Abstract data types (ADTs)</vt:lpstr>
      <vt:lpstr>Constructing a collection</vt:lpstr>
      <vt:lpstr>Why use ADTs?</vt:lpstr>
      <vt:lpstr>Lists</vt:lpstr>
      <vt:lpstr>List methods</vt:lpstr>
      <vt:lpstr>List methods 2</vt:lpstr>
      <vt:lpstr>List implementation</vt:lpstr>
      <vt:lpstr>Stacks and queues</vt:lpstr>
      <vt:lpstr>Class Stack</vt:lpstr>
      <vt:lpstr>Interface Queue</vt:lpstr>
      <vt:lpstr>Queue idioms</vt:lpstr>
      <vt:lpstr>Stack/Queue implementation</vt:lpstr>
      <vt:lpstr>Sets</vt:lpstr>
      <vt:lpstr>Set implementation</vt:lpstr>
      <vt:lpstr>Set methods</vt:lpstr>
      <vt:lpstr>Set operations</vt:lpstr>
      <vt:lpstr>Sets and ordering</vt:lpstr>
      <vt:lpstr>Comparable</vt:lpstr>
      <vt:lpstr>The "for each" loop (7.1)</vt:lpstr>
      <vt:lpstr>Set implementation</vt:lpstr>
      <vt:lpstr>Priority queue ADT</vt:lpstr>
      <vt:lpstr>Java's PriorityQueue class</vt:lpstr>
      <vt:lpstr>Priority queue ordering</vt:lpstr>
      <vt:lpstr>The Map ADT</vt:lpstr>
      <vt:lpstr>Map concepts</vt:lpstr>
      <vt:lpstr>Map implementation</vt:lpstr>
      <vt:lpstr>Map methods</vt:lpstr>
      <vt:lpstr>Using maps</vt:lpstr>
      <vt:lpstr>Maps vs. sets</vt:lpstr>
      <vt:lpstr>keySet and values</vt:lpstr>
      <vt:lpstr>Collections summary</vt:lpstr>
      <vt:lpstr>Choosing a collection</vt:lpstr>
      <vt:lpstr>Compound collections</vt:lpstr>
      <vt:lpstr>Iterators (11.1)</vt:lpstr>
      <vt:lpstr>Iterator methods</vt:lpstr>
      <vt:lpstr>Iterator example</vt:lpstr>
      <vt:lpstr>A surprising example</vt:lpstr>
      <vt:lpstr>Iterators and linked lists</vt:lpstr>
      <vt:lpstr>ListIterator</vt:lpstr>
    </vt:vector>
  </TitlesOfParts>
  <Company>University of Washington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331 Lecture Slides</dc:title>
  <dc:creator>Marty Stepp</dc:creator>
  <cp:keywords>object-oriented design, testing, design patterns, inheritance, polymorphism, Swing, AWT, graphical user interface, GUI, API, Javadoc, Java, JUnit, University of Washington, Computer Science, CSE, CSE 331</cp:keywords>
  <dc:description>Slides used in the University of Washington's CSE 331 course on software design and implementation.</dc:description>
  <cp:lastModifiedBy>Manh Son Nguyen</cp:lastModifiedBy>
  <cp:revision>1514</cp:revision>
  <dcterms:created xsi:type="dcterms:W3CDTF">2008-06-28T20:57:21Z</dcterms:created>
  <dcterms:modified xsi:type="dcterms:W3CDTF">2025-10-21T06:09:03Z</dcterms:modified>
</cp:coreProperties>
</file>