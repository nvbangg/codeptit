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74" r:id="rId20"/>
    <p:sldId id="278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5A804-278C-6785-7225-23BA7127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91" y="3064020"/>
            <a:ext cx="8229600" cy="1143000"/>
          </a:xfrm>
        </p:spPr>
        <p:txBody>
          <a:bodyPr/>
          <a:lstStyle/>
          <a:p>
            <a:r>
              <a:rPr lang="en-US" dirty="0"/>
              <a:t>Python TKINTER</a:t>
            </a:r>
          </a:p>
        </p:txBody>
      </p:sp>
    </p:spTree>
    <p:extLst>
      <p:ext uri="{BB962C8B-B14F-4D97-AF65-F5344CB8AC3E}">
        <p14:creationId xmlns:p14="http://schemas.microsoft.com/office/powerpoint/2010/main" val="337821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lập trình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/>
              <a:t>GUI (Graphical User Interface) </a:t>
            </a:r>
            <a:r>
              <a:rPr sz="2800" dirty="0" err="1"/>
              <a:t>là</a:t>
            </a:r>
            <a:r>
              <a:rPr sz="2800" dirty="0"/>
              <a:t> </a:t>
            </a:r>
            <a:r>
              <a:rPr sz="2800" dirty="0" err="1"/>
              <a:t>giao</a:t>
            </a:r>
            <a:r>
              <a:rPr sz="2800" dirty="0"/>
              <a:t> </a:t>
            </a:r>
            <a:r>
              <a:rPr sz="2800" dirty="0" err="1"/>
              <a:t>diện</a:t>
            </a:r>
            <a:r>
              <a:rPr sz="2800" dirty="0"/>
              <a:t> </a:t>
            </a:r>
            <a:r>
              <a:rPr sz="2800" dirty="0" err="1"/>
              <a:t>đồ</a:t>
            </a:r>
            <a:r>
              <a:rPr sz="2800" dirty="0"/>
              <a:t> </a:t>
            </a:r>
            <a:r>
              <a:rPr sz="2800" dirty="0" err="1"/>
              <a:t>họa</a:t>
            </a:r>
            <a:r>
              <a:rPr sz="2800" dirty="0"/>
              <a:t> </a:t>
            </a:r>
            <a:r>
              <a:rPr sz="2800" dirty="0" err="1"/>
              <a:t>giúp</a:t>
            </a:r>
            <a:r>
              <a:rPr sz="2800" dirty="0"/>
              <a:t> </a:t>
            </a:r>
            <a:r>
              <a:rPr sz="2800" dirty="0" err="1"/>
              <a:t>người</a:t>
            </a:r>
            <a:r>
              <a:rPr sz="2800" dirty="0"/>
              <a:t> </a:t>
            </a:r>
            <a:r>
              <a:rPr sz="2800" dirty="0" err="1"/>
              <a:t>dùng</a:t>
            </a:r>
            <a:r>
              <a:rPr sz="2800" dirty="0"/>
              <a:t> </a:t>
            </a:r>
            <a:r>
              <a:rPr sz="2800" dirty="0" err="1"/>
              <a:t>tương</a:t>
            </a:r>
            <a:r>
              <a:rPr sz="2800" dirty="0"/>
              <a:t> </a:t>
            </a:r>
            <a:r>
              <a:rPr sz="2800" dirty="0" err="1"/>
              <a:t>tác</a:t>
            </a:r>
            <a:r>
              <a:rPr sz="2800" dirty="0"/>
              <a:t> </a:t>
            </a:r>
            <a:r>
              <a:rPr sz="2800" dirty="0" err="1"/>
              <a:t>với</a:t>
            </a:r>
            <a:r>
              <a:rPr sz="2800" dirty="0"/>
              <a:t> </a:t>
            </a:r>
            <a:r>
              <a:rPr sz="2800" dirty="0" err="1"/>
              <a:t>chương</a:t>
            </a:r>
            <a:r>
              <a:rPr sz="2800" dirty="0"/>
              <a:t> </a:t>
            </a:r>
            <a:r>
              <a:rPr sz="2800" dirty="0" err="1"/>
              <a:t>trình</a:t>
            </a:r>
            <a:r>
              <a:rPr sz="2800" dirty="0"/>
              <a:t>.</a:t>
            </a:r>
            <a:endParaRPr lang="en-US" sz="2800" dirty="0"/>
          </a:p>
          <a:p>
            <a:pPr marL="0" indent="0">
              <a:buNone/>
              <a:defRPr sz="1800"/>
            </a:pPr>
            <a:endParaRPr lang="en-US" sz="2800" dirty="0"/>
          </a:p>
          <a:p>
            <a:pPr>
              <a:defRPr sz="1800"/>
            </a:pPr>
            <a:r>
              <a:rPr sz="2800" dirty="0" err="1"/>
              <a:t>Lợi</a:t>
            </a:r>
            <a:r>
              <a:rPr sz="2800" dirty="0"/>
              <a:t> </a:t>
            </a:r>
            <a:r>
              <a:rPr sz="2800" dirty="0" err="1"/>
              <a:t>ích</a:t>
            </a:r>
            <a:r>
              <a:rPr sz="2800" dirty="0"/>
              <a:t>: </a:t>
            </a:r>
            <a:r>
              <a:rPr sz="2800" dirty="0" err="1"/>
              <a:t>trực</a:t>
            </a:r>
            <a:r>
              <a:rPr sz="2800" dirty="0"/>
              <a:t> </a:t>
            </a:r>
            <a:r>
              <a:rPr sz="2800" dirty="0" err="1"/>
              <a:t>quan</a:t>
            </a:r>
            <a:r>
              <a:rPr sz="2800" dirty="0"/>
              <a:t>, </a:t>
            </a:r>
            <a:r>
              <a:rPr sz="2800" dirty="0" err="1"/>
              <a:t>thân</a:t>
            </a:r>
            <a:r>
              <a:rPr sz="2800" dirty="0"/>
              <a:t> </a:t>
            </a:r>
            <a:r>
              <a:rPr sz="2800" dirty="0" err="1"/>
              <a:t>thiện</a:t>
            </a:r>
            <a:r>
              <a:rPr sz="2800" dirty="0"/>
              <a:t>, </a:t>
            </a:r>
            <a:r>
              <a:rPr sz="2800" dirty="0" err="1"/>
              <a:t>dễ</a:t>
            </a:r>
            <a:r>
              <a:rPr sz="2800" dirty="0"/>
              <a:t> </a:t>
            </a:r>
            <a:r>
              <a:rPr sz="2800" dirty="0" err="1"/>
              <a:t>sử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.</a:t>
            </a:r>
          </a:p>
          <a:p>
            <a:pPr>
              <a:defRPr sz="1800"/>
            </a:pPr>
            <a:endParaRPr lang="en-US" sz="2800" dirty="0"/>
          </a:p>
          <a:p>
            <a:pPr>
              <a:defRPr sz="1800"/>
            </a:pPr>
            <a:r>
              <a:rPr sz="2800" dirty="0" err="1"/>
              <a:t>Tkinter</a:t>
            </a:r>
            <a:r>
              <a:rPr sz="2800" dirty="0"/>
              <a:t> </a:t>
            </a:r>
            <a:r>
              <a:rPr sz="2800" dirty="0" err="1"/>
              <a:t>là</a:t>
            </a:r>
            <a:r>
              <a:rPr sz="2800" dirty="0"/>
              <a:t> </a:t>
            </a:r>
            <a:r>
              <a:rPr sz="2800" dirty="0" err="1"/>
              <a:t>thư</a:t>
            </a:r>
            <a:r>
              <a:rPr sz="2800" dirty="0"/>
              <a:t> </a:t>
            </a:r>
            <a:r>
              <a:rPr sz="2800" dirty="0" err="1"/>
              <a:t>viện</a:t>
            </a:r>
            <a:r>
              <a:rPr sz="2800" dirty="0"/>
              <a:t> GUI </a:t>
            </a:r>
            <a:r>
              <a:rPr sz="2800" dirty="0" err="1"/>
              <a:t>tiêu</a:t>
            </a:r>
            <a:r>
              <a:rPr sz="2800" dirty="0"/>
              <a:t> </a:t>
            </a:r>
            <a:r>
              <a:rPr sz="2800" dirty="0" err="1"/>
              <a:t>chuẩn</a:t>
            </a:r>
            <a:r>
              <a:rPr sz="2800" dirty="0"/>
              <a:t> </a:t>
            </a:r>
            <a:r>
              <a:rPr sz="2800" dirty="0" err="1"/>
              <a:t>của</a:t>
            </a:r>
            <a:r>
              <a:rPr sz="2800" dirty="0"/>
              <a:t>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về Tkinter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72764" cy="4525963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 err="1"/>
              <a:t>Tkinter</a:t>
            </a:r>
            <a:r>
              <a:rPr sz="2800" dirty="0"/>
              <a:t> </a:t>
            </a:r>
            <a:r>
              <a:rPr sz="2800" dirty="0" err="1"/>
              <a:t>được</a:t>
            </a:r>
            <a:r>
              <a:rPr sz="2800" dirty="0"/>
              <a:t> </a:t>
            </a:r>
            <a:r>
              <a:rPr sz="2800" dirty="0" err="1"/>
              <a:t>tích</a:t>
            </a:r>
            <a:r>
              <a:rPr sz="2800" dirty="0"/>
              <a:t> </a:t>
            </a:r>
            <a:r>
              <a:rPr sz="2800" dirty="0" err="1"/>
              <a:t>hợp</a:t>
            </a:r>
            <a:r>
              <a:rPr sz="2800" dirty="0"/>
              <a:t> </a:t>
            </a:r>
            <a:r>
              <a:rPr sz="2800" dirty="0" err="1"/>
              <a:t>sẵn</a:t>
            </a:r>
            <a:r>
              <a:rPr sz="2800" dirty="0"/>
              <a:t> </a:t>
            </a:r>
            <a:r>
              <a:rPr sz="2800" dirty="0" err="1"/>
              <a:t>trong</a:t>
            </a:r>
            <a:r>
              <a:rPr sz="2800" dirty="0"/>
              <a:t> Python.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 err="1"/>
              <a:t>Hỗ</a:t>
            </a:r>
            <a:r>
              <a:rPr sz="2800" dirty="0"/>
              <a:t> </a:t>
            </a:r>
            <a:r>
              <a:rPr sz="2800" dirty="0" err="1"/>
              <a:t>trợ</a:t>
            </a:r>
            <a:r>
              <a:rPr sz="2800" dirty="0"/>
              <a:t> </a:t>
            </a:r>
            <a:r>
              <a:rPr sz="2800" dirty="0" err="1"/>
              <a:t>đa</a:t>
            </a:r>
            <a:r>
              <a:rPr sz="2800" dirty="0"/>
              <a:t> </a:t>
            </a:r>
            <a:r>
              <a:rPr sz="2800" dirty="0" err="1"/>
              <a:t>nền</a:t>
            </a:r>
            <a:r>
              <a:rPr sz="2800" dirty="0"/>
              <a:t> </a:t>
            </a:r>
            <a:r>
              <a:rPr sz="2800" dirty="0" err="1"/>
              <a:t>tảng</a:t>
            </a:r>
            <a:r>
              <a:rPr sz="2800" dirty="0"/>
              <a:t> (Windows, macOS, Linux).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Cung </a:t>
            </a:r>
            <a:r>
              <a:rPr sz="2800" dirty="0" err="1"/>
              <a:t>cấp</a:t>
            </a:r>
            <a:r>
              <a:rPr sz="2800" dirty="0"/>
              <a:t> </a:t>
            </a:r>
            <a:r>
              <a:rPr sz="2800" dirty="0" err="1"/>
              <a:t>nhiều</a:t>
            </a:r>
            <a:r>
              <a:rPr sz="2800" dirty="0"/>
              <a:t> widget: Label, Entry, Button, Frame, </a:t>
            </a:r>
            <a:r>
              <a:rPr sz="2800" dirty="0" err="1"/>
              <a:t>MessageBox</a:t>
            </a:r>
            <a:r>
              <a:rPr sz="2800" dirty="0"/>
              <a:t>...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Thích </a:t>
            </a:r>
            <a:r>
              <a:rPr sz="2800" dirty="0" err="1"/>
              <a:t>hợp</a:t>
            </a:r>
            <a:r>
              <a:rPr sz="2800" dirty="0"/>
              <a:t> </a:t>
            </a:r>
            <a:r>
              <a:rPr sz="2800" dirty="0" err="1"/>
              <a:t>cho</a:t>
            </a:r>
            <a:r>
              <a:rPr sz="2800" dirty="0"/>
              <a:t> </a:t>
            </a:r>
            <a:r>
              <a:rPr sz="2800" dirty="0" err="1"/>
              <a:t>ứng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 </a:t>
            </a:r>
            <a:r>
              <a:rPr sz="2800" dirty="0" err="1"/>
              <a:t>nhỏ</a:t>
            </a:r>
            <a:r>
              <a:rPr sz="2800" dirty="0"/>
              <a:t>, </a:t>
            </a:r>
            <a:r>
              <a:rPr sz="2800" dirty="0" err="1"/>
              <a:t>dạy</a:t>
            </a:r>
            <a:r>
              <a:rPr sz="2800" dirty="0"/>
              <a:t> </a:t>
            </a:r>
            <a:r>
              <a:rPr sz="2800" dirty="0" err="1"/>
              <a:t>học</a:t>
            </a:r>
            <a:r>
              <a:rPr sz="2800" dirty="0"/>
              <a:t>, </a:t>
            </a:r>
            <a:r>
              <a:rPr sz="2800" dirty="0" err="1"/>
              <a:t>công</a:t>
            </a:r>
            <a:r>
              <a:rPr sz="2800" dirty="0"/>
              <a:t> </a:t>
            </a:r>
            <a:r>
              <a:rPr sz="2800" dirty="0" err="1"/>
              <a:t>cụ</a:t>
            </a:r>
            <a:r>
              <a:rPr sz="2800" dirty="0"/>
              <a:t> </a:t>
            </a:r>
            <a:r>
              <a:rPr sz="2800" dirty="0" err="1"/>
              <a:t>nội</a:t>
            </a:r>
            <a:r>
              <a:rPr sz="2800" dirty="0"/>
              <a:t> </a:t>
            </a:r>
            <a:r>
              <a:rPr sz="2800" dirty="0" err="1"/>
              <a:t>bộ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Chuẩn bị môi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defRPr sz="1800"/>
            </a:pPr>
            <a:r>
              <a:rPr sz="2800" dirty="0" err="1"/>
              <a:t>Cài</a:t>
            </a:r>
            <a:r>
              <a:rPr sz="2800" dirty="0"/>
              <a:t> </a:t>
            </a:r>
            <a:r>
              <a:rPr sz="2800" dirty="0" err="1"/>
              <a:t>đặt</a:t>
            </a:r>
            <a:r>
              <a:rPr sz="2800" dirty="0"/>
              <a:t> Python ≥ 3.8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IDE: VS Code, IDLE, </a:t>
            </a:r>
            <a:r>
              <a:rPr sz="2800" dirty="0" err="1"/>
              <a:t>hoặc</a:t>
            </a:r>
            <a:r>
              <a:rPr sz="2800" dirty="0"/>
              <a:t> PyCharm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 err="1"/>
              <a:t>Cài</a:t>
            </a:r>
            <a:r>
              <a:rPr sz="2800" dirty="0"/>
              <a:t> </a:t>
            </a:r>
            <a:r>
              <a:rPr sz="2800" dirty="0" err="1"/>
              <a:t>thư</a:t>
            </a:r>
            <a:r>
              <a:rPr sz="2800" dirty="0"/>
              <a:t> </a:t>
            </a:r>
            <a:r>
              <a:rPr sz="2800" dirty="0" err="1"/>
              <a:t>viện</a:t>
            </a:r>
            <a:r>
              <a:rPr sz="2800" dirty="0"/>
              <a:t> </a:t>
            </a:r>
            <a:r>
              <a:rPr lang="en-US" sz="2800" dirty="0" err="1"/>
              <a:t>tkinter</a:t>
            </a:r>
            <a:r>
              <a:rPr lang="en-US" sz="2800" dirty="0"/>
              <a:t> </a:t>
            </a:r>
            <a:r>
              <a:rPr lang="en-US" sz="2800" dirty="0" err="1"/>
              <a:t>nếu</a:t>
            </a:r>
            <a:r>
              <a:rPr lang="en-US" sz="2800" dirty="0"/>
              <a:t> </a:t>
            </a:r>
            <a:r>
              <a:rPr lang="en-US" sz="2800" dirty="0" err="1"/>
              <a:t>chưa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sz="2800" dirty="0"/>
              <a:t>:</a:t>
            </a:r>
            <a:endParaRPr lang="en-US" sz="2800" dirty="0"/>
          </a:p>
          <a:p>
            <a:pPr marL="0" indent="0">
              <a:buNone/>
              <a:defRPr sz="1800"/>
            </a:pPr>
            <a:r>
              <a:rPr lang="en-US" sz="2800" dirty="0"/>
              <a:t>	</a:t>
            </a:r>
            <a:r>
              <a:rPr sz="2800" dirty="0">
                <a:solidFill>
                  <a:srgbClr val="FF0000"/>
                </a:solidFill>
              </a:rPr>
              <a:t>pip install </a:t>
            </a:r>
            <a:r>
              <a:rPr lang="en-US" sz="2800" dirty="0" err="1">
                <a:solidFill>
                  <a:srgbClr val="FF0000"/>
                </a:solidFill>
              </a:rPr>
              <a:t>tk</a:t>
            </a:r>
            <a:endParaRPr lang="en-US" sz="28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 err="1"/>
              <a:t>Kiểm</a:t>
            </a:r>
            <a:r>
              <a:rPr sz="2800" dirty="0"/>
              <a:t> </a:t>
            </a:r>
            <a:r>
              <a:rPr sz="2800" dirty="0" err="1"/>
              <a:t>tra</a:t>
            </a:r>
            <a:r>
              <a:rPr sz="2800" dirty="0"/>
              <a:t> </a:t>
            </a:r>
            <a:r>
              <a:rPr sz="2800" dirty="0" err="1"/>
              <a:t>Tkinter</a:t>
            </a:r>
            <a:r>
              <a:rPr sz="2800" dirty="0"/>
              <a:t> </a:t>
            </a:r>
            <a:r>
              <a:rPr sz="2800" dirty="0" err="1"/>
              <a:t>bằng</a:t>
            </a:r>
            <a:r>
              <a:rPr sz="2800" dirty="0"/>
              <a:t> </a:t>
            </a:r>
            <a:r>
              <a:rPr sz="2800" dirty="0" err="1"/>
              <a:t>cách</a:t>
            </a:r>
            <a:r>
              <a:rPr sz="2800" dirty="0"/>
              <a:t> </a:t>
            </a:r>
            <a:r>
              <a:rPr sz="2800" dirty="0" err="1"/>
              <a:t>chạy</a:t>
            </a:r>
            <a:r>
              <a:rPr sz="2800" dirty="0"/>
              <a:t>:</a:t>
            </a:r>
          </a:p>
          <a:p>
            <a:pPr marL="0" indent="0">
              <a:buNone/>
              <a:defRPr sz="1800"/>
            </a:pPr>
            <a:r>
              <a:rPr lang="en-US" sz="2800" dirty="0"/>
              <a:t>	</a:t>
            </a:r>
            <a:r>
              <a:rPr sz="2800" dirty="0">
                <a:solidFill>
                  <a:srgbClr val="FF0000"/>
                </a:solidFill>
              </a:rPr>
              <a:t>import </a:t>
            </a:r>
            <a:r>
              <a:rPr sz="2800" dirty="0" err="1">
                <a:solidFill>
                  <a:srgbClr val="FF0000"/>
                </a:solidFill>
              </a:rPr>
              <a:t>tkinter</a:t>
            </a:r>
            <a:r>
              <a:rPr sz="2800" dirty="0">
                <a:solidFill>
                  <a:srgbClr val="FF0000"/>
                </a:solidFill>
              </a:rPr>
              <a:t> as </a:t>
            </a:r>
            <a:r>
              <a:rPr sz="2800" dirty="0" err="1">
                <a:solidFill>
                  <a:srgbClr val="FF0000"/>
                </a:solidFill>
              </a:rPr>
              <a:t>tk</a:t>
            </a:r>
            <a:endParaRPr sz="28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sz="2800" dirty="0" err="1">
                <a:solidFill>
                  <a:srgbClr val="FF0000"/>
                </a:solidFill>
              </a:rPr>
              <a:t>tk</a:t>
            </a:r>
            <a:r>
              <a:rPr sz="2800" dirty="0">
                <a:solidFill>
                  <a:srgbClr val="FF0000"/>
                </a:solidFill>
              </a:rPr>
              <a:t>._test()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cửa sổ chính (Main Window)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000" dirty="0"/>
              <a:t>Code </a:t>
            </a:r>
            <a:r>
              <a:rPr sz="2000" dirty="0" err="1"/>
              <a:t>mẫu</a:t>
            </a:r>
            <a:r>
              <a:rPr sz="2000" dirty="0"/>
              <a:t>: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import </a:t>
            </a:r>
            <a:r>
              <a:rPr sz="2000" dirty="0" err="1">
                <a:solidFill>
                  <a:srgbClr val="FF0000"/>
                </a:solidFill>
              </a:rPr>
              <a:t>tkinter</a:t>
            </a:r>
            <a:r>
              <a:rPr sz="2000" dirty="0">
                <a:solidFill>
                  <a:srgbClr val="FF0000"/>
                </a:solidFill>
              </a:rPr>
              <a:t> as </a:t>
            </a:r>
            <a:r>
              <a:rPr sz="2000" dirty="0" err="1">
                <a:solidFill>
                  <a:srgbClr val="FF0000"/>
                </a:solidFill>
              </a:rPr>
              <a:t>tk</a:t>
            </a:r>
            <a:endParaRPr sz="20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root = </a:t>
            </a:r>
            <a:r>
              <a:rPr sz="2000" dirty="0" err="1">
                <a:solidFill>
                  <a:srgbClr val="FF0000"/>
                </a:solidFill>
              </a:rPr>
              <a:t>tk.Tk</a:t>
            </a:r>
            <a:r>
              <a:rPr sz="2000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 err="1">
                <a:solidFill>
                  <a:srgbClr val="FF0000"/>
                </a:solidFill>
              </a:rPr>
              <a:t>root.title</a:t>
            </a:r>
            <a:r>
              <a:rPr sz="2000" dirty="0">
                <a:solidFill>
                  <a:srgbClr val="FF0000"/>
                </a:solidFill>
              </a:rPr>
              <a:t>('Registration Form')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 err="1">
                <a:solidFill>
                  <a:srgbClr val="FF0000"/>
                </a:solidFill>
              </a:rPr>
              <a:t>root.geometry</a:t>
            </a:r>
            <a:r>
              <a:rPr sz="2000" dirty="0">
                <a:solidFill>
                  <a:srgbClr val="FF0000"/>
                </a:solidFill>
              </a:rPr>
              <a:t>('300x300')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 err="1">
                <a:solidFill>
                  <a:srgbClr val="FF0000"/>
                </a:solidFill>
              </a:rPr>
              <a:t>root.mainloop</a:t>
            </a:r>
            <a:r>
              <a:rPr sz="2000" dirty="0">
                <a:solidFill>
                  <a:srgbClr val="FF0000"/>
                </a:solidFill>
              </a:rPr>
              <a:t>()</a:t>
            </a:r>
          </a:p>
          <a:p>
            <a:pPr>
              <a:defRPr sz="1800"/>
            </a:pPr>
            <a:endParaRPr sz="2000" dirty="0"/>
          </a:p>
          <a:p>
            <a:pPr>
              <a:defRPr sz="1800"/>
            </a:pPr>
            <a:r>
              <a:rPr sz="2000" dirty="0" err="1"/>
              <a:t>Giải</a:t>
            </a:r>
            <a:r>
              <a:rPr sz="2000" dirty="0"/>
              <a:t> </a:t>
            </a:r>
            <a:r>
              <a:rPr sz="2000" dirty="0" err="1"/>
              <a:t>thích</a:t>
            </a:r>
            <a:r>
              <a:rPr sz="2000" dirty="0"/>
              <a:t>: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Tk()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r>
              <a:rPr sz="2000" dirty="0">
                <a:solidFill>
                  <a:srgbClr val="FF0000"/>
                </a:solidFill>
              </a:rPr>
              <a:t> </a:t>
            </a:r>
            <a:r>
              <a:rPr sz="2000" dirty="0" err="1"/>
              <a:t>khởi</a:t>
            </a:r>
            <a:r>
              <a:rPr sz="2000" dirty="0"/>
              <a:t> </a:t>
            </a:r>
            <a:r>
              <a:rPr sz="2000" dirty="0" err="1"/>
              <a:t>tạo</a:t>
            </a:r>
            <a:r>
              <a:rPr sz="2000" dirty="0"/>
              <a:t> </a:t>
            </a:r>
            <a:r>
              <a:rPr sz="2000" dirty="0" err="1"/>
              <a:t>cửa</a:t>
            </a:r>
            <a:r>
              <a:rPr sz="2000" dirty="0"/>
              <a:t> </a:t>
            </a:r>
            <a:r>
              <a:rPr sz="2000" dirty="0" err="1"/>
              <a:t>sổ</a:t>
            </a:r>
            <a:r>
              <a:rPr sz="2000" dirty="0"/>
              <a:t> </a:t>
            </a:r>
            <a:r>
              <a:rPr sz="2000" dirty="0" err="1"/>
              <a:t>chính</a:t>
            </a:r>
            <a:r>
              <a:rPr sz="2000" dirty="0"/>
              <a:t>.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title():</a:t>
            </a:r>
            <a:r>
              <a:rPr sz="2000" dirty="0"/>
              <a:t> </a:t>
            </a:r>
            <a:r>
              <a:rPr sz="2000" dirty="0" err="1"/>
              <a:t>đặt</a:t>
            </a:r>
            <a:r>
              <a:rPr sz="2000" dirty="0"/>
              <a:t> </a:t>
            </a:r>
            <a:r>
              <a:rPr sz="2000" dirty="0" err="1"/>
              <a:t>tiêu</a:t>
            </a:r>
            <a:r>
              <a:rPr sz="2000" dirty="0"/>
              <a:t> </a:t>
            </a:r>
            <a:r>
              <a:rPr sz="2000" dirty="0" err="1"/>
              <a:t>đề</a:t>
            </a:r>
            <a:r>
              <a:rPr sz="2000" dirty="0"/>
              <a:t>.</a:t>
            </a:r>
          </a:p>
          <a:p>
            <a:pPr>
              <a:defRPr sz="1800"/>
            </a:pPr>
            <a:r>
              <a:rPr sz="2000" dirty="0">
                <a:solidFill>
                  <a:srgbClr val="FF0000"/>
                </a:solidFill>
              </a:rPr>
              <a:t>geometry():</a:t>
            </a:r>
            <a:r>
              <a:rPr sz="2000" dirty="0"/>
              <a:t> </a:t>
            </a:r>
            <a:r>
              <a:rPr sz="2000" dirty="0" err="1"/>
              <a:t>kích</a:t>
            </a:r>
            <a:r>
              <a:rPr sz="2000" dirty="0"/>
              <a:t> </a:t>
            </a:r>
            <a:r>
              <a:rPr sz="2000" dirty="0" err="1"/>
              <a:t>thước</a:t>
            </a:r>
            <a:r>
              <a:rPr sz="2000" dirty="0"/>
              <a:t>.</a:t>
            </a:r>
          </a:p>
          <a:p>
            <a:pPr>
              <a:defRPr sz="1800"/>
            </a:pPr>
            <a:r>
              <a:rPr sz="2000" dirty="0" err="1">
                <a:solidFill>
                  <a:srgbClr val="FF0000"/>
                </a:solidFill>
              </a:rPr>
              <a:t>mainloop</a:t>
            </a:r>
            <a:r>
              <a:rPr sz="2000" dirty="0">
                <a:solidFill>
                  <a:srgbClr val="FF0000"/>
                </a:solidFill>
              </a:rPr>
              <a:t>():</a:t>
            </a:r>
            <a:r>
              <a:rPr sz="2000" dirty="0"/>
              <a:t> </a:t>
            </a:r>
            <a:r>
              <a:rPr sz="2000" dirty="0" err="1"/>
              <a:t>giữ</a:t>
            </a:r>
            <a:r>
              <a:rPr sz="2000" dirty="0"/>
              <a:t> </a:t>
            </a:r>
            <a:r>
              <a:rPr sz="2000" dirty="0" err="1"/>
              <a:t>cửa</a:t>
            </a:r>
            <a:r>
              <a:rPr sz="2000" dirty="0"/>
              <a:t> </a:t>
            </a:r>
            <a:r>
              <a:rPr sz="2000" dirty="0" err="1"/>
              <a:t>sổ</a:t>
            </a:r>
            <a:r>
              <a:rPr sz="2000" dirty="0"/>
              <a:t> </a:t>
            </a:r>
            <a:r>
              <a:rPr sz="2000" dirty="0" err="1"/>
              <a:t>hiển</a:t>
            </a:r>
            <a:r>
              <a:rPr sz="2000" dirty="0"/>
              <a:t> </a:t>
            </a:r>
            <a:r>
              <a:rPr sz="2000" dirty="0" err="1"/>
              <a:t>thị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Label và Entry (Ô nhập liệu)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defRPr sz="1800"/>
            </a:pPr>
            <a:r>
              <a:rPr sz="2400" dirty="0" err="1"/>
              <a:t>Ví</a:t>
            </a:r>
            <a:r>
              <a:rPr sz="2400" dirty="0"/>
              <a:t> </a:t>
            </a:r>
            <a:r>
              <a:rPr sz="2400" dirty="0" err="1"/>
              <a:t>dụ</a:t>
            </a:r>
            <a:r>
              <a:rPr sz="2400" dirty="0"/>
              <a:t>: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from </a:t>
            </a:r>
            <a:r>
              <a:rPr sz="2400" dirty="0" err="1">
                <a:solidFill>
                  <a:srgbClr val="FF0000"/>
                </a:solidFill>
              </a:rPr>
              <a:t>tkinter</a:t>
            </a:r>
            <a:r>
              <a:rPr sz="2400" dirty="0">
                <a:solidFill>
                  <a:srgbClr val="FF0000"/>
                </a:solidFill>
              </a:rPr>
              <a:t> import *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Label(root, text='First Name').pack()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Entry(root).pack()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Label(root, text='Email').pack()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Entry(root).pack()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Giải</a:t>
            </a:r>
            <a:r>
              <a:rPr sz="2400" dirty="0"/>
              <a:t> </a:t>
            </a:r>
            <a:r>
              <a:rPr sz="2400" dirty="0" err="1"/>
              <a:t>thích</a:t>
            </a:r>
            <a:r>
              <a:rPr sz="2400" dirty="0"/>
              <a:t>:</a:t>
            </a:r>
          </a:p>
          <a:p>
            <a:pPr>
              <a:defRPr sz="1800"/>
            </a:pPr>
            <a:r>
              <a:rPr sz="2400" dirty="0">
                <a:solidFill>
                  <a:srgbClr val="FF0000"/>
                </a:solidFill>
              </a:rPr>
              <a:t>Label</a:t>
            </a:r>
            <a:r>
              <a:rPr lang="en-US" sz="2400" dirty="0">
                <a:solidFill>
                  <a:srgbClr val="FF0000"/>
                </a:solidFill>
              </a:rPr>
              <a:t>()</a:t>
            </a:r>
            <a:r>
              <a:rPr sz="2400" dirty="0">
                <a:solidFill>
                  <a:srgbClr val="FF0000"/>
                </a:solidFill>
              </a:rPr>
              <a:t>:</a:t>
            </a:r>
            <a:r>
              <a:rPr sz="2400" dirty="0"/>
              <a:t> </a:t>
            </a:r>
            <a:r>
              <a:rPr sz="2400" dirty="0" err="1"/>
              <a:t>hiển</a:t>
            </a:r>
            <a:r>
              <a:rPr sz="2400" dirty="0"/>
              <a:t> </a:t>
            </a:r>
            <a:r>
              <a:rPr sz="2400" dirty="0" err="1"/>
              <a:t>thị</a:t>
            </a:r>
            <a:r>
              <a:rPr sz="2400" dirty="0"/>
              <a:t> text.</a:t>
            </a:r>
          </a:p>
          <a:p>
            <a:pPr>
              <a:defRPr sz="1800"/>
            </a:pPr>
            <a:r>
              <a:rPr sz="2400" dirty="0">
                <a:solidFill>
                  <a:srgbClr val="FF0000"/>
                </a:solidFill>
              </a:rPr>
              <a:t>Entry</a:t>
            </a:r>
            <a:r>
              <a:rPr lang="en-US" sz="2400" dirty="0">
                <a:solidFill>
                  <a:srgbClr val="FF0000"/>
                </a:solidFill>
              </a:rPr>
              <a:t>()</a:t>
            </a:r>
            <a:r>
              <a:rPr sz="2400" dirty="0">
                <a:solidFill>
                  <a:srgbClr val="FF0000"/>
                </a:solidFill>
              </a:rPr>
              <a:t>:</a:t>
            </a:r>
            <a:r>
              <a:rPr sz="2400" dirty="0"/>
              <a:t> ô </a:t>
            </a:r>
            <a:r>
              <a:rPr sz="2400" dirty="0" err="1"/>
              <a:t>nhập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.</a:t>
            </a:r>
          </a:p>
          <a:p>
            <a:pPr>
              <a:defRPr sz="1800"/>
            </a:pPr>
            <a:r>
              <a:rPr sz="2400" dirty="0">
                <a:solidFill>
                  <a:srgbClr val="FF0000"/>
                </a:solidFill>
              </a:rPr>
              <a:t>pack():</a:t>
            </a:r>
            <a:r>
              <a:rPr sz="2400" dirty="0"/>
              <a:t> </a:t>
            </a:r>
            <a:r>
              <a:rPr sz="2400" dirty="0" err="1"/>
              <a:t>bố</a:t>
            </a:r>
            <a:r>
              <a:rPr sz="2400" dirty="0"/>
              <a:t> </a:t>
            </a:r>
            <a:r>
              <a:rPr sz="2400" dirty="0" err="1"/>
              <a:t>trí</a:t>
            </a:r>
            <a:r>
              <a:rPr sz="2400" dirty="0"/>
              <a:t> widget </a:t>
            </a:r>
            <a:r>
              <a:rPr sz="2400" dirty="0" err="1"/>
              <a:t>theo</a:t>
            </a:r>
            <a:r>
              <a:rPr sz="2400" dirty="0"/>
              <a:t> </a:t>
            </a:r>
            <a:r>
              <a:rPr sz="2400" dirty="0" err="1"/>
              <a:t>thứ</a:t>
            </a:r>
            <a:r>
              <a:rPr sz="2400" dirty="0"/>
              <a:t> </a:t>
            </a:r>
            <a:r>
              <a:rPr sz="2400" dirty="0" err="1"/>
              <a:t>tự</a:t>
            </a:r>
            <a:r>
              <a:rPr sz="2400" dirty="0"/>
              <a:t> </a:t>
            </a:r>
            <a:r>
              <a:rPr sz="2400" dirty="0" err="1"/>
              <a:t>thêm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Thêm nút bấm và xử lý sự kiện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400" dirty="0" err="1"/>
              <a:t>Tạo</a:t>
            </a:r>
            <a:r>
              <a:rPr sz="2400" dirty="0"/>
              <a:t> </a:t>
            </a:r>
            <a:r>
              <a:rPr sz="2400" dirty="0" err="1"/>
              <a:t>nút</a:t>
            </a:r>
            <a:r>
              <a:rPr sz="2400" dirty="0"/>
              <a:t> </a:t>
            </a:r>
            <a:r>
              <a:rPr sz="2400" dirty="0" err="1"/>
              <a:t>bấm</a:t>
            </a:r>
            <a:r>
              <a:rPr sz="2400" dirty="0"/>
              <a:t>:</a:t>
            </a:r>
          </a:p>
          <a:p>
            <a:pPr marL="0" indent="0">
              <a:buNone/>
              <a:defRPr sz="1800"/>
            </a:pPr>
            <a:r>
              <a:rPr lang="en-US" sz="2400" dirty="0"/>
              <a:t>	</a:t>
            </a:r>
            <a:r>
              <a:rPr sz="2400" dirty="0">
                <a:solidFill>
                  <a:srgbClr val="FF0000"/>
                </a:solidFill>
              </a:rPr>
              <a:t>Button(root, text='Submit', command=register).pack()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Hàm</a:t>
            </a:r>
            <a:r>
              <a:rPr sz="2400" dirty="0"/>
              <a:t> </a:t>
            </a:r>
            <a:r>
              <a:rPr sz="2400" dirty="0" err="1"/>
              <a:t>xử</a:t>
            </a:r>
            <a:r>
              <a:rPr sz="2400" dirty="0"/>
              <a:t> </a:t>
            </a:r>
            <a:r>
              <a:rPr sz="2400" dirty="0" err="1"/>
              <a:t>lý</a:t>
            </a:r>
            <a:r>
              <a:rPr sz="2400" dirty="0"/>
              <a:t> </a:t>
            </a:r>
            <a:r>
              <a:rPr sz="2400" dirty="0" err="1"/>
              <a:t>sự</a:t>
            </a:r>
            <a:r>
              <a:rPr sz="2400" dirty="0"/>
              <a:t> </a:t>
            </a:r>
            <a:r>
              <a:rPr sz="2400" dirty="0" err="1"/>
              <a:t>kiện</a:t>
            </a:r>
            <a:r>
              <a:rPr sz="2400" dirty="0"/>
              <a:t>:</a:t>
            </a:r>
          </a:p>
          <a:p>
            <a:pPr marL="0" indent="0">
              <a:buNone/>
              <a:defRPr sz="1800"/>
            </a:pPr>
            <a:r>
              <a:rPr lang="en-US" sz="2400" dirty="0"/>
              <a:t>	</a:t>
            </a:r>
            <a:r>
              <a:rPr sz="2400" dirty="0">
                <a:solidFill>
                  <a:srgbClr val="FF0000"/>
                </a:solidFill>
              </a:rPr>
              <a:t>def register():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name = </a:t>
            </a:r>
            <a:r>
              <a:rPr sz="2400" dirty="0" err="1">
                <a:solidFill>
                  <a:srgbClr val="FF0000"/>
                </a:solidFill>
              </a:rPr>
              <a:t>name_entry.get</a:t>
            </a:r>
            <a:r>
              <a:rPr sz="2400" dirty="0">
                <a:solidFill>
                  <a:srgbClr val="FF0000"/>
                </a:solidFill>
              </a:rPr>
              <a:t>()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email = </a:t>
            </a:r>
            <a:r>
              <a:rPr sz="2400" dirty="0" err="1">
                <a:solidFill>
                  <a:srgbClr val="FF0000"/>
                </a:solidFill>
              </a:rPr>
              <a:t>email_entry.get</a:t>
            </a:r>
            <a:r>
              <a:rPr sz="2400" dirty="0">
                <a:solidFill>
                  <a:srgbClr val="FF0000"/>
                </a:solidFill>
              </a:rPr>
              <a:t>()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 err="1">
                <a:solidFill>
                  <a:srgbClr val="FF0000"/>
                </a:solidFill>
              </a:rPr>
              <a:t>messagebox.showinfo</a:t>
            </a:r>
            <a:r>
              <a:rPr sz="2400" dirty="0">
                <a:solidFill>
                  <a:srgbClr val="FF0000"/>
                </a:solidFill>
              </a:rPr>
              <a:t>('Success', '</a:t>
            </a:r>
            <a:r>
              <a:rPr sz="2400" dirty="0" err="1">
                <a:solidFill>
                  <a:srgbClr val="FF0000"/>
                </a:solidFill>
              </a:rPr>
              <a:t>Dữ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liệu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đã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được</a:t>
            </a:r>
            <a:r>
              <a:rPr sz="2400" dirty="0">
                <a:solidFill>
                  <a:srgbClr val="FF0000"/>
                </a:solidFill>
              </a:rPr>
              <a:t> </a:t>
            </a:r>
            <a:r>
              <a:rPr sz="2400" dirty="0" err="1">
                <a:solidFill>
                  <a:srgbClr val="FF0000"/>
                </a:solidFill>
              </a:rPr>
              <a:t>lưu</a:t>
            </a:r>
            <a:r>
              <a:rPr sz="2400" dirty="0">
                <a:solidFill>
                  <a:srgbClr val="FF0000"/>
                </a:solidFill>
              </a:rPr>
              <a:t>!')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Lưu dữ liệu vào file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import </a:t>
            </a:r>
            <a:r>
              <a:rPr sz="2400" dirty="0" err="1">
                <a:solidFill>
                  <a:srgbClr val="FF0000"/>
                </a:solidFill>
              </a:rPr>
              <a:t>openpyxl</a:t>
            </a:r>
            <a:endParaRPr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sz="2400" dirty="0" err="1">
                <a:solidFill>
                  <a:srgbClr val="FF0000"/>
                </a:solidFill>
              </a:rPr>
              <a:t>wb</a:t>
            </a:r>
            <a:r>
              <a:rPr sz="2400" dirty="0">
                <a:solidFill>
                  <a:srgbClr val="FF0000"/>
                </a:solidFill>
              </a:rPr>
              <a:t> = </a:t>
            </a:r>
            <a:r>
              <a:rPr sz="2400" dirty="0" err="1">
                <a:solidFill>
                  <a:srgbClr val="FF0000"/>
                </a:solidFill>
              </a:rPr>
              <a:t>openpyxl.load_workbook</a:t>
            </a:r>
            <a:r>
              <a:rPr sz="2400" dirty="0">
                <a:solidFill>
                  <a:srgbClr val="FF0000"/>
                </a:solidFill>
              </a:rPr>
              <a:t>('data.xlsx')</a:t>
            </a:r>
          </a:p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sheet = </a:t>
            </a:r>
            <a:r>
              <a:rPr sz="2400" dirty="0" err="1">
                <a:solidFill>
                  <a:srgbClr val="FF0000"/>
                </a:solidFill>
              </a:rPr>
              <a:t>wb.active</a:t>
            </a:r>
            <a:endParaRPr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sz="2400" dirty="0" err="1">
                <a:solidFill>
                  <a:srgbClr val="FF0000"/>
                </a:solidFill>
              </a:rPr>
              <a:t>sheet.append</a:t>
            </a:r>
            <a:r>
              <a:rPr sz="2400" dirty="0">
                <a:solidFill>
                  <a:srgbClr val="FF0000"/>
                </a:solidFill>
              </a:rPr>
              <a:t>([name, email])</a:t>
            </a:r>
          </a:p>
          <a:p>
            <a:pPr marL="0" indent="0">
              <a:buNone/>
              <a:defRPr sz="1800"/>
            </a:pPr>
            <a:r>
              <a:rPr sz="2400" dirty="0" err="1">
                <a:solidFill>
                  <a:srgbClr val="FF0000"/>
                </a:solidFill>
              </a:rPr>
              <a:t>wb.save</a:t>
            </a:r>
            <a:r>
              <a:rPr sz="2400" dirty="0">
                <a:solidFill>
                  <a:srgbClr val="FF0000"/>
                </a:solidFill>
              </a:rPr>
              <a:t>('data.xlsx')</a:t>
            </a:r>
          </a:p>
          <a:p>
            <a:pPr marL="0" indent="0">
              <a:buNone/>
              <a:defRPr sz="1800"/>
            </a:pPr>
            <a:r>
              <a:rPr sz="2400" dirty="0" err="1">
                <a:solidFill>
                  <a:srgbClr val="FF0000"/>
                </a:solidFill>
              </a:rPr>
              <a:t>messagebox.showinfo</a:t>
            </a:r>
            <a:r>
              <a:rPr sz="2400" dirty="0">
                <a:solidFill>
                  <a:srgbClr val="FF0000"/>
                </a:solidFill>
              </a:rPr>
              <a:t>('Success', 'Registration successful!')</a:t>
            </a:r>
          </a:p>
          <a:p>
            <a:pPr>
              <a:defRPr sz="1800"/>
            </a:pPr>
            <a:endParaRPr sz="2400" dirty="0"/>
          </a:p>
          <a:p>
            <a:pPr marL="0" indent="0">
              <a:buNone/>
              <a:defRPr sz="1800"/>
            </a:pPr>
            <a:r>
              <a:rPr lang="en-US" sz="2400" dirty="0"/>
              <a:t>=&gt;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được</a:t>
            </a:r>
            <a:r>
              <a:rPr sz="2400" dirty="0"/>
              <a:t> </a:t>
            </a:r>
            <a:r>
              <a:rPr sz="2400" dirty="0" err="1"/>
              <a:t>ghi</a:t>
            </a:r>
            <a:r>
              <a:rPr sz="2400" dirty="0"/>
              <a:t> </a:t>
            </a:r>
            <a:r>
              <a:rPr sz="2400" dirty="0" err="1"/>
              <a:t>thêm</a:t>
            </a:r>
            <a:r>
              <a:rPr sz="2400" dirty="0"/>
              <a:t> </a:t>
            </a:r>
            <a:r>
              <a:rPr sz="2400" dirty="0" err="1"/>
              <a:t>vào</a:t>
            </a:r>
            <a:r>
              <a:rPr sz="2400" dirty="0"/>
              <a:t> </a:t>
            </a:r>
            <a:r>
              <a:rPr sz="2400" dirty="0" err="1"/>
              <a:t>cuối</a:t>
            </a:r>
            <a:r>
              <a:rPr sz="2400" dirty="0"/>
              <a:t> file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Chương trình hoàn chỉnh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800" dirty="0" err="1"/>
              <a:t>Kết</a:t>
            </a:r>
            <a:r>
              <a:rPr sz="2800" dirty="0"/>
              <a:t> </a:t>
            </a:r>
            <a:r>
              <a:rPr sz="2800" dirty="0" err="1"/>
              <a:t>hợp</a:t>
            </a:r>
            <a:r>
              <a:rPr sz="2800" dirty="0"/>
              <a:t> </a:t>
            </a:r>
            <a:r>
              <a:rPr sz="2800" dirty="0" err="1"/>
              <a:t>tất</a:t>
            </a:r>
            <a:r>
              <a:rPr sz="2800" dirty="0"/>
              <a:t> </a:t>
            </a:r>
            <a:r>
              <a:rPr sz="2800" dirty="0" err="1"/>
              <a:t>cả</a:t>
            </a:r>
            <a:r>
              <a:rPr sz="2800" dirty="0"/>
              <a:t> </a:t>
            </a:r>
            <a:r>
              <a:rPr sz="2800" dirty="0" err="1"/>
              <a:t>phần</a:t>
            </a:r>
            <a:r>
              <a:rPr sz="2800" dirty="0"/>
              <a:t>:</a:t>
            </a:r>
          </a:p>
          <a:p>
            <a:pPr lvl="1">
              <a:defRPr sz="1800"/>
            </a:pPr>
            <a:r>
              <a:rPr sz="2400" dirty="0"/>
              <a:t>Import </a:t>
            </a:r>
            <a:r>
              <a:rPr sz="2400" dirty="0" err="1"/>
              <a:t>tkinter</a:t>
            </a:r>
            <a:r>
              <a:rPr sz="2400" dirty="0"/>
              <a:t>, </a:t>
            </a:r>
            <a:r>
              <a:rPr sz="2400" dirty="0" err="1"/>
              <a:t>messagebox</a:t>
            </a:r>
            <a:r>
              <a:rPr sz="2400" dirty="0"/>
              <a:t>, </a:t>
            </a:r>
            <a:r>
              <a:rPr sz="2400" dirty="0" err="1"/>
              <a:t>openpyxl</a:t>
            </a:r>
            <a:endParaRPr sz="2400" dirty="0"/>
          </a:p>
          <a:p>
            <a:pPr lvl="1">
              <a:defRPr sz="1800"/>
            </a:pPr>
            <a:r>
              <a:rPr sz="2400" dirty="0" err="1"/>
              <a:t>Tạo</a:t>
            </a:r>
            <a:r>
              <a:rPr sz="2400" dirty="0"/>
              <a:t> </a:t>
            </a:r>
            <a:r>
              <a:rPr sz="2400" dirty="0" err="1"/>
              <a:t>cửa</a:t>
            </a:r>
            <a:r>
              <a:rPr sz="2400" dirty="0"/>
              <a:t> </a:t>
            </a:r>
            <a:r>
              <a:rPr sz="2400" dirty="0" err="1"/>
              <a:t>sổ</a:t>
            </a:r>
            <a:r>
              <a:rPr sz="2400" dirty="0"/>
              <a:t>, label, entry, button</a:t>
            </a:r>
          </a:p>
          <a:p>
            <a:pPr lvl="1">
              <a:defRPr sz="1800"/>
            </a:pPr>
            <a:r>
              <a:rPr sz="2400" dirty="0" err="1"/>
              <a:t>Hàm</a:t>
            </a:r>
            <a:r>
              <a:rPr sz="2400" dirty="0"/>
              <a:t> register() </a:t>
            </a:r>
            <a:r>
              <a:rPr sz="2400" dirty="0" err="1"/>
              <a:t>lưu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vào</a:t>
            </a:r>
            <a:r>
              <a:rPr sz="2400" dirty="0"/>
              <a:t> Excel</a:t>
            </a:r>
          </a:p>
          <a:p>
            <a:pPr lvl="1">
              <a:defRPr sz="1800"/>
            </a:pPr>
            <a:r>
              <a:rPr sz="2400" dirty="0" err="1"/>
              <a:t>Gọi</a:t>
            </a:r>
            <a:r>
              <a:rPr sz="2400" dirty="0"/>
              <a:t> </a:t>
            </a:r>
            <a:r>
              <a:rPr sz="2400" dirty="0" err="1"/>
              <a:t>root.mainloop</a:t>
            </a:r>
            <a:r>
              <a:rPr sz="2400" dirty="0"/>
              <a:t>()</a:t>
            </a:r>
            <a:endParaRPr lang="en-US" sz="2400" dirty="0"/>
          </a:p>
          <a:p>
            <a:pPr marL="457200" lvl="1" indent="0">
              <a:buNone/>
              <a:defRPr sz="1800"/>
            </a:pPr>
            <a:endParaRPr sz="2400" dirty="0"/>
          </a:p>
          <a:p>
            <a:pPr marL="0" indent="0">
              <a:buNone/>
              <a:defRPr sz="1800"/>
            </a:pPr>
            <a:r>
              <a:rPr lang="en-US" sz="2800" dirty="0"/>
              <a:t>=&gt;</a:t>
            </a:r>
            <a:r>
              <a:rPr sz="2800" dirty="0"/>
              <a:t> </a:t>
            </a:r>
            <a:r>
              <a:rPr sz="2800" dirty="0" err="1"/>
              <a:t>Ứng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 </a:t>
            </a:r>
            <a:r>
              <a:rPr sz="2800" dirty="0" err="1"/>
              <a:t>có</a:t>
            </a:r>
            <a:r>
              <a:rPr sz="2800" dirty="0"/>
              <a:t> </a:t>
            </a:r>
            <a:r>
              <a:rPr sz="2800" dirty="0" err="1"/>
              <a:t>thể</a:t>
            </a:r>
            <a:r>
              <a:rPr sz="2800" dirty="0"/>
              <a:t> </a:t>
            </a:r>
            <a:r>
              <a:rPr sz="2800" dirty="0" err="1"/>
              <a:t>chạy</a:t>
            </a:r>
            <a:r>
              <a:rPr sz="2800" dirty="0"/>
              <a:t> </a:t>
            </a:r>
            <a:r>
              <a:rPr sz="2800" dirty="0" err="1"/>
              <a:t>độc</a:t>
            </a:r>
            <a:r>
              <a:rPr sz="2800" dirty="0"/>
              <a:t> </a:t>
            </a:r>
            <a:r>
              <a:rPr sz="2800" dirty="0" err="1"/>
              <a:t>lập</a:t>
            </a:r>
            <a:r>
              <a:rPr sz="2800" dirty="0"/>
              <a:t> </a:t>
            </a:r>
            <a:r>
              <a:rPr sz="2800" dirty="0" err="1"/>
              <a:t>để</a:t>
            </a:r>
            <a:r>
              <a:rPr sz="2800" dirty="0"/>
              <a:t> </a:t>
            </a:r>
            <a:r>
              <a:rPr sz="2800" dirty="0" err="1"/>
              <a:t>nhập</a:t>
            </a:r>
            <a:r>
              <a:rPr sz="2800" dirty="0"/>
              <a:t> </a:t>
            </a:r>
            <a:r>
              <a:rPr sz="2800" dirty="0" err="1"/>
              <a:t>dữ</a:t>
            </a:r>
            <a:r>
              <a:rPr sz="2800" dirty="0"/>
              <a:t> </a:t>
            </a:r>
            <a:r>
              <a:rPr sz="2800" dirty="0" err="1"/>
              <a:t>liệu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Mở rộng và cải tiến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defRPr sz="1800"/>
            </a:pPr>
            <a:r>
              <a:rPr sz="2400" dirty="0" err="1"/>
              <a:t>Thêm</a:t>
            </a:r>
            <a:r>
              <a:rPr sz="2400" dirty="0"/>
              <a:t> </a:t>
            </a:r>
            <a:r>
              <a:rPr sz="2400" dirty="0" err="1"/>
              <a:t>kiểm</a:t>
            </a:r>
            <a:r>
              <a:rPr sz="2400" dirty="0"/>
              <a:t> </a:t>
            </a:r>
            <a:r>
              <a:rPr sz="2400" dirty="0" err="1"/>
              <a:t>tra</a:t>
            </a:r>
            <a:r>
              <a:rPr sz="2400" dirty="0"/>
              <a:t> </a:t>
            </a:r>
            <a:r>
              <a:rPr sz="2400" dirty="0" err="1"/>
              <a:t>hợp</a:t>
            </a:r>
            <a:r>
              <a:rPr sz="2400" dirty="0"/>
              <a:t> </a:t>
            </a:r>
            <a:r>
              <a:rPr sz="2400" dirty="0" err="1"/>
              <a:t>lệ</a:t>
            </a:r>
            <a:r>
              <a:rPr sz="2400" dirty="0"/>
              <a:t> (validation): Email, </a:t>
            </a:r>
            <a:r>
              <a:rPr sz="2400" dirty="0" err="1"/>
              <a:t>số</a:t>
            </a:r>
            <a:r>
              <a:rPr sz="2400" dirty="0"/>
              <a:t> </a:t>
            </a:r>
            <a:r>
              <a:rPr sz="2400" dirty="0" err="1"/>
              <a:t>điện</a:t>
            </a:r>
            <a:r>
              <a:rPr sz="2400" dirty="0"/>
              <a:t> </a:t>
            </a:r>
            <a:r>
              <a:rPr sz="2400" dirty="0" err="1"/>
              <a:t>thoại</a:t>
            </a:r>
            <a:r>
              <a:rPr sz="2400" dirty="0"/>
              <a:t>.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Dùng</a:t>
            </a:r>
            <a:r>
              <a:rPr sz="2400" dirty="0"/>
              <a:t> grid() </a:t>
            </a:r>
            <a:r>
              <a:rPr sz="2400" dirty="0" err="1"/>
              <a:t>hoặc</a:t>
            </a:r>
            <a:r>
              <a:rPr sz="2400" dirty="0"/>
              <a:t> place() </a:t>
            </a:r>
            <a:r>
              <a:rPr sz="2400" dirty="0" err="1"/>
              <a:t>thay</a:t>
            </a:r>
            <a:r>
              <a:rPr sz="2400" dirty="0"/>
              <a:t> </a:t>
            </a:r>
            <a:r>
              <a:rPr sz="2400" dirty="0" err="1"/>
              <a:t>vì</a:t>
            </a:r>
            <a:r>
              <a:rPr sz="2400" dirty="0"/>
              <a:t> pack() </a:t>
            </a:r>
            <a:r>
              <a:rPr sz="2400" dirty="0" err="1"/>
              <a:t>để</a:t>
            </a:r>
            <a:r>
              <a:rPr sz="2400" dirty="0"/>
              <a:t> </a:t>
            </a:r>
            <a:r>
              <a:rPr sz="2400" dirty="0" err="1"/>
              <a:t>bố</a:t>
            </a:r>
            <a:r>
              <a:rPr sz="2400" dirty="0"/>
              <a:t> </a:t>
            </a:r>
            <a:r>
              <a:rPr sz="2400" dirty="0" err="1"/>
              <a:t>trí</a:t>
            </a:r>
            <a:r>
              <a:rPr sz="2400" dirty="0"/>
              <a:t> </a:t>
            </a:r>
            <a:r>
              <a:rPr sz="2400" dirty="0" err="1"/>
              <a:t>đẹp</a:t>
            </a:r>
            <a:r>
              <a:rPr sz="2400" dirty="0"/>
              <a:t> </a:t>
            </a:r>
            <a:r>
              <a:rPr sz="2400" dirty="0" err="1"/>
              <a:t>hơn</a:t>
            </a:r>
            <a:r>
              <a:rPr sz="2400" dirty="0"/>
              <a:t>.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Thêm</a:t>
            </a:r>
            <a:r>
              <a:rPr sz="2400" dirty="0"/>
              <a:t> </a:t>
            </a:r>
            <a:r>
              <a:rPr sz="2400" dirty="0" err="1"/>
              <a:t>ComboBox</a:t>
            </a:r>
            <a:r>
              <a:rPr sz="2400" dirty="0"/>
              <a:t>, </a:t>
            </a:r>
            <a:r>
              <a:rPr sz="2400" dirty="0" err="1"/>
              <a:t>RadioButton</a:t>
            </a:r>
            <a:r>
              <a:rPr sz="2400" dirty="0"/>
              <a:t>, </a:t>
            </a:r>
            <a:r>
              <a:rPr sz="2400" dirty="0" err="1"/>
              <a:t>CheckBox</a:t>
            </a:r>
            <a:r>
              <a:rPr sz="2400" dirty="0"/>
              <a:t>.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Lưu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vào</a:t>
            </a:r>
            <a:r>
              <a:rPr sz="2400" dirty="0"/>
              <a:t> </a:t>
            </a:r>
            <a:r>
              <a:rPr sz="2400" dirty="0" err="1"/>
              <a:t>cơ</a:t>
            </a:r>
            <a:r>
              <a:rPr sz="2400" dirty="0"/>
              <a:t> </a:t>
            </a:r>
            <a:r>
              <a:rPr sz="2400" dirty="0" err="1"/>
              <a:t>sở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(SQLite/MySQL).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7A38-3567-60FB-FAB9-45F544E1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37" y="2786929"/>
            <a:ext cx="8229600" cy="1143000"/>
          </a:xfrm>
        </p:spPr>
        <p:txBody>
          <a:bodyPr/>
          <a:lstStyle/>
          <a:p>
            <a:r>
              <a:rPr lang="en-US" dirty="0"/>
              <a:t>Python FLASK</a:t>
            </a:r>
          </a:p>
        </p:txBody>
      </p:sp>
    </p:spTree>
    <p:extLst>
      <p:ext uri="{BB962C8B-B14F-4D97-AF65-F5344CB8AC3E}">
        <p14:creationId xmlns:p14="http://schemas.microsoft.com/office/powerpoint/2010/main" val="249565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65127" cy="4525963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sz="2800" dirty="0"/>
              <a:t>Flask </a:t>
            </a:r>
            <a:r>
              <a:rPr sz="2800" dirty="0" err="1"/>
              <a:t>là</a:t>
            </a:r>
            <a:r>
              <a:rPr sz="2800" dirty="0"/>
              <a:t> micro-framework </a:t>
            </a:r>
            <a:r>
              <a:rPr sz="2800" dirty="0" err="1"/>
              <a:t>dành</a:t>
            </a:r>
            <a:r>
              <a:rPr sz="2800" dirty="0"/>
              <a:t> </a:t>
            </a:r>
            <a:r>
              <a:rPr sz="2800" dirty="0" err="1"/>
              <a:t>cho</a:t>
            </a:r>
            <a:r>
              <a:rPr sz="2800" dirty="0"/>
              <a:t> Python, </a:t>
            </a:r>
            <a:r>
              <a:rPr sz="2800" dirty="0" err="1"/>
              <a:t>nhẹ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linh</a:t>
            </a:r>
            <a:r>
              <a:rPr sz="2800" dirty="0"/>
              <a:t> </a:t>
            </a:r>
            <a:r>
              <a:rPr sz="2800" dirty="0" err="1"/>
              <a:t>hoạt</a:t>
            </a:r>
            <a:endParaRPr lang="en-US" sz="2800" dirty="0"/>
          </a:p>
          <a:p>
            <a:pPr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Thích </a:t>
            </a:r>
            <a:r>
              <a:rPr sz="2800" dirty="0" err="1"/>
              <a:t>hợp</a:t>
            </a:r>
            <a:r>
              <a:rPr sz="2800" dirty="0"/>
              <a:t> </a:t>
            </a:r>
            <a:r>
              <a:rPr sz="2800" dirty="0" err="1"/>
              <a:t>cho</a:t>
            </a:r>
            <a:r>
              <a:rPr sz="2800" dirty="0"/>
              <a:t> </a:t>
            </a:r>
            <a:r>
              <a:rPr sz="2800" dirty="0" err="1"/>
              <a:t>các</a:t>
            </a:r>
            <a:r>
              <a:rPr sz="2800" dirty="0"/>
              <a:t> </a:t>
            </a:r>
            <a:r>
              <a:rPr sz="2800" dirty="0" err="1"/>
              <a:t>ứng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 </a:t>
            </a:r>
            <a:r>
              <a:rPr sz="2800" dirty="0" err="1"/>
              <a:t>nhỏ</a:t>
            </a:r>
            <a:r>
              <a:rPr sz="2800" dirty="0"/>
              <a:t> </a:t>
            </a:r>
            <a:r>
              <a:rPr sz="2800" dirty="0" err="1"/>
              <a:t>và</a:t>
            </a:r>
            <a:r>
              <a:rPr sz="2800" dirty="0"/>
              <a:t> </a:t>
            </a:r>
            <a:r>
              <a:rPr sz="2800" dirty="0" err="1"/>
              <a:t>dịch</a:t>
            </a:r>
            <a:r>
              <a:rPr sz="2800" dirty="0"/>
              <a:t> </a:t>
            </a:r>
            <a:r>
              <a:rPr sz="2800" dirty="0" err="1"/>
              <a:t>vụ</a:t>
            </a:r>
            <a:r>
              <a:rPr sz="2800" dirty="0"/>
              <a:t> API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So </a:t>
            </a:r>
            <a:r>
              <a:rPr sz="2800" dirty="0" err="1"/>
              <a:t>sánh</a:t>
            </a:r>
            <a:r>
              <a:rPr sz="2800" dirty="0"/>
              <a:t>: Django (</a:t>
            </a:r>
            <a:r>
              <a:rPr sz="2800" dirty="0" err="1"/>
              <a:t>nặng</a:t>
            </a:r>
            <a:r>
              <a:rPr sz="2800" dirty="0"/>
              <a:t>, </a:t>
            </a:r>
            <a:r>
              <a:rPr sz="2800" dirty="0" err="1"/>
              <a:t>đầy</a:t>
            </a:r>
            <a:r>
              <a:rPr sz="2800" dirty="0"/>
              <a:t> </a:t>
            </a:r>
            <a:r>
              <a:rPr sz="2800" dirty="0" err="1"/>
              <a:t>đủ</a:t>
            </a:r>
            <a:r>
              <a:rPr sz="2800" dirty="0"/>
              <a:t>) vs Flask (</a:t>
            </a:r>
            <a:r>
              <a:rPr sz="2800" dirty="0" err="1"/>
              <a:t>nhẹ</a:t>
            </a:r>
            <a:r>
              <a:rPr sz="2800" dirty="0"/>
              <a:t>, </a:t>
            </a:r>
            <a:r>
              <a:rPr sz="2800" dirty="0" err="1"/>
              <a:t>tự</a:t>
            </a:r>
            <a:r>
              <a:rPr sz="2800" dirty="0"/>
              <a:t> do </a:t>
            </a:r>
            <a:r>
              <a:rPr sz="2800" dirty="0" err="1"/>
              <a:t>thiết</a:t>
            </a:r>
            <a:r>
              <a:rPr sz="2800" dirty="0"/>
              <a:t> </a:t>
            </a:r>
            <a:r>
              <a:rPr sz="2800" dirty="0" err="1"/>
              <a:t>kế</a:t>
            </a:r>
            <a:r>
              <a:rPr sz="2800" dirty="0"/>
              <a:t>)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/>
              <a:t>Flask </a:t>
            </a:r>
            <a:r>
              <a:rPr sz="2800" dirty="0" err="1"/>
              <a:t>cung</a:t>
            </a:r>
            <a:r>
              <a:rPr sz="2800" dirty="0"/>
              <a:t> </a:t>
            </a:r>
            <a:r>
              <a:rPr sz="2800" dirty="0" err="1"/>
              <a:t>cấp</a:t>
            </a:r>
            <a:r>
              <a:rPr sz="2800" dirty="0"/>
              <a:t> routing, templates, session, JSON, REST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800" dirty="0"/>
              <a:t>REST = Representational State Transfer</a:t>
            </a:r>
            <a:endParaRPr lang="en-US" sz="2800" dirty="0"/>
          </a:p>
          <a:p>
            <a:pPr marL="0" indent="0">
              <a:buNone/>
              <a:defRPr sz="1800"/>
            </a:pPr>
            <a:endParaRPr sz="2800" dirty="0"/>
          </a:p>
          <a:p>
            <a:pPr>
              <a:defRPr sz="1800"/>
            </a:pPr>
            <a:r>
              <a:rPr sz="2800" dirty="0" err="1"/>
              <a:t>Sử</a:t>
            </a:r>
            <a:r>
              <a:rPr sz="2800" dirty="0"/>
              <a:t> </a:t>
            </a:r>
            <a:r>
              <a:rPr sz="2800" dirty="0" err="1"/>
              <a:t>dụng</a:t>
            </a:r>
            <a:r>
              <a:rPr sz="2800" dirty="0"/>
              <a:t> </a:t>
            </a:r>
            <a:r>
              <a:rPr sz="2800" dirty="0" err="1"/>
              <a:t>các</a:t>
            </a:r>
            <a:r>
              <a:rPr sz="2800" dirty="0"/>
              <a:t> HTTP method </a:t>
            </a:r>
            <a:r>
              <a:rPr sz="2800" dirty="0" err="1"/>
              <a:t>chuẩn</a:t>
            </a:r>
            <a:r>
              <a:rPr sz="2800" dirty="0"/>
              <a:t>:</a:t>
            </a:r>
          </a:p>
          <a:p>
            <a:pPr lvl="1">
              <a:defRPr sz="1800"/>
            </a:pPr>
            <a:r>
              <a:rPr sz="2400" dirty="0"/>
              <a:t>GET → </a:t>
            </a:r>
            <a:r>
              <a:rPr sz="2400" dirty="0" err="1"/>
              <a:t>Lấy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endParaRPr sz="2400" dirty="0"/>
          </a:p>
          <a:p>
            <a:pPr lvl="1">
              <a:defRPr sz="1800"/>
            </a:pPr>
            <a:r>
              <a:rPr sz="2400" dirty="0"/>
              <a:t>POST → </a:t>
            </a:r>
            <a:r>
              <a:rPr sz="2400" dirty="0" err="1"/>
              <a:t>Thêm</a:t>
            </a:r>
            <a:r>
              <a:rPr sz="2400" dirty="0"/>
              <a:t> </a:t>
            </a:r>
            <a:r>
              <a:rPr sz="2400" dirty="0" err="1"/>
              <a:t>mới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endParaRPr sz="2400" dirty="0"/>
          </a:p>
          <a:p>
            <a:pPr lvl="1">
              <a:defRPr sz="1800"/>
            </a:pPr>
            <a:r>
              <a:rPr sz="2400" dirty="0"/>
              <a:t>PUT/PATCH → </a:t>
            </a:r>
            <a:r>
              <a:rPr sz="2400" dirty="0" err="1"/>
              <a:t>Cập</a:t>
            </a:r>
            <a:r>
              <a:rPr sz="2400" dirty="0"/>
              <a:t> </a:t>
            </a:r>
            <a:r>
              <a:rPr sz="2400" dirty="0" err="1"/>
              <a:t>nhật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endParaRPr sz="2400" dirty="0"/>
          </a:p>
          <a:p>
            <a:pPr lvl="1">
              <a:defRPr sz="1800"/>
            </a:pPr>
            <a:r>
              <a:rPr sz="2400" dirty="0"/>
              <a:t>DELETE → </a:t>
            </a:r>
            <a:r>
              <a:rPr sz="2400" dirty="0" err="1"/>
              <a:t>Xoá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Cài đặt môi trường &amp; khởi tạo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defRPr sz="1800"/>
            </a:pPr>
            <a:r>
              <a:rPr sz="2000" dirty="0" err="1"/>
              <a:t>Cài</a:t>
            </a:r>
            <a:r>
              <a:rPr sz="2000" dirty="0"/>
              <a:t> Flask:</a:t>
            </a:r>
          </a:p>
          <a:p>
            <a:pPr marL="0" indent="0">
              <a:buNone/>
              <a:defRPr sz="1800"/>
            </a:pPr>
            <a:r>
              <a:rPr lang="en-US" sz="2000" dirty="0"/>
              <a:t>	</a:t>
            </a:r>
            <a:r>
              <a:rPr sz="2000" dirty="0">
                <a:solidFill>
                  <a:srgbClr val="FF0000"/>
                </a:solidFill>
              </a:rPr>
              <a:t>pip install Flask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endParaRPr sz="2000" dirty="0"/>
          </a:p>
          <a:p>
            <a:pPr>
              <a:defRPr sz="1800"/>
            </a:pPr>
            <a:r>
              <a:rPr sz="2000" dirty="0" err="1"/>
              <a:t>Tạo</a:t>
            </a:r>
            <a:r>
              <a:rPr sz="2000" dirty="0"/>
              <a:t> file app.py: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from flask import Flask, </a:t>
            </a:r>
            <a:r>
              <a:rPr sz="2000" dirty="0" err="1">
                <a:solidFill>
                  <a:srgbClr val="FF0000"/>
                </a:solidFill>
              </a:rPr>
              <a:t>jsonify</a:t>
            </a:r>
            <a:endParaRPr sz="20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app = Flask(__name__)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@app.route('/')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def home():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  <a:r>
              <a:rPr sz="2000" dirty="0">
                <a:solidFill>
                  <a:srgbClr val="FF0000"/>
                </a:solidFill>
              </a:rPr>
              <a:t>return </a:t>
            </a:r>
            <a:r>
              <a:rPr sz="2000" dirty="0" err="1">
                <a:solidFill>
                  <a:srgbClr val="FF0000"/>
                </a:solidFill>
              </a:rPr>
              <a:t>jsonify</a:t>
            </a:r>
            <a:r>
              <a:rPr sz="2000" dirty="0">
                <a:solidFill>
                  <a:srgbClr val="FF0000"/>
                </a:solidFill>
              </a:rPr>
              <a:t>({'</a:t>
            </a:r>
            <a:r>
              <a:rPr sz="2000" dirty="0" err="1">
                <a:solidFill>
                  <a:srgbClr val="FF0000"/>
                </a:solidFill>
              </a:rPr>
              <a:t>message':'Hello</a:t>
            </a:r>
            <a:r>
              <a:rPr sz="2000" dirty="0">
                <a:solidFill>
                  <a:srgbClr val="FF0000"/>
                </a:solidFill>
              </a:rPr>
              <a:t> Flask'})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sz="2000" dirty="0">
                <a:solidFill>
                  <a:srgbClr val="FF0000"/>
                </a:solidFill>
              </a:rPr>
              <a:t>if __name__ == '__main__’:</a:t>
            </a:r>
          </a:p>
          <a:p>
            <a:pPr marL="0" indent="0">
              <a:buNone/>
              <a:defRPr sz="1800"/>
            </a:pPr>
            <a:r>
              <a:rPr lang="en-US" sz="2000" dirty="0">
                <a:solidFill>
                  <a:srgbClr val="FF0000"/>
                </a:solidFill>
              </a:rPr>
              <a:t>		</a:t>
            </a:r>
            <a:r>
              <a:rPr sz="2000" dirty="0" err="1">
                <a:solidFill>
                  <a:srgbClr val="FF0000"/>
                </a:solidFill>
              </a:rPr>
              <a:t>app.run</a:t>
            </a:r>
            <a:r>
              <a:rPr sz="2000" dirty="0">
                <a:solidFill>
                  <a:srgbClr val="FF0000"/>
                </a:solidFill>
              </a:rPr>
              <a:t>(debug=True)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endpoint với GET &amp;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from flask import Flask, </a:t>
            </a:r>
            <a:r>
              <a:rPr sz="2400" dirty="0" err="1">
                <a:solidFill>
                  <a:srgbClr val="FF0000"/>
                </a:solidFill>
              </a:rPr>
              <a:t>jsonify</a:t>
            </a:r>
            <a:r>
              <a:rPr sz="2400" dirty="0">
                <a:solidFill>
                  <a:srgbClr val="FF0000"/>
                </a:solidFill>
              </a:rPr>
              <a:t>, request</a:t>
            </a:r>
          </a:p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app = Flask(__name__)</a:t>
            </a:r>
          </a:p>
          <a:p>
            <a:pPr marL="0" indent="0">
              <a:buNone/>
              <a:defRPr sz="1800"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@app.route('/', methods=['GET','POST'])</a:t>
            </a:r>
          </a:p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def home():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if </a:t>
            </a:r>
            <a:r>
              <a:rPr sz="2400" dirty="0" err="1">
                <a:solidFill>
                  <a:srgbClr val="FF0000"/>
                </a:solidFill>
              </a:rPr>
              <a:t>request.method</a:t>
            </a:r>
            <a:r>
              <a:rPr sz="2400" dirty="0">
                <a:solidFill>
                  <a:srgbClr val="FF0000"/>
                </a:solidFill>
              </a:rPr>
              <a:t> == 'GET’: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return </a:t>
            </a:r>
            <a:r>
              <a:rPr sz="2400" dirty="0" err="1">
                <a:solidFill>
                  <a:srgbClr val="FF0000"/>
                </a:solidFill>
              </a:rPr>
              <a:t>jsonify</a:t>
            </a:r>
            <a:r>
              <a:rPr sz="2400" dirty="0">
                <a:solidFill>
                  <a:srgbClr val="FF0000"/>
                </a:solidFill>
              </a:rPr>
              <a:t>({'data': 'hello world’})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else: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data = </a:t>
            </a:r>
            <a:r>
              <a:rPr sz="2400" dirty="0" err="1">
                <a:solidFill>
                  <a:srgbClr val="FF0000"/>
                </a:solidFill>
              </a:rPr>
              <a:t>request.get_json</a:t>
            </a:r>
            <a:r>
              <a:rPr sz="2400" dirty="0">
                <a:solidFill>
                  <a:srgbClr val="FF0000"/>
                </a:solidFill>
              </a:rPr>
              <a:t>()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return </a:t>
            </a:r>
            <a:r>
              <a:rPr sz="2400" dirty="0" err="1">
                <a:solidFill>
                  <a:srgbClr val="FF0000"/>
                </a:solidFill>
              </a:rPr>
              <a:t>jsonify</a:t>
            </a:r>
            <a:r>
              <a:rPr sz="2400" dirty="0">
                <a:solidFill>
                  <a:srgbClr val="FF0000"/>
                </a:solidFill>
              </a:rPr>
              <a:t>({'</a:t>
            </a:r>
            <a:r>
              <a:rPr sz="2400" dirty="0" err="1">
                <a:solidFill>
                  <a:srgbClr val="FF0000"/>
                </a:solidFill>
              </a:rPr>
              <a:t>you_sent</a:t>
            </a:r>
            <a:r>
              <a:rPr sz="2400" dirty="0">
                <a:solidFill>
                  <a:srgbClr val="FF0000"/>
                </a:solidFill>
              </a:rPr>
              <a:t>': data}), 201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Tham số truy vấn &amp; URL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Flask </a:t>
            </a:r>
            <a:r>
              <a:rPr sz="2400" dirty="0" err="1"/>
              <a:t>hỗ</a:t>
            </a:r>
            <a:r>
              <a:rPr sz="2400" dirty="0"/>
              <a:t> </a:t>
            </a:r>
            <a:r>
              <a:rPr sz="2400" dirty="0" err="1"/>
              <a:t>trợ</a:t>
            </a:r>
            <a:r>
              <a:rPr sz="2400" dirty="0"/>
              <a:t> </a:t>
            </a:r>
            <a:r>
              <a:rPr sz="2400" dirty="0" err="1"/>
              <a:t>biến</a:t>
            </a:r>
            <a:r>
              <a:rPr sz="2400" dirty="0"/>
              <a:t> </a:t>
            </a:r>
            <a:r>
              <a:rPr sz="2400" dirty="0" err="1"/>
              <a:t>trong</a:t>
            </a:r>
            <a:r>
              <a:rPr sz="2400" dirty="0"/>
              <a:t> route: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@app.route('/item/&lt;int:id&gt;’)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def item(id): 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	</a:t>
            </a:r>
            <a:r>
              <a:rPr sz="2400" dirty="0">
                <a:solidFill>
                  <a:srgbClr val="FF0000"/>
                </a:solidFill>
              </a:rPr>
              <a:t>return </a:t>
            </a:r>
            <a:r>
              <a:rPr sz="2400" dirty="0" err="1">
                <a:solidFill>
                  <a:srgbClr val="FF0000"/>
                </a:solidFill>
              </a:rPr>
              <a:t>jsonify</a:t>
            </a:r>
            <a:r>
              <a:rPr sz="2400" dirty="0">
                <a:solidFill>
                  <a:srgbClr val="FF0000"/>
                </a:solidFill>
              </a:rPr>
              <a:t>({'id': id})</a:t>
            </a:r>
          </a:p>
          <a:p>
            <a:pPr>
              <a:defRPr sz="1800"/>
            </a:pPr>
            <a:endParaRPr lang="en-US" sz="2400" dirty="0"/>
          </a:p>
          <a:p>
            <a:pPr>
              <a:defRPr sz="1800"/>
            </a:pPr>
            <a:r>
              <a:rPr sz="2400" dirty="0"/>
              <a:t>Query parameter: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name = </a:t>
            </a:r>
            <a:r>
              <a:rPr sz="2400" dirty="0" err="1">
                <a:solidFill>
                  <a:srgbClr val="FF0000"/>
                </a:solidFill>
              </a:rPr>
              <a:t>request.args.get</a:t>
            </a:r>
            <a:r>
              <a:rPr sz="2400" dirty="0">
                <a:solidFill>
                  <a:srgbClr val="FF0000"/>
                </a:solidFill>
              </a:rPr>
              <a:t>('name’)</a:t>
            </a: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sort = </a:t>
            </a:r>
            <a:r>
              <a:rPr sz="2400" dirty="0" err="1">
                <a:solidFill>
                  <a:srgbClr val="FF0000"/>
                </a:solidFill>
              </a:rPr>
              <a:t>request.args.get</a:t>
            </a:r>
            <a:r>
              <a:rPr sz="2400" dirty="0">
                <a:solidFill>
                  <a:srgbClr val="FF0000"/>
                </a:solidFill>
              </a:rPr>
              <a:t>('sort’)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sz="2400" dirty="0">
                <a:solidFill>
                  <a:srgbClr val="FF0000"/>
                </a:solidFill>
              </a:rPr>
              <a:t>return </a:t>
            </a:r>
            <a:r>
              <a:rPr sz="2400" dirty="0" err="1">
                <a:solidFill>
                  <a:srgbClr val="FF0000"/>
                </a:solidFill>
              </a:rPr>
              <a:t>jsonify</a:t>
            </a:r>
            <a:r>
              <a:rPr sz="2400" dirty="0">
                <a:solidFill>
                  <a:srgbClr val="FF0000"/>
                </a:solidFill>
              </a:rPr>
              <a:t>({'</a:t>
            </a:r>
            <a:r>
              <a:rPr sz="2400" dirty="0" err="1">
                <a:solidFill>
                  <a:srgbClr val="FF0000"/>
                </a:solidFill>
              </a:rPr>
              <a:t>name':name</a:t>
            </a:r>
            <a:r>
              <a:rPr sz="2400" dirty="0">
                <a:solidFill>
                  <a:srgbClr val="FF0000"/>
                </a:solidFill>
              </a:rPr>
              <a:t>, '</a:t>
            </a:r>
            <a:r>
              <a:rPr sz="2400" dirty="0" err="1">
                <a:solidFill>
                  <a:srgbClr val="FF0000"/>
                </a:solidFill>
              </a:rPr>
              <a:t>sort':sort</a:t>
            </a:r>
            <a:r>
              <a:rPr sz="2400" dirty="0">
                <a:solidFill>
                  <a:srgbClr val="FF0000"/>
                </a:solidFill>
              </a:rPr>
              <a:t>})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Kiểm thử API bằng Postman hoặc curl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Postman: </a:t>
            </a:r>
            <a:r>
              <a:rPr sz="2400" dirty="0" err="1"/>
              <a:t>tạo</a:t>
            </a:r>
            <a:r>
              <a:rPr sz="2400" dirty="0"/>
              <a:t> request, </a:t>
            </a:r>
            <a:r>
              <a:rPr sz="2400" dirty="0" err="1"/>
              <a:t>chọn</a:t>
            </a:r>
            <a:r>
              <a:rPr sz="2400" dirty="0"/>
              <a:t> method, </a:t>
            </a:r>
            <a:r>
              <a:rPr sz="2400" dirty="0" err="1"/>
              <a:t>thêm</a:t>
            </a:r>
            <a:r>
              <a:rPr sz="2400" dirty="0"/>
              <a:t> JSON body.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curl </a:t>
            </a:r>
            <a:r>
              <a:rPr sz="2400" dirty="0" err="1"/>
              <a:t>ví</a:t>
            </a:r>
            <a:r>
              <a:rPr sz="2400" dirty="0"/>
              <a:t> </a:t>
            </a:r>
            <a:r>
              <a:rPr sz="2400" dirty="0" err="1"/>
              <a:t>dụ</a:t>
            </a:r>
            <a:r>
              <a:rPr sz="2400" dirty="0"/>
              <a:t>:</a:t>
            </a:r>
          </a:p>
          <a:p>
            <a:pPr marL="0" indent="0">
              <a:buNone/>
              <a:defRPr sz="1800"/>
            </a:pPr>
            <a:r>
              <a:rPr sz="2400" dirty="0">
                <a:solidFill>
                  <a:srgbClr val="FF0000"/>
                </a:solidFill>
              </a:rPr>
              <a:t>curl -X POST http://127.0.0.1:5000/ -H 'Content-Type: application/</a:t>
            </a:r>
            <a:r>
              <a:rPr sz="2400" dirty="0" err="1">
                <a:solidFill>
                  <a:srgbClr val="FF0000"/>
                </a:solidFill>
              </a:rPr>
              <a:t>json</a:t>
            </a:r>
            <a:r>
              <a:rPr sz="2400" dirty="0">
                <a:solidFill>
                  <a:srgbClr val="FF0000"/>
                </a:solidFill>
              </a:rPr>
              <a:t>' -d '{"</a:t>
            </a:r>
            <a:r>
              <a:rPr sz="2400" dirty="0" err="1">
                <a:solidFill>
                  <a:srgbClr val="FF0000"/>
                </a:solidFill>
              </a:rPr>
              <a:t>msg":"hi</a:t>
            </a:r>
            <a:r>
              <a:rPr sz="2400" dirty="0">
                <a:solidFill>
                  <a:srgbClr val="FF0000"/>
                </a:solidFill>
              </a:rPr>
              <a:t>"}'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Kiểm</a:t>
            </a:r>
            <a:r>
              <a:rPr sz="2400" dirty="0"/>
              <a:t> </a:t>
            </a:r>
            <a:r>
              <a:rPr sz="2400" dirty="0" err="1"/>
              <a:t>thử</a:t>
            </a:r>
            <a:r>
              <a:rPr sz="2400" dirty="0"/>
              <a:t> </a:t>
            </a:r>
            <a:r>
              <a:rPr sz="2400" dirty="0" err="1"/>
              <a:t>mã</a:t>
            </a:r>
            <a:r>
              <a:rPr sz="2400" dirty="0"/>
              <a:t> </a:t>
            </a:r>
            <a:r>
              <a:rPr sz="2400" dirty="0" err="1"/>
              <a:t>trạng</a:t>
            </a:r>
            <a:r>
              <a:rPr sz="2400" dirty="0"/>
              <a:t> </a:t>
            </a:r>
            <a:r>
              <a:rPr sz="2400" dirty="0" err="1"/>
              <a:t>thái</a:t>
            </a:r>
            <a:r>
              <a:rPr sz="2400" dirty="0"/>
              <a:t> (200, 201, 404) </a:t>
            </a:r>
            <a:r>
              <a:rPr sz="2400" dirty="0" err="1"/>
              <a:t>và</a:t>
            </a:r>
            <a:r>
              <a:rPr sz="2400" dirty="0"/>
              <a:t> </a:t>
            </a:r>
            <a:r>
              <a:rPr sz="2400" dirty="0" err="1"/>
              <a:t>phản</a:t>
            </a:r>
            <a:r>
              <a:rPr sz="2400" dirty="0"/>
              <a:t> </a:t>
            </a:r>
            <a:r>
              <a:rPr sz="2400" dirty="0" err="1"/>
              <a:t>hồi</a:t>
            </a:r>
            <a:r>
              <a:rPr sz="2400" dirty="0"/>
              <a:t> JSON.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&amp; Bảo mật API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 err="1"/>
              <a:t>Thêm</a:t>
            </a:r>
            <a:r>
              <a:rPr sz="2400" dirty="0"/>
              <a:t> Authentication (token </a:t>
            </a:r>
            <a:r>
              <a:rPr sz="2400" dirty="0" err="1"/>
              <a:t>hoặc</a:t>
            </a:r>
            <a:r>
              <a:rPr sz="2400" dirty="0"/>
              <a:t> JWT)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Sử</a:t>
            </a:r>
            <a:r>
              <a:rPr sz="2400" dirty="0"/>
              <a:t> </a:t>
            </a:r>
            <a:r>
              <a:rPr sz="2400" dirty="0" err="1"/>
              <a:t>dụng</a:t>
            </a:r>
            <a:r>
              <a:rPr sz="2400" dirty="0"/>
              <a:t> CORS (Cross-Origin Resource Sharing)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Xử</a:t>
            </a:r>
            <a:r>
              <a:rPr sz="2400" dirty="0"/>
              <a:t> </a:t>
            </a:r>
            <a:r>
              <a:rPr sz="2400" dirty="0" err="1"/>
              <a:t>lý</a:t>
            </a:r>
            <a:r>
              <a:rPr sz="2400" dirty="0"/>
              <a:t> </a:t>
            </a:r>
            <a:r>
              <a:rPr sz="2400" dirty="0" err="1"/>
              <a:t>lỗi</a:t>
            </a:r>
            <a:r>
              <a:rPr sz="2400" dirty="0"/>
              <a:t> </a:t>
            </a:r>
            <a:r>
              <a:rPr sz="2400" dirty="0" err="1"/>
              <a:t>với</a:t>
            </a:r>
            <a:r>
              <a:rPr sz="2400" dirty="0"/>
              <a:t> </a:t>
            </a:r>
            <a:r>
              <a:rPr sz="2400" dirty="0" err="1"/>
              <a:t>mã</a:t>
            </a:r>
            <a:r>
              <a:rPr sz="2400" dirty="0"/>
              <a:t> </a:t>
            </a:r>
            <a:r>
              <a:rPr sz="2400" dirty="0" err="1"/>
              <a:t>trạng</a:t>
            </a:r>
            <a:r>
              <a:rPr sz="2400" dirty="0"/>
              <a:t> </a:t>
            </a:r>
            <a:r>
              <a:rPr sz="2400" dirty="0" err="1"/>
              <a:t>thái</a:t>
            </a:r>
            <a:r>
              <a:rPr sz="2400" dirty="0"/>
              <a:t> </a:t>
            </a:r>
            <a:r>
              <a:rPr sz="2400" dirty="0" err="1"/>
              <a:t>đúng</a:t>
            </a:r>
            <a:r>
              <a:rPr sz="2400" dirty="0"/>
              <a:t> </a:t>
            </a:r>
            <a:r>
              <a:rPr sz="2400" dirty="0" err="1"/>
              <a:t>chuẩn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Cấu</a:t>
            </a:r>
            <a:r>
              <a:rPr sz="2400" dirty="0"/>
              <a:t> </a:t>
            </a:r>
            <a:r>
              <a:rPr sz="2400" dirty="0" err="1"/>
              <a:t>trúc</a:t>
            </a:r>
            <a:r>
              <a:rPr sz="2400" dirty="0"/>
              <a:t> project: blueprints, service layer, models</a:t>
            </a:r>
            <a:endParaRPr lang="en-US"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 err="1"/>
              <a:t>Gợi</a:t>
            </a:r>
            <a:r>
              <a:rPr sz="2400" dirty="0"/>
              <a:t> ý: Flask-JWT, Flask-CORS, </a:t>
            </a:r>
            <a:r>
              <a:rPr sz="2400" dirty="0" err="1"/>
              <a:t>SQLAlchemy</a:t>
            </a:r>
            <a:endParaRPr lang="en-US" sz="2400" dirty="0"/>
          </a:p>
          <a:p>
            <a:pPr marL="0" indent="0">
              <a:buNone/>
              <a:defRPr sz="1800"/>
            </a:pPr>
            <a:endParaRPr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 dụ CRUD – Quản lý Books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75B7F6-7C1D-6B2E-3A51-0714B7E83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753F-34D1-DB61-9DBB-F7CD85D4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960C-4C92-7400-B58B-6418E79FF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00200"/>
            <a:ext cx="8783781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err="1"/>
              <a:t>Bài</a:t>
            </a:r>
            <a:r>
              <a:rPr lang="en-US" b="1" u="sng" dirty="0"/>
              <a:t> 1</a:t>
            </a:r>
            <a:r>
              <a:rPr lang="en-US" b="1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Tạo</a:t>
            </a:r>
            <a:r>
              <a:rPr lang="en-US" dirty="0"/>
              <a:t> 1 service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hang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SQLite. Cung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RESTfulAPI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Post API -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:</a:t>
            </a:r>
          </a:p>
          <a:p>
            <a:pPr lvl="1">
              <a:buFontTx/>
              <a:buChar char="-"/>
            </a:pPr>
            <a:r>
              <a:rPr lang="en-US" dirty="0" err="1"/>
              <a:t>Tên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,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, Email</a:t>
            </a:r>
          </a:p>
          <a:p>
            <a:pPr>
              <a:buFontTx/>
              <a:buChar char="-"/>
            </a:pPr>
            <a:r>
              <a:rPr lang="en-US" dirty="0"/>
              <a:t>GET API -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/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(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).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query string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http://127.0.0.1:5000/search?</a:t>
            </a:r>
            <a:r>
              <a:rPr lang="en-US" sz="2100" dirty="0">
                <a:solidFill>
                  <a:srgbClr val="FF0000"/>
                </a:solidFill>
                <a:latin typeface="Courier New" panose="02070309020205020404" pitchFamily="49" charset="0"/>
              </a:rPr>
              <a:t>name</a:t>
            </a: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=$name$&amp;</a:t>
            </a:r>
            <a:r>
              <a:rPr lang="en-US" sz="2100" dirty="0">
                <a:solidFill>
                  <a:srgbClr val="FF0000"/>
                </a:solidFill>
                <a:latin typeface="Courier New" panose="02070309020205020404" pitchFamily="49" charset="0"/>
              </a:rPr>
              <a:t>age</a:t>
            </a: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=$age$&amp;</a:t>
            </a:r>
            <a:r>
              <a:rPr lang="en-US" sz="21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address</a:t>
            </a: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=$address$&amp;</a:t>
            </a:r>
            <a:r>
              <a:rPr lang="en-US" sz="21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phone</a:t>
            </a: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=$phone$&amp;</a:t>
            </a:r>
            <a:r>
              <a:rPr lang="en-US" sz="21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email</a:t>
            </a:r>
            <a:r>
              <a:rPr lang="en-US" sz="2100" b="0" i="0" dirty="0">
                <a:solidFill>
                  <a:srgbClr val="001D35"/>
                </a:solidFill>
                <a:effectLst/>
                <a:latin typeface="Courier New" panose="02070309020205020404" pitchFamily="49" charset="0"/>
              </a:rPr>
              <a:t>=$email$</a:t>
            </a:r>
          </a:p>
          <a:p>
            <a:pPr marL="0" indent="0">
              <a:buNone/>
            </a:pPr>
            <a:r>
              <a:rPr lang="en-US" dirty="0"/>
              <a:t>- Test </a:t>
            </a:r>
            <a:r>
              <a:rPr lang="en-US" dirty="0" err="1"/>
              <a:t>bằng</a:t>
            </a:r>
            <a:r>
              <a:rPr lang="en-US" dirty="0"/>
              <a:t> postman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cURL</a:t>
            </a:r>
            <a:r>
              <a:rPr lang="en-US" dirty="0">
                <a:solidFill>
                  <a:srgbClr val="001D35"/>
                </a:solidFill>
                <a:latin typeface="Courier New" panose="02070309020205020404" pitchFamily="49" charset="0"/>
              </a:rPr>
              <a:t> </a:t>
            </a:r>
            <a:endParaRPr lang="en-US" b="0" i="0" dirty="0">
              <a:solidFill>
                <a:srgbClr val="001D35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38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753F-34D1-DB61-9DBB-F7CD85D4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960C-4C92-7400-B58B-6418E79FF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600200"/>
            <a:ext cx="8783781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err="1"/>
              <a:t>Bài</a:t>
            </a:r>
            <a:r>
              <a:rPr lang="en-US" b="1" u="sng" dirty="0"/>
              <a:t> 2</a:t>
            </a:r>
            <a:r>
              <a:rPr lang="en-US" b="1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Tạo</a:t>
            </a:r>
            <a:r>
              <a:rPr lang="en-US" dirty="0"/>
              <a:t> GUI form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tin: </a:t>
            </a:r>
            <a:r>
              <a:rPr lang="en-US" dirty="0" err="1"/>
              <a:t>Tên</a:t>
            </a:r>
            <a:r>
              <a:rPr lang="en-US" dirty="0"/>
              <a:t>, </a:t>
            </a:r>
            <a:r>
              <a:rPr lang="en-US" dirty="0" err="1"/>
              <a:t>tuổi</a:t>
            </a:r>
            <a:r>
              <a:rPr lang="en-US" dirty="0"/>
              <a:t>,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, email</a:t>
            </a:r>
          </a:p>
          <a:p>
            <a:pPr>
              <a:buFontTx/>
              <a:buChar char="-"/>
            </a:pPr>
            <a:r>
              <a:rPr lang="en-US" dirty="0" err="1"/>
              <a:t>Tạo</a:t>
            </a:r>
            <a:r>
              <a:rPr lang="en-US" dirty="0"/>
              <a:t> 2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:</a:t>
            </a:r>
          </a:p>
          <a:p>
            <a:pPr lvl="1">
              <a:buFontTx/>
              <a:buChar char="-"/>
            </a:pPr>
            <a:r>
              <a:rPr lang="en-US" dirty="0" err="1"/>
              <a:t>Nút</a:t>
            </a:r>
            <a:r>
              <a:rPr lang="en-US" dirty="0"/>
              <a:t> submit: </a:t>
            </a:r>
            <a:r>
              <a:rPr lang="en-US" dirty="0" err="1"/>
              <a:t>khi</a:t>
            </a:r>
            <a:r>
              <a:rPr lang="en-US" dirty="0"/>
              <a:t> click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POST API ở </a:t>
            </a:r>
            <a:r>
              <a:rPr lang="en-US" dirty="0" err="1"/>
              <a:t>bài</a:t>
            </a:r>
            <a:r>
              <a:rPr lang="en-US" dirty="0"/>
              <a:t> 1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vào</a:t>
            </a:r>
            <a:r>
              <a:rPr lang="en-US" dirty="0"/>
              <a:t> CSDL</a:t>
            </a:r>
          </a:p>
          <a:p>
            <a:pPr lvl="1">
              <a:buFontTx/>
              <a:buChar char="-"/>
            </a:pPr>
            <a:r>
              <a:rPr lang="en-US" dirty="0" err="1"/>
              <a:t>Nút</a:t>
            </a:r>
            <a:r>
              <a:rPr lang="en-US" dirty="0"/>
              <a:t> search: </a:t>
            </a:r>
            <a:r>
              <a:rPr lang="en-US" dirty="0" err="1"/>
              <a:t>khi</a:t>
            </a:r>
            <a:r>
              <a:rPr lang="en-US" dirty="0"/>
              <a:t> click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GET API ở </a:t>
            </a:r>
            <a:r>
              <a:rPr lang="en-US" dirty="0" err="1"/>
              <a:t>bài</a:t>
            </a:r>
            <a:r>
              <a:rPr lang="en-US" dirty="0"/>
              <a:t> 1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trong</a:t>
            </a:r>
            <a:r>
              <a:rPr lang="en-US" dirty="0"/>
              <a:t> CSDL. Khi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ô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(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). Thông tin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1 </a:t>
            </a:r>
            <a:r>
              <a:rPr lang="en-US" dirty="0" err="1"/>
              <a:t>massageBox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b="0" i="0" dirty="0">
              <a:solidFill>
                <a:srgbClr val="001D35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0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1241</Words>
  <Application>Microsoft Office PowerPoint</Application>
  <PresentationFormat>On-screen Show (4:3)</PresentationFormat>
  <Paragraphs>170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Python TKINTER</vt:lpstr>
      <vt:lpstr>Giới thiệu lập trình GUI</vt:lpstr>
      <vt:lpstr>Tổng quan về Tkinter</vt:lpstr>
      <vt:lpstr>Chuẩn bị môi trường</vt:lpstr>
      <vt:lpstr>Tạo cửa sổ chính (Main Window)</vt:lpstr>
      <vt:lpstr>Tạo Label và Entry (Ô nhập liệu)</vt:lpstr>
      <vt:lpstr>Thêm nút bấm và xử lý sự kiện</vt:lpstr>
      <vt:lpstr>Lưu dữ liệu vào file Excel</vt:lpstr>
      <vt:lpstr>Chương trình hoàn chỉnh</vt:lpstr>
      <vt:lpstr>Mở rộng và cải tiến</vt:lpstr>
      <vt:lpstr>Python FLASK</vt:lpstr>
      <vt:lpstr>Giới thiệu Flask</vt:lpstr>
      <vt:lpstr>REST API cơ bản</vt:lpstr>
      <vt:lpstr>Cài đặt môi trường &amp; khởi tạo Flask</vt:lpstr>
      <vt:lpstr>Tạo endpoint với GET &amp; POST</vt:lpstr>
      <vt:lpstr>Tham số truy vấn &amp; URL động</vt:lpstr>
      <vt:lpstr>Kiểm thử API bằng Postman hoặc curl</vt:lpstr>
      <vt:lpstr>Thiết kế &amp; Bảo mật API thực tế</vt:lpstr>
      <vt:lpstr>Ví dụ CRUD – Quản lý Books</vt:lpstr>
      <vt:lpstr>Bài tập thực hành</vt:lpstr>
      <vt:lpstr>Bài tập thực hành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lập trình GUI</dc:title>
  <dc:subject/>
  <dc:creator/>
  <cp:keywords/>
  <dc:description>generated using python-pptx</dc:description>
  <cp:lastModifiedBy>Admin</cp:lastModifiedBy>
  <cp:revision>11</cp:revision>
  <dcterms:created xsi:type="dcterms:W3CDTF">2013-01-27T09:14:16Z</dcterms:created>
  <dcterms:modified xsi:type="dcterms:W3CDTF">2025-10-19T10:21:29Z</dcterms:modified>
  <cp:category/>
</cp:coreProperties>
</file>