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#9Slide02 Noi dung dai" panose="020B0604020202020204" charset="0"/>
      <p:regular r:id="rId18"/>
    </p:embeddedFont>
    <p:embeddedFont>
      <p:font typeface="#9Slide02 Tieu de dai" panose="020B0604020202020204" charset="0"/>
      <p:bold r:id="rId19"/>
    </p:embeddedFont>
    <p:embeddedFont>
      <p:font typeface="#9Slide02 Tieu de rat dai 02" panose="020B0604020202020204" charset="0"/>
      <p:bold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849" autoAdjust="0"/>
  </p:normalViewPr>
  <p:slideViewPr>
    <p:cSldViewPr showGuides="1">
      <p:cViewPr varScale="1">
        <p:scale>
          <a:sx n="114" d="100"/>
          <a:sy n="114" d="100"/>
        </p:scale>
        <p:origin x="47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EBD38-FD82-4E21-9E7D-01DE68864BF0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0C3CE7-9F79-40DE-A334-58EE63C3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0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0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14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62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99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8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15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50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90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18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93155-673C-4D38-A997-35A9C705F1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15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Slide.vn - 2019">
            <a:extLst>
              <a:ext uri="{FF2B5EF4-FFF2-40B4-BE49-F238E27FC236}">
                <a16:creationId xmlns:a16="http://schemas.microsoft.com/office/drawing/2014/main" id="{6D40C14E-3DA1-4FB9-B647-2EE03E6792AC}"/>
              </a:ext>
            </a:extLst>
          </p:cNvPr>
          <p:cNvSpPr txBox="1"/>
          <p:nvPr userDrawn="1"/>
        </p:nvSpPr>
        <p:spPr>
          <a:xfrm>
            <a:off x="0" y="-15123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37D424-6658-4DFC-B824-6F2E34DFEE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F6C10-1126-443A-A1B1-47C11F116EFA}"/>
              </a:ext>
            </a:extLst>
          </p:cNvPr>
          <p:cNvSpPr/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Manual Input 18">
            <a:extLst>
              <a:ext uri="{FF2B5EF4-FFF2-40B4-BE49-F238E27FC236}">
                <a16:creationId xmlns:a16="http://schemas.microsoft.com/office/drawing/2014/main" id="{7B8811AC-3BF3-41D3-881E-41C165ED7A39}"/>
              </a:ext>
            </a:extLst>
          </p:cNvPr>
          <p:cNvSpPr/>
          <p:nvPr/>
        </p:nvSpPr>
        <p:spPr>
          <a:xfrm rot="16200000" flipV="1">
            <a:off x="728584" y="-198876"/>
            <a:ext cx="6238258" cy="7087374"/>
          </a:xfrm>
          <a:prstGeom prst="flowChartManualInpu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DEAB30-E7CE-48D9-9558-48AA12A828E9}"/>
              </a:ext>
            </a:extLst>
          </p:cNvPr>
          <p:cNvGrpSpPr/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1F28761-BCDF-4367-81DC-950D60428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660FBD-52AC-4952-9650-14B415F59416}"/>
                </a:ext>
              </a:extLst>
            </p:cNvPr>
            <p:cNvSpPr txBox="1"/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chemeClr val="bg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B90A65-07B7-4653-B8BC-9A2F24C7B707}"/>
                </a:ext>
              </a:extLst>
            </p:cNvPr>
            <p:cNvSpPr txBox="1"/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bg1"/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3A6E3E-0C62-4435-B25B-46416DEE9BB6}"/>
              </a:ext>
            </a:extLst>
          </p:cNvPr>
          <p:cNvGrpSpPr/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209272-9BFA-4226-8FC1-D6ED6B3DF879}"/>
                </a:ext>
              </a:extLst>
            </p:cNvPr>
            <p:cNvSpPr/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DDF35C-DD55-410D-A231-97E3C0EFC64D}"/>
                </a:ext>
              </a:extLst>
            </p:cNvPr>
            <p:cNvSpPr txBox="1"/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800">
                  <a:solidFill>
                    <a:schemeClr val="bg1"/>
                  </a:solidFill>
                  <a:latin typeface="+mj-lt"/>
                </a:rPr>
                <a:t>1</a:t>
              </a:r>
              <a:endParaRPr lang="en-US" sz="28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20" name="Flowchart: Manual Input 8">
            <a:extLst>
              <a:ext uri="{FF2B5EF4-FFF2-40B4-BE49-F238E27FC236}">
                <a16:creationId xmlns:a16="http://schemas.microsoft.com/office/drawing/2014/main" id="{34194918-EAC8-4746-BD2D-B44071B97FA8}"/>
              </a:ext>
            </a:extLst>
          </p:cNvPr>
          <p:cNvSpPr/>
          <p:nvPr/>
        </p:nvSpPr>
        <p:spPr>
          <a:xfrm rot="5400000" flipV="1">
            <a:off x="5843957" y="432759"/>
            <a:ext cx="6238257" cy="582994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28"/>
              <a:gd name="connsiteY0" fmla="*/ 2543 h 10543"/>
              <a:gd name="connsiteX1" fmla="*/ 10028 w 10028"/>
              <a:gd name="connsiteY1" fmla="*/ 0 h 10543"/>
              <a:gd name="connsiteX2" fmla="*/ 10000 w 10028"/>
              <a:gd name="connsiteY2" fmla="*/ 10543 h 10543"/>
              <a:gd name="connsiteX3" fmla="*/ 0 w 10028"/>
              <a:gd name="connsiteY3" fmla="*/ 10543 h 10543"/>
              <a:gd name="connsiteX4" fmla="*/ 0 w 10028"/>
              <a:gd name="connsiteY4" fmla="*/ 2543 h 10543"/>
              <a:gd name="connsiteX0" fmla="*/ 0 w 10002"/>
              <a:gd name="connsiteY0" fmla="*/ 2609 h 10609"/>
              <a:gd name="connsiteX1" fmla="*/ 10000 w 10002"/>
              <a:gd name="connsiteY1" fmla="*/ 0 h 10609"/>
              <a:gd name="connsiteX2" fmla="*/ 10000 w 10002"/>
              <a:gd name="connsiteY2" fmla="*/ 10609 h 10609"/>
              <a:gd name="connsiteX3" fmla="*/ 0 w 10002"/>
              <a:gd name="connsiteY3" fmla="*/ 10609 h 10609"/>
              <a:gd name="connsiteX4" fmla="*/ 0 w 10002"/>
              <a:gd name="connsiteY4" fmla="*/ 2609 h 10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2" h="10609">
                <a:moveTo>
                  <a:pt x="0" y="2609"/>
                </a:moveTo>
                <a:lnTo>
                  <a:pt x="10000" y="0"/>
                </a:lnTo>
                <a:cubicBezTo>
                  <a:pt x="9991" y="3514"/>
                  <a:pt x="10009" y="7095"/>
                  <a:pt x="10000" y="10609"/>
                </a:cubicBezTo>
                <a:lnTo>
                  <a:pt x="0" y="10609"/>
                </a:lnTo>
                <a:lnTo>
                  <a:pt x="0" y="2609"/>
                </a:lnTo>
                <a:close/>
              </a:path>
            </a:pathLst>
          </a:custGeom>
          <a:solidFill>
            <a:srgbClr val="FFF5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F18502E-474F-43F8-B1AE-705C0B452BD2}"/>
              </a:ext>
            </a:extLst>
          </p:cNvPr>
          <p:cNvGrpSpPr/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9E296F-9F09-47C5-9460-EF905BAC6C5E}"/>
                </a:ext>
              </a:extLst>
            </p:cNvPr>
            <p:cNvSpPr txBox="1"/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057F135A-41AF-46D9-BD50-BE359A0B3E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" name="Picture 2" descr="Python ">
            <a:extLst>
              <a:ext uri="{FF2B5EF4-FFF2-40B4-BE49-F238E27FC236}">
                <a16:creationId xmlns:a16="http://schemas.microsoft.com/office/drawing/2014/main" id="{4413907A-7415-4B75-8CE3-2080A4B8E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661" y="288833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1ED6760-0F9D-4CFD-9A28-C52E22AC868B}"/>
              </a:ext>
            </a:extLst>
          </p:cNvPr>
          <p:cNvSpPr txBox="1"/>
          <p:nvPr/>
        </p:nvSpPr>
        <p:spPr>
          <a:xfrm>
            <a:off x="504611" y="2690336"/>
            <a:ext cx="560788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vi-VN" sz="4800">
                <a:solidFill>
                  <a:schemeClr val="bg1"/>
                </a:solidFill>
                <a:latin typeface="+mj-lt"/>
              </a:rPr>
              <a:t>CÁC HÀM ĐẶC BIỆT TRONG CLASS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09CB68-3E62-4B8D-A2E9-2D5C920E0C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695426" y="1676400"/>
            <a:ext cx="3578502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1602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800">
                  <a:solidFill>
                    <a:schemeClr val="bg1"/>
                  </a:solidFill>
                  <a:latin typeface="+mj-lt"/>
                </a:rPr>
                <a:t>2</a:t>
              </a:r>
              <a:endParaRPr lang="en-US" sz="280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5947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1.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khởi tạo __init__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ED83D0F-9BA8-F7FD-E0EB-E4677FD1BF47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38FC938-BC76-89F5-DC63-0BDF34C9091E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" name="Picture 4" descr="Hard work ">
              <a:extLst>
                <a:ext uri="{FF2B5EF4-FFF2-40B4-BE49-F238E27FC236}">
                  <a16:creationId xmlns:a16="http://schemas.microsoft.com/office/drawing/2014/main" id="{288B1BBC-7A3A-9FFA-A736-44AF6AA6E5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4C8B8F4B-7B23-BFAC-3FF4-7DABD801223A}"/>
              </a:ext>
            </a:extLst>
          </p:cNvPr>
          <p:cNvSpPr txBox="1"/>
          <p:nvPr/>
        </p:nvSpPr>
        <p:spPr>
          <a:xfrm>
            <a:off x="1188608" y="1355307"/>
            <a:ext cx="103679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>
                <a:solidFill>
                  <a:srgbClr val="000000"/>
                </a:solidFill>
                <a:latin typeface="+mj-lt"/>
              </a:rPr>
              <a:t>Hàm __init__</a:t>
            </a:r>
            <a:r>
              <a:rPr lang="vi-VN" sz="2400">
                <a:solidFill>
                  <a:srgbClr val="000000"/>
                </a:solidFill>
              </a:rPr>
              <a:t> có chức năng khởi tạo một đối tượng, hàm này thường được sử dụng để gán giá trị cho các thuộc tính của đối tượng.</a:t>
            </a: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E7C011A-933A-4E3E-8704-BE8A36C4E713}"/>
              </a:ext>
            </a:extLst>
          </p:cNvPr>
          <p:cNvSpPr/>
          <p:nvPr/>
        </p:nvSpPr>
        <p:spPr>
          <a:xfrm>
            <a:off x="4038600" y="2592665"/>
            <a:ext cx="4114800" cy="1271677"/>
          </a:xfrm>
          <a:prstGeom prst="roundRect">
            <a:avLst>
              <a:gd name="adj" fmla="val 4998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2144A5-F72D-4914-AE61-893D36FC5D3A}"/>
              </a:ext>
            </a:extLst>
          </p:cNvPr>
          <p:cNvGrpSpPr/>
          <p:nvPr/>
        </p:nvGrpSpPr>
        <p:grpSpPr>
          <a:xfrm>
            <a:off x="4448179" y="2865392"/>
            <a:ext cx="3286498" cy="844284"/>
            <a:chOff x="4310248" y="3083839"/>
            <a:chExt cx="3286498" cy="84428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7643EB9-312C-4E2E-89B3-CD4B49A66148}"/>
                </a:ext>
              </a:extLst>
            </p:cNvPr>
            <p:cNvSpPr/>
            <p:nvPr/>
          </p:nvSpPr>
          <p:spPr>
            <a:xfrm>
              <a:off x="4310248" y="3083839"/>
              <a:ext cx="3286498" cy="844284"/>
            </a:xfrm>
            <a:prstGeom prst="roundRect">
              <a:avLst/>
            </a:prstGeom>
            <a:solidFill>
              <a:srgbClr val="2A28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3888C5E-7626-4308-B8B0-FB092F73CF8D}"/>
                </a:ext>
              </a:extLst>
            </p:cNvPr>
            <p:cNvSpPr txBox="1"/>
            <p:nvPr/>
          </p:nvSpPr>
          <p:spPr>
            <a:xfrm>
              <a:off x="4659581" y="3215585"/>
              <a:ext cx="2774868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>
                  <a:solidFill>
                    <a:srgbClr val="00B0F0"/>
                  </a:solidFill>
                  <a:latin typeface="Consolas" panose="020B0609020204030204" pitchFamily="49" charset="0"/>
                </a:rPr>
                <a:t>def</a:t>
              </a:r>
              <a:r>
                <a:rPr lang="en-US" sz="2000">
                  <a:solidFill>
                    <a:schemeClr val="bg1"/>
                  </a:solidFill>
                  <a:latin typeface="Consolas" panose="020B0609020204030204" pitchFamily="49" charset="0"/>
                </a:rPr>
                <a:t> __init__(self):</a:t>
              </a:r>
            </a:p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>
                  <a:solidFill>
                    <a:schemeClr val="bg1"/>
                  </a:solidFill>
                  <a:latin typeface="Consolas" panose="020B0609020204030204" pitchFamily="49" charset="0"/>
                </a:rPr>
                <a:t>      </a:t>
              </a:r>
              <a:r>
                <a:rPr lang="en-US" sz="2000">
                  <a:solidFill>
                    <a:schemeClr val="accent3"/>
                  </a:solidFill>
                  <a:latin typeface="Consolas" panose="020B0609020204030204" pitchFamily="49" charset="0"/>
                </a:rPr>
                <a:t> #code</a:t>
              </a:r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99565CB-3AF1-46E6-8599-1D88917CCCEF}"/>
              </a:ext>
            </a:extLst>
          </p:cNvPr>
          <p:cNvSpPr/>
          <p:nvPr/>
        </p:nvSpPr>
        <p:spPr>
          <a:xfrm>
            <a:off x="5181600" y="2289911"/>
            <a:ext cx="1828800" cy="490757"/>
          </a:xfrm>
          <a:prstGeom prst="roundRect">
            <a:avLst>
              <a:gd name="adj" fmla="val 38402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>
                <a:latin typeface="+mj-lt"/>
              </a:rPr>
              <a:t>CÚ PHÁP:</a:t>
            </a:r>
            <a:endParaRPr lang="en-US" sz="2400">
              <a:latin typeface="+mj-lt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A933ED-9EDB-4B60-9C21-B7CA0E5AF2B1}"/>
              </a:ext>
            </a:extLst>
          </p:cNvPr>
          <p:cNvGrpSpPr/>
          <p:nvPr/>
        </p:nvGrpSpPr>
        <p:grpSpPr>
          <a:xfrm>
            <a:off x="608973" y="4177611"/>
            <a:ext cx="4985048" cy="2060216"/>
            <a:chOff x="826946" y="1905000"/>
            <a:chExt cx="5040455" cy="371963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5F057DE-7421-4151-B150-96C8F8E63CAA}"/>
                </a:ext>
              </a:extLst>
            </p:cNvPr>
            <p:cNvSpPr/>
            <p:nvPr/>
          </p:nvSpPr>
          <p:spPr>
            <a:xfrm>
              <a:off x="826946" y="1905000"/>
              <a:ext cx="5040454" cy="3719632"/>
            </a:xfrm>
            <a:prstGeom prst="roundRect">
              <a:avLst>
                <a:gd name="adj" fmla="val 11049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51DC380-A00C-4964-AD36-8E838595308A}"/>
                </a:ext>
              </a:extLst>
            </p:cNvPr>
            <p:cNvGrpSpPr/>
            <p:nvPr/>
          </p:nvGrpSpPr>
          <p:grpSpPr>
            <a:xfrm>
              <a:off x="826946" y="2971800"/>
              <a:ext cx="5040455" cy="2652832"/>
              <a:chOff x="826946" y="2971800"/>
              <a:chExt cx="5040455" cy="2652832"/>
            </a:xfrm>
            <a:solidFill>
              <a:schemeClr val="bg1"/>
            </a:solidFill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72136BDB-E524-4A9C-BDAC-E5FE0DC37245}"/>
                  </a:ext>
                </a:extLst>
              </p:cNvPr>
              <p:cNvSpPr/>
              <p:nvPr/>
            </p:nvSpPr>
            <p:spPr>
              <a:xfrm>
                <a:off x="826946" y="3048000"/>
                <a:ext cx="5040454" cy="2576632"/>
              </a:xfrm>
              <a:prstGeom prst="roundRect">
                <a:avLst>
                  <a:gd name="adj" fmla="val 1341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E90FD28-E9CF-4E68-B70C-D82E2F8FB4D9}"/>
                  </a:ext>
                </a:extLst>
              </p:cNvPr>
              <p:cNvSpPr/>
              <p:nvPr/>
            </p:nvSpPr>
            <p:spPr>
              <a:xfrm>
                <a:off x="826947" y="2971800"/>
                <a:ext cx="5040454" cy="609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B53EEE4-55E5-4561-A33D-17EE77BE8626}"/>
              </a:ext>
            </a:extLst>
          </p:cNvPr>
          <p:cNvSpPr txBox="1"/>
          <p:nvPr/>
        </p:nvSpPr>
        <p:spPr>
          <a:xfrm>
            <a:off x="676037" y="4902277"/>
            <a:ext cx="485091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>
                <a:solidFill>
                  <a:srgbClr val="000000"/>
                </a:solidFill>
                <a:latin typeface="+mj-lt"/>
              </a:rPr>
              <a:t>Hàm khởi tạo mặc định:</a:t>
            </a:r>
            <a:r>
              <a:rPr lang="en-US" sz="2200">
                <a:solidFill>
                  <a:srgbClr val="000000"/>
                </a:solidFill>
              </a:rPr>
              <a:t> Hàm này không có tham số và không có nhiệm vụ gán các giá trị cho các thuộc </a:t>
            </a:r>
            <a:r>
              <a:rPr lang="vi-VN" sz="2200">
                <a:solidFill>
                  <a:srgbClr val="000000"/>
                </a:solidFill>
              </a:rPr>
              <a:t>tính.</a:t>
            </a:r>
            <a:endParaRPr lang="en-US" sz="2200">
              <a:solidFill>
                <a:srgbClr val="0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52A093-242E-41A0-B6BC-7667661D8DB4}"/>
              </a:ext>
            </a:extLst>
          </p:cNvPr>
          <p:cNvGrpSpPr>
            <a:grpSpLocks noChangeAspect="1"/>
          </p:cNvGrpSpPr>
          <p:nvPr/>
        </p:nvGrpSpPr>
        <p:grpSpPr>
          <a:xfrm>
            <a:off x="2598577" y="3529908"/>
            <a:ext cx="1005840" cy="1005840"/>
            <a:chOff x="2588761" y="2805856"/>
            <a:chExt cx="1143000" cy="1143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6ADF3F0-E654-459F-88D7-54883FCEC52E}"/>
                </a:ext>
              </a:extLst>
            </p:cNvPr>
            <p:cNvSpPr/>
            <p:nvPr/>
          </p:nvSpPr>
          <p:spPr>
            <a:xfrm>
              <a:off x="2588761" y="2805856"/>
              <a:ext cx="1143000" cy="1143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2" descr="Settings">
              <a:extLst>
                <a:ext uri="{FF2B5EF4-FFF2-40B4-BE49-F238E27FC236}">
                  <a16:creationId xmlns:a16="http://schemas.microsoft.com/office/drawing/2014/main" id="{CE901D08-5812-4BCC-90E9-829576F8FF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8739" y="2975834"/>
              <a:ext cx="803044" cy="803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D23CE04-A0F1-465F-8046-92BD8B48182B}"/>
              </a:ext>
            </a:extLst>
          </p:cNvPr>
          <p:cNvGrpSpPr/>
          <p:nvPr/>
        </p:nvGrpSpPr>
        <p:grpSpPr>
          <a:xfrm>
            <a:off x="6597981" y="4177611"/>
            <a:ext cx="4979028" cy="2060216"/>
            <a:chOff x="826946" y="1905000"/>
            <a:chExt cx="5040455" cy="371963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B66AAAE8-5AF5-44D3-B49C-DF41C12864A5}"/>
                </a:ext>
              </a:extLst>
            </p:cNvPr>
            <p:cNvSpPr/>
            <p:nvPr/>
          </p:nvSpPr>
          <p:spPr>
            <a:xfrm>
              <a:off x="826946" y="1905000"/>
              <a:ext cx="5040454" cy="3719632"/>
            </a:xfrm>
            <a:prstGeom prst="roundRect">
              <a:avLst>
                <a:gd name="adj" fmla="val 11049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FF26D9B-7C96-483B-A40D-3FCCD829EBD3}"/>
                </a:ext>
              </a:extLst>
            </p:cNvPr>
            <p:cNvGrpSpPr/>
            <p:nvPr/>
          </p:nvGrpSpPr>
          <p:grpSpPr>
            <a:xfrm>
              <a:off x="826946" y="2971800"/>
              <a:ext cx="5040455" cy="2652832"/>
              <a:chOff x="826946" y="2971800"/>
              <a:chExt cx="5040455" cy="2652832"/>
            </a:xfrm>
            <a:solidFill>
              <a:schemeClr val="bg1"/>
            </a:solidFill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77FC72EF-D5B0-42E3-B3E4-28A40CBA550A}"/>
                  </a:ext>
                </a:extLst>
              </p:cNvPr>
              <p:cNvSpPr/>
              <p:nvPr/>
            </p:nvSpPr>
            <p:spPr>
              <a:xfrm>
                <a:off x="826946" y="3048000"/>
                <a:ext cx="5040454" cy="2576632"/>
              </a:xfrm>
              <a:prstGeom prst="roundRect">
                <a:avLst>
                  <a:gd name="adj" fmla="val 1341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858F1323-D152-415D-8DE1-AE419DC7D565}"/>
                  </a:ext>
                </a:extLst>
              </p:cNvPr>
              <p:cNvSpPr/>
              <p:nvPr/>
            </p:nvSpPr>
            <p:spPr>
              <a:xfrm>
                <a:off x="826947" y="2971800"/>
                <a:ext cx="5040454" cy="609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DC2F29B8-7A86-4443-8958-46C5212BA3D3}"/>
              </a:ext>
            </a:extLst>
          </p:cNvPr>
          <p:cNvSpPr txBox="1"/>
          <p:nvPr/>
        </p:nvSpPr>
        <p:spPr>
          <a:xfrm>
            <a:off x="6729053" y="4803419"/>
            <a:ext cx="48450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200">
                <a:solidFill>
                  <a:srgbClr val="000000"/>
                </a:solidFill>
                <a:latin typeface="+mj-lt"/>
              </a:rPr>
              <a:t>Hàm khởi tạo đầy đủ tham số:</a:t>
            </a:r>
            <a:r>
              <a:rPr lang="vi-VN" sz="2200">
                <a:solidFill>
                  <a:srgbClr val="000000"/>
                </a:solidFill>
              </a:rPr>
              <a:t> Hàm này ngoài chức năng khởi tạo một đối tượng, ta thường gán các giá trị cho các thuộc tính của lớp.</a:t>
            </a:r>
            <a:endParaRPr lang="en-US" sz="2200">
              <a:solidFill>
                <a:srgbClr val="000000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F895DD9-FC9E-4DB8-9AEA-7179F26F7133}"/>
              </a:ext>
            </a:extLst>
          </p:cNvPr>
          <p:cNvGrpSpPr>
            <a:grpSpLocks noChangeAspect="1"/>
          </p:cNvGrpSpPr>
          <p:nvPr/>
        </p:nvGrpSpPr>
        <p:grpSpPr>
          <a:xfrm>
            <a:off x="8584575" y="3529908"/>
            <a:ext cx="1005840" cy="1005840"/>
            <a:chOff x="2588761" y="2805856"/>
            <a:chExt cx="1143000" cy="1143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7F5426D-176C-4F88-BFE0-58EC8E5901AA}"/>
                </a:ext>
              </a:extLst>
            </p:cNvPr>
            <p:cNvSpPr/>
            <p:nvPr/>
          </p:nvSpPr>
          <p:spPr>
            <a:xfrm>
              <a:off x="2588761" y="2805856"/>
              <a:ext cx="1143000" cy="1143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2" name="Picture 2" descr="Settings">
              <a:extLst>
                <a:ext uri="{FF2B5EF4-FFF2-40B4-BE49-F238E27FC236}">
                  <a16:creationId xmlns:a16="http://schemas.microsoft.com/office/drawing/2014/main" id="{92298D6B-D720-462C-AE1C-755212B6B4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8739" y="2975834"/>
              <a:ext cx="803044" cy="803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2280235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800">
                  <a:solidFill>
                    <a:schemeClr val="bg1"/>
                  </a:solidFill>
                  <a:latin typeface="+mj-lt"/>
                </a:rPr>
                <a:t>3</a:t>
              </a:r>
              <a:endParaRPr lang="en-US" sz="280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29E8EFD-EDA4-4614-BAFF-8CDE6918D2D0}"/>
              </a:ext>
            </a:extLst>
          </p:cNvPr>
          <p:cNvSpPr/>
          <p:nvPr/>
        </p:nvSpPr>
        <p:spPr>
          <a:xfrm>
            <a:off x="469344" y="2098073"/>
            <a:ext cx="5511216" cy="3529412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118CE1-946B-4ACB-BB25-F805E769DB43}"/>
              </a:ext>
            </a:extLst>
          </p:cNvPr>
          <p:cNvSpPr/>
          <p:nvPr/>
        </p:nvSpPr>
        <p:spPr>
          <a:xfrm>
            <a:off x="885404" y="2599109"/>
            <a:ext cx="4712106" cy="2811091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9E5E6D-CB5A-48BC-8DCB-57CF6EABD9B8}"/>
              </a:ext>
            </a:extLst>
          </p:cNvPr>
          <p:cNvSpPr txBox="1"/>
          <p:nvPr/>
        </p:nvSpPr>
        <p:spPr>
          <a:xfrm>
            <a:off x="1028495" y="2990780"/>
            <a:ext cx="45690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class Person: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print('Person constructor !')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/>
            </a:r>
            <a:b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s = Person()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FA9BCFF-BEE9-4928-B8AD-BA6D8F2856B1}"/>
              </a:ext>
            </a:extLst>
          </p:cNvPr>
          <p:cNvSpPr/>
          <p:nvPr/>
        </p:nvSpPr>
        <p:spPr>
          <a:xfrm>
            <a:off x="1172378" y="1799736"/>
            <a:ext cx="4105148" cy="565178"/>
          </a:xfrm>
          <a:prstGeom prst="roundRect">
            <a:avLst>
              <a:gd name="adj" fmla="val 30659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>
                <a:latin typeface="+mj-lt"/>
              </a:rPr>
              <a:t>VD: Hàm khởi tạo mặc định</a:t>
            </a:r>
            <a:endParaRPr lang="en-US" sz="2400">
              <a:latin typeface="+mj-lt"/>
            </a:endParaRPr>
          </a:p>
        </p:txBody>
      </p:sp>
      <p:pic>
        <p:nvPicPr>
          <p:cNvPr id="48" name="Picture 2" descr="Example ">
            <a:extLst>
              <a:ext uri="{FF2B5EF4-FFF2-40B4-BE49-F238E27FC236}">
                <a16:creationId xmlns:a16="http://schemas.microsoft.com/office/drawing/2014/main" id="{70E84627-BF8A-409B-AAC4-3E4DD3980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96" y="2334075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88F658-A58A-47BE-9D18-0C9C549162F6}"/>
              </a:ext>
            </a:extLst>
          </p:cNvPr>
          <p:cNvGrpSpPr/>
          <p:nvPr/>
        </p:nvGrpSpPr>
        <p:grpSpPr>
          <a:xfrm>
            <a:off x="3091619" y="4429214"/>
            <a:ext cx="2310570" cy="792520"/>
            <a:chOff x="1908996" y="4915303"/>
            <a:chExt cx="2680924" cy="79252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81F7CCD-BCBF-4A3B-AB9C-FB5BB12AA2B8}"/>
                </a:ext>
              </a:extLst>
            </p:cNvPr>
            <p:cNvGrpSpPr/>
            <p:nvPr/>
          </p:nvGrpSpPr>
          <p:grpSpPr>
            <a:xfrm>
              <a:off x="1908996" y="4915303"/>
              <a:ext cx="2680924" cy="792520"/>
              <a:chOff x="5922991" y="4016687"/>
              <a:chExt cx="2154209" cy="687681"/>
            </a:xfrm>
          </p:grpSpPr>
          <p:grpSp>
            <p:nvGrpSpPr>
              <p:cNvPr id="52" name="Graphic 17">
                <a:extLst>
                  <a:ext uri="{FF2B5EF4-FFF2-40B4-BE49-F238E27FC236}">
                    <a16:creationId xmlns:a16="http://schemas.microsoft.com/office/drawing/2014/main" id="{A94E093D-49BC-4ED3-A4E2-2F3C9AE5B1BC}"/>
                  </a:ext>
                </a:extLst>
              </p:cNvPr>
              <p:cNvGrpSpPr/>
              <p:nvPr/>
            </p:nvGrpSpPr>
            <p:grpSpPr>
              <a:xfrm>
                <a:off x="5922991" y="4016687"/>
                <a:ext cx="2154209" cy="687681"/>
                <a:chOff x="6400800" y="3651273"/>
                <a:chExt cx="3425190" cy="848864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88B43ED5-6FD5-445B-91CD-91B90CBA311A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521202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4B777A8A-635E-417F-B1CD-E43D44676341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5C29941-A719-41F6-BE81-7EF37C57E83D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C952A30-14B0-41AA-BF06-E0FCD4A0A6D5}"/>
                </a:ext>
              </a:extLst>
            </p:cNvPr>
            <p:cNvSpPr txBox="1"/>
            <p:nvPr/>
          </p:nvSpPr>
          <p:spPr>
            <a:xfrm>
              <a:off x="1908996" y="5349167"/>
              <a:ext cx="268092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'Person constructor !</a:t>
              </a:r>
            </a:p>
          </p:txBody>
        </p:sp>
      </p:grp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837E6003-0373-4496-AD91-57916104BC32}"/>
              </a:ext>
            </a:extLst>
          </p:cNvPr>
          <p:cNvSpPr/>
          <p:nvPr/>
        </p:nvSpPr>
        <p:spPr>
          <a:xfrm>
            <a:off x="6240712" y="1663839"/>
            <a:ext cx="5280046" cy="4419395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160E52A-143B-4014-9554-6BFDFAF0D5CA}"/>
              </a:ext>
            </a:extLst>
          </p:cNvPr>
          <p:cNvSpPr/>
          <p:nvPr/>
        </p:nvSpPr>
        <p:spPr>
          <a:xfrm>
            <a:off x="6541187" y="2164876"/>
            <a:ext cx="4712106" cy="3692999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96E3930-CF22-4F91-B3D6-8BC8F1D5FCF9}"/>
              </a:ext>
            </a:extLst>
          </p:cNvPr>
          <p:cNvSpPr txBox="1"/>
          <p:nvPr/>
        </p:nvSpPr>
        <p:spPr>
          <a:xfrm>
            <a:off x="6684278" y="2437966"/>
            <a:ext cx="45690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class Person: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name, birth):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self.name = name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self.birth = birth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show(self):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print(self.name, self.birth)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/>
            </a:r>
            <a:b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s = Person('28tech', '01/01/2022')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s.show()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843CF2B-EFF4-4578-9987-BFC8C5CF330A}"/>
              </a:ext>
            </a:extLst>
          </p:cNvPr>
          <p:cNvSpPr/>
          <p:nvPr/>
        </p:nvSpPr>
        <p:spPr>
          <a:xfrm>
            <a:off x="6684278" y="1365503"/>
            <a:ext cx="4392914" cy="565178"/>
          </a:xfrm>
          <a:prstGeom prst="roundRect">
            <a:avLst>
              <a:gd name="adj" fmla="val 30659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>
                <a:latin typeface="+mj-lt"/>
              </a:rPr>
              <a:t>VD: Hàm khởi tạo có tham số</a:t>
            </a:r>
            <a:endParaRPr lang="en-US" sz="2400">
              <a:latin typeface="+mj-lt"/>
            </a:endParaRPr>
          </a:p>
        </p:txBody>
      </p:sp>
      <p:pic>
        <p:nvPicPr>
          <p:cNvPr id="95" name="Picture 2" descr="Example ">
            <a:extLst>
              <a:ext uri="{FF2B5EF4-FFF2-40B4-BE49-F238E27FC236}">
                <a16:creationId xmlns:a16="http://schemas.microsoft.com/office/drawing/2014/main" id="{2F94BEDC-C53E-4A06-9E5F-E04A5A5AA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279" y="1899842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Group 95">
            <a:extLst>
              <a:ext uri="{FF2B5EF4-FFF2-40B4-BE49-F238E27FC236}">
                <a16:creationId xmlns:a16="http://schemas.microsoft.com/office/drawing/2014/main" id="{2BEC9307-87D2-47D4-BCBA-91E01ABD0A28}"/>
              </a:ext>
            </a:extLst>
          </p:cNvPr>
          <p:cNvGrpSpPr/>
          <p:nvPr/>
        </p:nvGrpSpPr>
        <p:grpSpPr>
          <a:xfrm>
            <a:off x="8559078" y="4861285"/>
            <a:ext cx="2310570" cy="792520"/>
            <a:chOff x="1908996" y="4915303"/>
            <a:chExt cx="2680924" cy="792520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12DC1FE-9D55-4A0A-AE46-8383A3362A78}"/>
                </a:ext>
              </a:extLst>
            </p:cNvPr>
            <p:cNvGrpSpPr/>
            <p:nvPr/>
          </p:nvGrpSpPr>
          <p:grpSpPr>
            <a:xfrm>
              <a:off x="1908996" y="4915303"/>
              <a:ext cx="2680924" cy="792520"/>
              <a:chOff x="5922991" y="4016687"/>
              <a:chExt cx="2154209" cy="687681"/>
            </a:xfrm>
          </p:grpSpPr>
          <p:grpSp>
            <p:nvGrpSpPr>
              <p:cNvPr id="99" name="Graphic 17">
                <a:extLst>
                  <a:ext uri="{FF2B5EF4-FFF2-40B4-BE49-F238E27FC236}">
                    <a16:creationId xmlns:a16="http://schemas.microsoft.com/office/drawing/2014/main" id="{502AD10F-A978-436E-A8C6-52EA55FC5D7F}"/>
                  </a:ext>
                </a:extLst>
              </p:cNvPr>
              <p:cNvGrpSpPr/>
              <p:nvPr/>
            </p:nvGrpSpPr>
            <p:grpSpPr>
              <a:xfrm>
                <a:off x="5922991" y="4016687"/>
                <a:ext cx="2154209" cy="687681"/>
                <a:chOff x="6400800" y="3651273"/>
                <a:chExt cx="3425190" cy="848864"/>
              </a:xfrm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AA682566-E3E1-4C41-848C-B0F063F2CE49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521202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9638975D-AD56-48AB-8167-0931A64EFDAA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9393A41-E125-4FB8-8258-8C4008418893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811B031-66CE-46A0-94C0-5F6D0F95428D}"/>
                </a:ext>
              </a:extLst>
            </p:cNvPr>
            <p:cNvSpPr txBox="1"/>
            <p:nvPr/>
          </p:nvSpPr>
          <p:spPr>
            <a:xfrm>
              <a:off x="1908996" y="5349167"/>
              <a:ext cx="268092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28tech 01/01/2022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AAB5647-66B3-4027-B5C5-DE1E9536BC90}"/>
              </a:ext>
            </a:extLst>
          </p:cNvPr>
          <p:cNvSpPr txBox="1"/>
          <p:nvPr/>
        </p:nvSpPr>
        <p:spPr>
          <a:xfrm>
            <a:off x="477397" y="865947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1.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khởi tạo __init__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23871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2800">
                  <a:solidFill>
                    <a:schemeClr val="bg1"/>
                  </a:solidFill>
                  <a:latin typeface="+mj-lt"/>
                </a:rPr>
                <a:t>4</a:t>
              </a: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94876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2</a:t>
            </a:r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hủy __del__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837E6003-0373-4496-AD91-57916104BC32}"/>
              </a:ext>
            </a:extLst>
          </p:cNvPr>
          <p:cNvSpPr/>
          <p:nvPr/>
        </p:nvSpPr>
        <p:spPr>
          <a:xfrm>
            <a:off x="488939" y="2172806"/>
            <a:ext cx="6260699" cy="3299080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1160E52A-143B-4014-9554-6BFDFAF0D5CA}"/>
              </a:ext>
            </a:extLst>
          </p:cNvPr>
          <p:cNvSpPr/>
          <p:nvPr/>
        </p:nvSpPr>
        <p:spPr>
          <a:xfrm>
            <a:off x="6933121" y="1674183"/>
            <a:ext cx="4712106" cy="4236907"/>
          </a:xfrm>
          <a:prstGeom prst="roundRect">
            <a:avLst>
              <a:gd name="adj" fmla="val 5079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96E3930-CF22-4F91-B3D6-8BC8F1D5FCF9}"/>
              </a:ext>
            </a:extLst>
          </p:cNvPr>
          <p:cNvSpPr txBox="1"/>
          <p:nvPr/>
        </p:nvSpPr>
        <p:spPr>
          <a:xfrm>
            <a:off x="7155435" y="1919172"/>
            <a:ext cx="456901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class Person: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name, birth):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self.name = name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self.birth = birth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show(self):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print(self.name, self.birth)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__del__(self):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print('Destructor !')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s = Person('28tech', '01/01/2022')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s.show()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del s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843CF2B-EFF4-4578-9987-BFC8C5CF330A}"/>
              </a:ext>
            </a:extLst>
          </p:cNvPr>
          <p:cNvSpPr/>
          <p:nvPr/>
        </p:nvSpPr>
        <p:spPr>
          <a:xfrm>
            <a:off x="7838775" y="1317585"/>
            <a:ext cx="2867788" cy="565178"/>
          </a:xfrm>
          <a:prstGeom prst="roundRect">
            <a:avLst>
              <a:gd name="adj" fmla="val 30659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>
                <a:latin typeface="+mj-lt"/>
              </a:rPr>
              <a:t>VD về hàm hủy:</a:t>
            </a:r>
            <a:endParaRPr lang="en-US" sz="2400">
              <a:latin typeface="+mj-lt"/>
            </a:endParaRPr>
          </a:p>
        </p:txBody>
      </p:sp>
      <p:pic>
        <p:nvPicPr>
          <p:cNvPr id="95" name="Picture 2" descr="Example ">
            <a:extLst>
              <a:ext uri="{FF2B5EF4-FFF2-40B4-BE49-F238E27FC236}">
                <a16:creationId xmlns:a16="http://schemas.microsoft.com/office/drawing/2014/main" id="{2F94BEDC-C53E-4A06-9E5F-E04A5A5AA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213" y="1409150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6" name="Group 95">
            <a:extLst>
              <a:ext uri="{FF2B5EF4-FFF2-40B4-BE49-F238E27FC236}">
                <a16:creationId xmlns:a16="http://schemas.microsoft.com/office/drawing/2014/main" id="{2BEC9307-87D2-47D4-BCBA-91E01ABD0A28}"/>
              </a:ext>
            </a:extLst>
          </p:cNvPr>
          <p:cNvGrpSpPr/>
          <p:nvPr/>
        </p:nvGrpSpPr>
        <p:grpSpPr>
          <a:xfrm>
            <a:off x="8951012" y="4795602"/>
            <a:ext cx="2310570" cy="942915"/>
            <a:chOff x="1908996" y="4915301"/>
            <a:chExt cx="2680924" cy="942915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12DC1FE-9D55-4A0A-AE46-8383A3362A78}"/>
                </a:ext>
              </a:extLst>
            </p:cNvPr>
            <p:cNvGrpSpPr/>
            <p:nvPr/>
          </p:nvGrpSpPr>
          <p:grpSpPr>
            <a:xfrm>
              <a:off x="1908996" y="4915301"/>
              <a:ext cx="2680924" cy="931259"/>
              <a:chOff x="5922991" y="4016686"/>
              <a:chExt cx="2154209" cy="808067"/>
            </a:xfrm>
          </p:grpSpPr>
          <p:grpSp>
            <p:nvGrpSpPr>
              <p:cNvPr id="99" name="Graphic 17">
                <a:extLst>
                  <a:ext uri="{FF2B5EF4-FFF2-40B4-BE49-F238E27FC236}">
                    <a16:creationId xmlns:a16="http://schemas.microsoft.com/office/drawing/2014/main" id="{502AD10F-A978-436E-A8C6-52EA55FC5D7F}"/>
                  </a:ext>
                </a:extLst>
              </p:cNvPr>
              <p:cNvGrpSpPr/>
              <p:nvPr/>
            </p:nvGrpSpPr>
            <p:grpSpPr>
              <a:xfrm>
                <a:off x="5922991" y="4016686"/>
                <a:ext cx="2154209" cy="808067"/>
                <a:chOff x="6400800" y="3651273"/>
                <a:chExt cx="3425190" cy="997467"/>
              </a:xfrm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AA682566-E3E1-4C41-848C-B0F063F2CE49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669805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9638975D-AD56-48AB-8167-0931A64EFDAA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9393A41-E125-4FB8-8258-8C4008418893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811B031-66CE-46A0-94C0-5F6D0F95428D}"/>
                </a:ext>
              </a:extLst>
            </p:cNvPr>
            <p:cNvSpPr txBox="1"/>
            <p:nvPr/>
          </p:nvSpPr>
          <p:spPr>
            <a:xfrm>
              <a:off x="1908996" y="5304218"/>
              <a:ext cx="2680921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28tech 01/01/2022</a:t>
              </a:r>
              <a:endParaRPr lang="vi-VN">
                <a:solidFill>
                  <a:srgbClr val="000000"/>
                </a:solidFill>
              </a:endParaRPr>
            </a:p>
            <a:p>
              <a:pPr algn="ctr"/>
              <a:r>
                <a:rPr lang="vi-VN">
                  <a:solidFill>
                    <a:srgbClr val="000000"/>
                  </a:solidFill>
                </a:rPr>
                <a:t>Destructor !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CEEB234-26B6-4E80-B960-19E3BF6E0371}"/>
              </a:ext>
            </a:extLst>
          </p:cNvPr>
          <p:cNvGrpSpPr/>
          <p:nvPr/>
        </p:nvGrpSpPr>
        <p:grpSpPr>
          <a:xfrm>
            <a:off x="596323" y="2315030"/>
            <a:ext cx="657508" cy="657508"/>
            <a:chOff x="489048" y="1970215"/>
            <a:chExt cx="657508" cy="657508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DA98732-BEBE-4D2E-B836-9E2472A1DBD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" descr="Hard work ">
              <a:extLst>
                <a:ext uri="{FF2B5EF4-FFF2-40B4-BE49-F238E27FC236}">
                  <a16:creationId xmlns:a16="http://schemas.microsoft.com/office/drawing/2014/main" id="{FA0B373F-148E-44C7-9C9E-90F0562CB0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A0FAACD-49A6-4049-9C43-F9D05E8DE49D}"/>
              </a:ext>
            </a:extLst>
          </p:cNvPr>
          <p:cNvSpPr txBox="1"/>
          <p:nvPr/>
        </p:nvSpPr>
        <p:spPr>
          <a:xfrm>
            <a:off x="1341739" y="2276213"/>
            <a:ext cx="52400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400">
                <a:solidFill>
                  <a:srgbClr val="000000"/>
                </a:solidFill>
              </a:rPr>
              <a:t>Ngôn ngữ lập trình Python cung cấp </a:t>
            </a:r>
            <a:r>
              <a:rPr lang="vi-VN" sz="2400">
                <a:solidFill>
                  <a:srgbClr val="000000"/>
                </a:solidFill>
                <a:latin typeface="+mj-lt"/>
              </a:rPr>
              <a:t>hàm __del__ </a:t>
            </a:r>
            <a:r>
              <a:rPr lang="vi-VN" sz="2400">
                <a:solidFill>
                  <a:srgbClr val="000000"/>
                </a:solidFill>
              </a:rPr>
              <a:t>đóng vai trò hàm hủy, hàm này sẽ được gọi khi bạn xóa tham chiếu tới 1 object.</a:t>
            </a:r>
            <a:endParaRPr lang="en-US" sz="2400">
              <a:solidFill>
                <a:srgbClr val="000000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E31B352-7C70-4EFA-9BEA-5261FE0DDE5D}"/>
              </a:ext>
            </a:extLst>
          </p:cNvPr>
          <p:cNvGrpSpPr/>
          <p:nvPr/>
        </p:nvGrpSpPr>
        <p:grpSpPr>
          <a:xfrm>
            <a:off x="596323" y="3922278"/>
            <a:ext cx="640080" cy="640080"/>
            <a:chOff x="607531" y="1495663"/>
            <a:chExt cx="640080" cy="64008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8460FD-EC74-448C-8AF0-AA3FB7C58086}"/>
                </a:ext>
              </a:extLst>
            </p:cNvPr>
            <p:cNvSpPr/>
            <p:nvPr/>
          </p:nvSpPr>
          <p:spPr>
            <a:xfrm>
              <a:off x="607531" y="1495663"/>
              <a:ext cx="640080" cy="640080"/>
            </a:xfrm>
            <a:prstGeom prst="ellipse">
              <a:avLst/>
            </a:prstGeom>
            <a:solidFill>
              <a:srgbClr val="FFF54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2" descr="Puzzle ">
              <a:extLst>
                <a:ext uri="{FF2B5EF4-FFF2-40B4-BE49-F238E27FC236}">
                  <a16:creationId xmlns:a16="http://schemas.microsoft.com/office/drawing/2014/main" id="{72604BDC-57A0-4E7B-92AB-781C022334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431" y="1564563"/>
              <a:ext cx="502281" cy="5022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7A03660-2BA4-4FE3-8E8A-3C476FB8752F}"/>
              </a:ext>
            </a:extLst>
          </p:cNvPr>
          <p:cNvSpPr txBox="1"/>
          <p:nvPr/>
        </p:nvSpPr>
        <p:spPr>
          <a:xfrm>
            <a:off x="1341739" y="3844228"/>
            <a:ext cx="508732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>
                <a:solidFill>
                  <a:srgbClr val="000000"/>
                </a:solidFill>
                <a:latin typeface="+mj-lt"/>
              </a:rPr>
              <a:t>Hàm hủy trong Python</a:t>
            </a:r>
            <a:r>
              <a:rPr lang="en-US" sz="2400">
                <a:solidFill>
                  <a:srgbClr val="000000"/>
                </a:solidFill>
              </a:rPr>
              <a:t> không thực sự cần thiết vì đã có trình thu gom rác có nhiệm vụ quản lý bộ nhớ một cách tự </a:t>
            </a:r>
            <a:r>
              <a:rPr lang="vi-VN" sz="2400">
                <a:solidFill>
                  <a:srgbClr val="000000"/>
                </a:solidFill>
              </a:rPr>
              <a:t>động.</a:t>
            </a:r>
            <a:endParaRPr 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3734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800">
                  <a:solidFill>
                    <a:schemeClr val="bg1"/>
                  </a:solidFill>
                  <a:latin typeface="+mj-lt"/>
                </a:rPr>
                <a:t>5</a:t>
              </a:r>
              <a:endParaRPr lang="en-US" sz="280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6708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3.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str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8CB28F-B624-484A-83CB-447B6D0F0924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195DB6-63F3-4280-8FFB-93DD6C0C6B8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" descr="Hard work ">
              <a:extLst>
                <a:ext uri="{FF2B5EF4-FFF2-40B4-BE49-F238E27FC236}">
                  <a16:creationId xmlns:a16="http://schemas.microsoft.com/office/drawing/2014/main" id="{ED825B24-34BD-402B-AF56-80804BDC4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E9CC91-6D3C-4969-94DA-CD475CD81116}"/>
              </a:ext>
            </a:extLst>
          </p:cNvPr>
          <p:cNvSpPr txBox="1"/>
          <p:nvPr/>
        </p:nvSpPr>
        <p:spPr>
          <a:xfrm>
            <a:off x="1188609" y="1355307"/>
            <a:ext cx="1018098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200">
                <a:solidFill>
                  <a:srgbClr val="000000"/>
                </a:solidFill>
              </a:rPr>
              <a:t>Khi bạn muốn in ra thông tin của một đối tượng bạn có thể sử dụng</a:t>
            </a:r>
            <a:r>
              <a:rPr lang="vi-VN" sz="2200">
                <a:solidFill>
                  <a:srgbClr val="000000"/>
                </a:solidFill>
                <a:latin typeface="+mj-lt"/>
              </a:rPr>
              <a:t> hàm __str__,</a:t>
            </a:r>
            <a:r>
              <a:rPr lang="vi-VN" sz="2200">
                <a:solidFill>
                  <a:srgbClr val="000000"/>
                </a:solidFill>
              </a:rPr>
              <a:t> nếu bạn không xây dựng</a:t>
            </a:r>
            <a:r>
              <a:rPr lang="vi-VN" sz="2200">
                <a:solidFill>
                  <a:srgbClr val="000000"/>
                </a:solidFill>
                <a:latin typeface="+mj-lt"/>
              </a:rPr>
              <a:t> hàm __str__ </a:t>
            </a:r>
            <a:r>
              <a:rPr lang="vi-VN" sz="2200">
                <a:solidFill>
                  <a:srgbClr val="000000"/>
                </a:solidFill>
              </a:rPr>
              <a:t>thì khi sử dụng print để in ra một đối tượng, xâu kí tự đại diện cho đối tượng sẽ được in ra.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7C27327-25D7-449D-B595-52721EE45B86}"/>
              </a:ext>
            </a:extLst>
          </p:cNvPr>
          <p:cNvSpPr/>
          <p:nvPr/>
        </p:nvSpPr>
        <p:spPr>
          <a:xfrm>
            <a:off x="469344" y="2779600"/>
            <a:ext cx="5511216" cy="3529412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BE8C16C-01DA-47B3-BACE-11379EEE049F}"/>
              </a:ext>
            </a:extLst>
          </p:cNvPr>
          <p:cNvSpPr/>
          <p:nvPr/>
        </p:nvSpPr>
        <p:spPr>
          <a:xfrm>
            <a:off x="789887" y="3280636"/>
            <a:ext cx="4903140" cy="2811091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BBDD97-B1DB-4B4B-9686-5F31A4338425}"/>
              </a:ext>
            </a:extLst>
          </p:cNvPr>
          <p:cNvSpPr txBox="1"/>
          <p:nvPr/>
        </p:nvSpPr>
        <p:spPr>
          <a:xfrm>
            <a:off x="1028495" y="3323627"/>
            <a:ext cx="456901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class Person: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name, birth):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self.name = name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self.birth = birth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s = Person('28tech', '01/01/2022')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print(s)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B2548EC-19E0-490E-BFD6-A8E7A430A5CE}"/>
              </a:ext>
            </a:extLst>
          </p:cNvPr>
          <p:cNvSpPr/>
          <p:nvPr/>
        </p:nvSpPr>
        <p:spPr>
          <a:xfrm>
            <a:off x="1123056" y="2582303"/>
            <a:ext cx="4203792" cy="456606"/>
          </a:xfrm>
          <a:prstGeom prst="roundRect">
            <a:avLst>
              <a:gd name="adj" fmla="val 30659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200">
                <a:latin typeface="+mj-lt"/>
              </a:rPr>
              <a:t>VD khi không dùng hàm __str__</a:t>
            </a:r>
            <a:endParaRPr lang="en-US" sz="2200">
              <a:latin typeface="+mj-lt"/>
            </a:endParaRPr>
          </a:p>
        </p:txBody>
      </p:sp>
      <p:pic>
        <p:nvPicPr>
          <p:cNvPr id="52" name="Picture 2" descr="Example ">
            <a:extLst>
              <a:ext uri="{FF2B5EF4-FFF2-40B4-BE49-F238E27FC236}">
                <a16:creationId xmlns:a16="http://schemas.microsoft.com/office/drawing/2014/main" id="{4BC3A76C-35D4-4AA0-98FF-507948425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51" y="2931731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6ABD42FD-D316-4B65-B7E3-F7C777F09261}"/>
              </a:ext>
            </a:extLst>
          </p:cNvPr>
          <p:cNvGrpSpPr/>
          <p:nvPr/>
        </p:nvGrpSpPr>
        <p:grpSpPr>
          <a:xfrm>
            <a:off x="2694351" y="5161199"/>
            <a:ext cx="2431720" cy="805661"/>
            <a:chOff x="1908996" y="4915303"/>
            <a:chExt cx="2680924" cy="805661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CB916F3-3933-43E6-BF2F-D9695A44B69E}"/>
                </a:ext>
              </a:extLst>
            </p:cNvPr>
            <p:cNvGrpSpPr/>
            <p:nvPr/>
          </p:nvGrpSpPr>
          <p:grpSpPr>
            <a:xfrm>
              <a:off x="1908996" y="4915303"/>
              <a:ext cx="2680924" cy="792520"/>
              <a:chOff x="5922991" y="4016687"/>
              <a:chExt cx="2154209" cy="687681"/>
            </a:xfrm>
          </p:grpSpPr>
          <p:grpSp>
            <p:nvGrpSpPr>
              <p:cNvPr id="58" name="Graphic 17">
                <a:extLst>
                  <a:ext uri="{FF2B5EF4-FFF2-40B4-BE49-F238E27FC236}">
                    <a16:creationId xmlns:a16="http://schemas.microsoft.com/office/drawing/2014/main" id="{F97BA8ED-4F97-4C21-B9B5-174772D822BE}"/>
                  </a:ext>
                </a:extLst>
              </p:cNvPr>
              <p:cNvGrpSpPr/>
              <p:nvPr/>
            </p:nvGrpSpPr>
            <p:grpSpPr>
              <a:xfrm>
                <a:off x="5922991" y="4016687"/>
                <a:ext cx="2154209" cy="687681"/>
                <a:chOff x="6400800" y="3651273"/>
                <a:chExt cx="3425190" cy="848864"/>
              </a:xfrm>
            </p:grpSpPr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DBB2BFC4-D7BE-4FCA-A1E9-81F8FD2B20F3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521202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69DC3932-5D05-40B3-AC40-5993E87CC435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4EEC9E8-AFF8-4290-8D87-08976311EBC9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FC4CBB0-983F-4BF6-97DD-3335CA321A19}"/>
                </a:ext>
              </a:extLst>
            </p:cNvPr>
            <p:cNvSpPr txBox="1"/>
            <p:nvPr/>
          </p:nvSpPr>
          <p:spPr>
            <a:xfrm>
              <a:off x="1908996" y="5290077"/>
              <a:ext cx="268092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000000"/>
                  </a:solidFill>
                </a:rPr>
                <a:t>&lt;__main__.Person object at 0x000001AC5277DAC0&gt;</a:t>
              </a:r>
            </a:p>
          </p:txBody>
        </p:sp>
      </p:grp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2D9E49C-8C53-4A5D-AE9F-5F13DCFBD852}"/>
              </a:ext>
            </a:extLst>
          </p:cNvPr>
          <p:cNvSpPr/>
          <p:nvPr/>
        </p:nvSpPr>
        <p:spPr>
          <a:xfrm>
            <a:off x="6126026" y="2779600"/>
            <a:ext cx="5511216" cy="3529412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2BBF4CA-C316-44EE-AC9B-84D4004E53FF}"/>
              </a:ext>
            </a:extLst>
          </p:cNvPr>
          <p:cNvSpPr/>
          <p:nvPr/>
        </p:nvSpPr>
        <p:spPr>
          <a:xfrm>
            <a:off x="6394165" y="3157910"/>
            <a:ext cx="5007948" cy="2933818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64889C-D19C-4EF2-B756-C7C9627C3F7F}"/>
              </a:ext>
            </a:extLst>
          </p:cNvPr>
          <p:cNvSpPr txBox="1"/>
          <p:nvPr/>
        </p:nvSpPr>
        <p:spPr>
          <a:xfrm>
            <a:off x="6779087" y="3220875"/>
            <a:ext cx="484781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class Person: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name, birth):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self.name = name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self.birth = birth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__str__(self):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f'{self.name} {self.birth}'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 = Person('28tech', '01/01/2022')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print(s)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178CEA3-14C9-4528-8300-22F0800905AD}"/>
              </a:ext>
            </a:extLst>
          </p:cNvPr>
          <p:cNvSpPr/>
          <p:nvPr/>
        </p:nvSpPr>
        <p:spPr>
          <a:xfrm>
            <a:off x="6911556" y="2582303"/>
            <a:ext cx="3940156" cy="456606"/>
          </a:xfrm>
          <a:prstGeom prst="roundRect">
            <a:avLst>
              <a:gd name="adj" fmla="val 30659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200">
                <a:latin typeface="+mj-lt"/>
              </a:rPr>
              <a:t>VD khi xây dựng hàm __str__</a:t>
            </a:r>
            <a:endParaRPr lang="en-US" sz="2200">
              <a:latin typeface="+mj-lt"/>
            </a:endParaRPr>
          </a:p>
        </p:txBody>
      </p:sp>
      <p:pic>
        <p:nvPicPr>
          <p:cNvPr id="71" name="Picture 2" descr="Example ">
            <a:extLst>
              <a:ext uri="{FF2B5EF4-FFF2-40B4-BE49-F238E27FC236}">
                <a16:creationId xmlns:a16="http://schemas.microsoft.com/office/drawing/2014/main" id="{015C7662-4E81-4442-B29C-87126DCF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794" y="2841613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F21A26C3-E211-4E2C-8646-63A9EAC9BE88}"/>
              </a:ext>
            </a:extLst>
          </p:cNvPr>
          <p:cNvGrpSpPr/>
          <p:nvPr/>
        </p:nvGrpSpPr>
        <p:grpSpPr>
          <a:xfrm>
            <a:off x="8559078" y="5199883"/>
            <a:ext cx="2310570" cy="792520"/>
            <a:chOff x="1908996" y="4915303"/>
            <a:chExt cx="2680924" cy="79252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F001772-DF71-4B9E-91CB-6D756BCAC8DD}"/>
                </a:ext>
              </a:extLst>
            </p:cNvPr>
            <p:cNvGrpSpPr/>
            <p:nvPr/>
          </p:nvGrpSpPr>
          <p:grpSpPr>
            <a:xfrm>
              <a:off x="1908996" y="4915303"/>
              <a:ext cx="2680924" cy="792520"/>
              <a:chOff x="5922991" y="4016687"/>
              <a:chExt cx="2154209" cy="687681"/>
            </a:xfrm>
          </p:grpSpPr>
          <p:grpSp>
            <p:nvGrpSpPr>
              <p:cNvPr id="82" name="Graphic 17">
                <a:extLst>
                  <a:ext uri="{FF2B5EF4-FFF2-40B4-BE49-F238E27FC236}">
                    <a16:creationId xmlns:a16="http://schemas.microsoft.com/office/drawing/2014/main" id="{8C28BDD4-F49B-4E35-8858-58A4EB35C1F5}"/>
                  </a:ext>
                </a:extLst>
              </p:cNvPr>
              <p:cNvGrpSpPr/>
              <p:nvPr/>
            </p:nvGrpSpPr>
            <p:grpSpPr>
              <a:xfrm>
                <a:off x="5922991" y="4016687"/>
                <a:ext cx="2154209" cy="687681"/>
                <a:chOff x="6400800" y="3651273"/>
                <a:chExt cx="3425190" cy="848864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01CAB2F-9068-4B56-BE35-C4643B99107B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521202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571AD2B-30A9-4CFC-96E9-CAC8CDAF0EC9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61C04EB-328B-4AB9-A1FD-6A864517CA0C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EC514C-8783-40AA-A19D-4CC7E61D351C}"/>
                </a:ext>
              </a:extLst>
            </p:cNvPr>
            <p:cNvSpPr txBox="1"/>
            <p:nvPr/>
          </p:nvSpPr>
          <p:spPr>
            <a:xfrm>
              <a:off x="1908996" y="5349167"/>
              <a:ext cx="268092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28tech 01/01/2022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50072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800">
                  <a:solidFill>
                    <a:schemeClr val="bg1"/>
                  </a:solidFill>
                  <a:latin typeface="+mj-lt"/>
                </a:rPr>
                <a:t>6</a:t>
              </a:r>
              <a:endParaRPr lang="en-US" sz="2800">
                <a:solidFill>
                  <a:schemeClr val="bg1"/>
                </a:solidFill>
                <a:latin typeface="+mj-lt"/>
              </a:endParaRP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6708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4</a:t>
            </a:r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repr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8CB28F-B624-484A-83CB-447B6D0F0924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195DB6-63F3-4280-8FFB-93DD6C0C6B8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" descr="Hard work ">
              <a:extLst>
                <a:ext uri="{FF2B5EF4-FFF2-40B4-BE49-F238E27FC236}">
                  <a16:creationId xmlns:a16="http://schemas.microsoft.com/office/drawing/2014/main" id="{ED825B24-34BD-402B-AF56-80804BDC4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E9CC91-6D3C-4969-94DA-CD475CD81116}"/>
              </a:ext>
            </a:extLst>
          </p:cNvPr>
          <p:cNvSpPr txBox="1"/>
          <p:nvPr/>
        </p:nvSpPr>
        <p:spPr>
          <a:xfrm>
            <a:off x="1188609" y="1355307"/>
            <a:ext cx="1018098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200">
                <a:solidFill>
                  <a:srgbClr val="000000"/>
                </a:solidFill>
                <a:latin typeface="+mj-lt"/>
              </a:rPr>
              <a:t>Hàm __repr__ </a:t>
            </a:r>
            <a:r>
              <a:rPr lang="vi-VN" sz="2200">
                <a:solidFill>
                  <a:srgbClr val="000000"/>
                </a:solidFill>
              </a:rPr>
              <a:t>trả về chuỗi ký tự đại diện cho một đối tượng, nếu bạn không cài đặt </a:t>
            </a:r>
            <a:r>
              <a:rPr lang="vi-VN" sz="2200">
                <a:solidFill>
                  <a:srgbClr val="000000"/>
                </a:solidFill>
                <a:latin typeface="+mj-lt"/>
              </a:rPr>
              <a:t>hàm __str__</a:t>
            </a:r>
            <a:r>
              <a:rPr lang="vi-VN" sz="2200">
                <a:solidFill>
                  <a:srgbClr val="000000"/>
                </a:solidFill>
              </a:rPr>
              <a:t> khi sử dụng hàm print để in ra thông tin một đối tượng thì khi đó </a:t>
            </a:r>
            <a:r>
              <a:rPr lang="vi-VN" sz="2200">
                <a:solidFill>
                  <a:srgbClr val="000000"/>
                </a:solidFill>
                <a:latin typeface="+mj-lt"/>
              </a:rPr>
              <a:t>hàm __repr__</a:t>
            </a:r>
            <a:r>
              <a:rPr lang="vi-VN" sz="2200">
                <a:solidFill>
                  <a:srgbClr val="000000"/>
                </a:solidFill>
              </a:rPr>
              <a:t> được gọi để trả về thông tin của đối tượng.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2D9E49C-8C53-4A5D-AE9F-5F13DCFBD852}"/>
              </a:ext>
            </a:extLst>
          </p:cNvPr>
          <p:cNvSpPr/>
          <p:nvPr/>
        </p:nvSpPr>
        <p:spPr>
          <a:xfrm>
            <a:off x="3104408" y="2549224"/>
            <a:ext cx="5511216" cy="3701214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2BBF4CA-C316-44EE-AC9B-84D4004E53FF}"/>
              </a:ext>
            </a:extLst>
          </p:cNvPr>
          <p:cNvSpPr/>
          <p:nvPr/>
        </p:nvSpPr>
        <p:spPr>
          <a:xfrm>
            <a:off x="3372547" y="2788414"/>
            <a:ext cx="5007948" cy="3202878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64889C-D19C-4EF2-B756-C7C9627C3F7F}"/>
              </a:ext>
            </a:extLst>
          </p:cNvPr>
          <p:cNvSpPr txBox="1"/>
          <p:nvPr/>
        </p:nvSpPr>
        <p:spPr>
          <a:xfrm>
            <a:off x="3757469" y="2813942"/>
            <a:ext cx="48478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class Person: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name, birth):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self.name = name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    self.birth = birth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s = Person('28tech', '01/01/2022')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print(s)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chemeClr val="bg1"/>
                </a:solidFill>
                <a:latin typeface="Consolas" panose="020B0609020204030204" pitchFamily="49" charset="0"/>
              </a:rPr>
              <a:t>    print(s.__repr__())</a:t>
            </a:r>
          </a:p>
        </p:txBody>
      </p:sp>
      <p:pic>
        <p:nvPicPr>
          <p:cNvPr id="71" name="Picture 2" descr="Example ">
            <a:extLst>
              <a:ext uri="{FF2B5EF4-FFF2-40B4-BE49-F238E27FC236}">
                <a16:creationId xmlns:a16="http://schemas.microsoft.com/office/drawing/2014/main" id="{015C7662-4E81-4442-B29C-87126DCF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176" y="2472117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F21A26C3-E211-4E2C-8646-63A9EAC9BE88}"/>
              </a:ext>
            </a:extLst>
          </p:cNvPr>
          <p:cNvGrpSpPr/>
          <p:nvPr/>
        </p:nvGrpSpPr>
        <p:grpSpPr>
          <a:xfrm>
            <a:off x="3776519" y="4995083"/>
            <a:ext cx="4399853" cy="792520"/>
            <a:chOff x="1908996" y="4915303"/>
            <a:chExt cx="2732404" cy="79252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F001772-DF71-4B9E-91CB-6D756BCAC8DD}"/>
                </a:ext>
              </a:extLst>
            </p:cNvPr>
            <p:cNvGrpSpPr/>
            <p:nvPr/>
          </p:nvGrpSpPr>
          <p:grpSpPr>
            <a:xfrm>
              <a:off x="1908996" y="4915303"/>
              <a:ext cx="2680924" cy="792520"/>
              <a:chOff x="5922991" y="4016687"/>
              <a:chExt cx="2154209" cy="687681"/>
            </a:xfrm>
          </p:grpSpPr>
          <p:grpSp>
            <p:nvGrpSpPr>
              <p:cNvPr id="82" name="Graphic 17">
                <a:extLst>
                  <a:ext uri="{FF2B5EF4-FFF2-40B4-BE49-F238E27FC236}">
                    <a16:creationId xmlns:a16="http://schemas.microsoft.com/office/drawing/2014/main" id="{8C28BDD4-F49B-4E35-8858-58A4EB35C1F5}"/>
                  </a:ext>
                </a:extLst>
              </p:cNvPr>
              <p:cNvGrpSpPr/>
              <p:nvPr/>
            </p:nvGrpSpPr>
            <p:grpSpPr>
              <a:xfrm>
                <a:off x="5922991" y="4016687"/>
                <a:ext cx="2154209" cy="687681"/>
                <a:chOff x="6400800" y="3651273"/>
                <a:chExt cx="3425190" cy="848864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01CAB2F-9068-4B56-BE35-C4643B99107B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521202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571AD2B-30A9-4CFC-96E9-CAC8CDAF0EC9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61C04EB-328B-4AB9-A1FD-6A864517CA0C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EC514C-8783-40AA-A19D-4CC7E61D351C}"/>
                </a:ext>
              </a:extLst>
            </p:cNvPr>
            <p:cNvSpPr txBox="1"/>
            <p:nvPr/>
          </p:nvSpPr>
          <p:spPr>
            <a:xfrm>
              <a:off x="1960479" y="5271723"/>
              <a:ext cx="2680921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i="0" u="none" strike="noStrike">
                  <a:solidFill>
                    <a:srgbClr val="000000"/>
                  </a:solidFill>
                  <a:effectLst/>
                </a:rPr>
                <a:t>&lt;__main__.Person object at 0x000001AC527C8400&gt;</a:t>
              </a:r>
              <a:endParaRPr lang="en-US" sz="1400" b="0">
                <a:effectLst/>
              </a:endParaRPr>
            </a:p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0" i="0" u="none" strike="noStrike">
                  <a:solidFill>
                    <a:srgbClr val="000000"/>
                  </a:solidFill>
                  <a:effectLst/>
                </a:rPr>
                <a:t>&lt;__main__.Person object at 0x000001AC527C8400</a:t>
              </a:r>
              <a:endParaRPr lang="en-US" sz="14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206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2800">
                  <a:solidFill>
                    <a:schemeClr val="bg1"/>
                  </a:solidFill>
                  <a:latin typeface="+mj-lt"/>
                </a:rPr>
                <a:t>7</a:t>
              </a: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6708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5</a:t>
            </a:r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__add__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8CB28F-B624-484A-83CB-447B6D0F0924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195DB6-63F3-4280-8FFB-93DD6C0C6B8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" descr="Hard work ">
              <a:extLst>
                <a:ext uri="{FF2B5EF4-FFF2-40B4-BE49-F238E27FC236}">
                  <a16:creationId xmlns:a16="http://schemas.microsoft.com/office/drawing/2014/main" id="{ED825B24-34BD-402B-AF56-80804BDC4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E9CC91-6D3C-4969-94DA-CD475CD81116}"/>
              </a:ext>
            </a:extLst>
          </p:cNvPr>
          <p:cNvSpPr txBox="1"/>
          <p:nvPr/>
        </p:nvSpPr>
        <p:spPr>
          <a:xfrm>
            <a:off x="1188609" y="1355307"/>
            <a:ext cx="101809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200">
                <a:solidFill>
                  <a:srgbClr val="000000"/>
                </a:solidFill>
                <a:latin typeface="+mj-lt"/>
              </a:rPr>
              <a:t>Hàm __add__</a:t>
            </a:r>
            <a:r>
              <a:rPr lang="vi-VN" sz="2200">
                <a:solidFill>
                  <a:srgbClr val="000000"/>
                </a:solidFill>
              </a:rPr>
              <a:t> được sử dụng khi bạn cần nạp chồng toán tử + cho 2 đối tượng của một class.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2D9E49C-8C53-4A5D-AE9F-5F13DCFBD852}"/>
              </a:ext>
            </a:extLst>
          </p:cNvPr>
          <p:cNvSpPr/>
          <p:nvPr/>
        </p:nvSpPr>
        <p:spPr>
          <a:xfrm>
            <a:off x="3104408" y="2059664"/>
            <a:ext cx="5511216" cy="4199852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2BBF4CA-C316-44EE-AC9B-84D4004E53FF}"/>
              </a:ext>
            </a:extLst>
          </p:cNvPr>
          <p:cNvSpPr/>
          <p:nvPr/>
        </p:nvSpPr>
        <p:spPr>
          <a:xfrm>
            <a:off x="3372547" y="2298854"/>
            <a:ext cx="5007948" cy="3785652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64889C-D19C-4EF2-B756-C7C9627C3F7F}"/>
              </a:ext>
            </a:extLst>
          </p:cNvPr>
          <p:cNvSpPr txBox="1"/>
          <p:nvPr/>
        </p:nvSpPr>
        <p:spPr>
          <a:xfrm>
            <a:off x="3757469" y="2429453"/>
            <a:ext cx="484781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class SoPhuc: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thuc, ao):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 = thuc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self.ao = 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__add__(self, other):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 += other.thuc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self.ao += other.ao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SoPhuc(self.thuc, self.ao)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__str__(self):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f'{self.thuc} + {self.ao}j'</a:t>
            </a:r>
            <a:b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s1 = SoPhuc(2, 3)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s2 = SoPhuc(3, 1)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s3 = s1 + s2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print(s3)</a:t>
            </a:r>
          </a:p>
        </p:txBody>
      </p:sp>
      <p:pic>
        <p:nvPicPr>
          <p:cNvPr id="71" name="Picture 2" descr="Example ">
            <a:extLst>
              <a:ext uri="{FF2B5EF4-FFF2-40B4-BE49-F238E27FC236}">
                <a16:creationId xmlns:a16="http://schemas.microsoft.com/office/drawing/2014/main" id="{015C7662-4E81-4442-B29C-87126DCF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176" y="1982557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F21A26C3-E211-4E2C-8646-63A9EAC9BE88}"/>
              </a:ext>
            </a:extLst>
          </p:cNvPr>
          <p:cNvGrpSpPr/>
          <p:nvPr/>
        </p:nvGrpSpPr>
        <p:grpSpPr>
          <a:xfrm>
            <a:off x="6781800" y="5045921"/>
            <a:ext cx="1464909" cy="717918"/>
            <a:chOff x="1908996" y="4915304"/>
            <a:chExt cx="2680924" cy="71791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F001772-DF71-4B9E-91CB-6D756BCAC8DD}"/>
                </a:ext>
              </a:extLst>
            </p:cNvPr>
            <p:cNvGrpSpPr/>
            <p:nvPr/>
          </p:nvGrpSpPr>
          <p:grpSpPr>
            <a:xfrm>
              <a:off x="1908996" y="4915304"/>
              <a:ext cx="2680924" cy="717918"/>
              <a:chOff x="5922991" y="4016689"/>
              <a:chExt cx="2154209" cy="622948"/>
            </a:xfrm>
          </p:grpSpPr>
          <p:grpSp>
            <p:nvGrpSpPr>
              <p:cNvPr id="82" name="Graphic 17">
                <a:extLst>
                  <a:ext uri="{FF2B5EF4-FFF2-40B4-BE49-F238E27FC236}">
                    <a16:creationId xmlns:a16="http://schemas.microsoft.com/office/drawing/2014/main" id="{8C28BDD4-F49B-4E35-8858-58A4EB35C1F5}"/>
                  </a:ext>
                </a:extLst>
              </p:cNvPr>
              <p:cNvGrpSpPr/>
              <p:nvPr/>
            </p:nvGrpSpPr>
            <p:grpSpPr>
              <a:xfrm>
                <a:off x="5922991" y="4016689"/>
                <a:ext cx="2154209" cy="622948"/>
                <a:chOff x="6400800" y="3651273"/>
                <a:chExt cx="3425190" cy="768958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01CAB2F-9068-4B56-BE35-C4643B99107B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441296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571AD2B-30A9-4CFC-96E9-CAC8CDAF0EC9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61C04EB-328B-4AB9-A1FD-6A864517CA0C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EC514C-8783-40AA-A19D-4CC7E61D351C}"/>
                </a:ext>
              </a:extLst>
            </p:cNvPr>
            <p:cNvSpPr txBox="1"/>
            <p:nvPr/>
          </p:nvSpPr>
          <p:spPr>
            <a:xfrm>
              <a:off x="2662902" y="5288008"/>
              <a:ext cx="155472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 strike="noStrike">
                  <a:solidFill>
                    <a:srgbClr val="000000"/>
                  </a:solidFill>
                  <a:effectLst/>
                </a:rPr>
                <a:t>5 + 4j</a:t>
              </a:r>
              <a:endParaRPr lang="en-US" sz="20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6732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2800">
                  <a:solidFill>
                    <a:schemeClr val="bg1"/>
                  </a:solidFill>
                  <a:latin typeface="+mj-lt"/>
                </a:rPr>
                <a:t>8</a:t>
              </a: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6708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6</a:t>
            </a:r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__sub__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8CB28F-B624-484A-83CB-447B6D0F0924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195DB6-63F3-4280-8FFB-93DD6C0C6B8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" descr="Hard work ">
              <a:extLst>
                <a:ext uri="{FF2B5EF4-FFF2-40B4-BE49-F238E27FC236}">
                  <a16:creationId xmlns:a16="http://schemas.microsoft.com/office/drawing/2014/main" id="{ED825B24-34BD-402B-AF56-80804BDC4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E9CC91-6D3C-4969-94DA-CD475CD81116}"/>
              </a:ext>
            </a:extLst>
          </p:cNvPr>
          <p:cNvSpPr txBox="1"/>
          <p:nvPr/>
        </p:nvSpPr>
        <p:spPr>
          <a:xfrm>
            <a:off x="1188609" y="1355307"/>
            <a:ext cx="100127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200">
                <a:solidFill>
                  <a:srgbClr val="000000"/>
                </a:solidFill>
                <a:latin typeface="+mj-lt"/>
              </a:rPr>
              <a:t>Hàm __</a:t>
            </a:r>
            <a:r>
              <a:rPr lang="en-US" sz="2200">
                <a:solidFill>
                  <a:srgbClr val="000000"/>
                </a:solidFill>
                <a:latin typeface="+mj-lt"/>
              </a:rPr>
              <a:t>sub</a:t>
            </a:r>
            <a:r>
              <a:rPr lang="vi-VN" sz="2200">
                <a:solidFill>
                  <a:srgbClr val="000000"/>
                </a:solidFill>
                <a:latin typeface="+mj-lt"/>
              </a:rPr>
              <a:t>__</a:t>
            </a:r>
            <a:r>
              <a:rPr lang="vi-VN" sz="2200">
                <a:solidFill>
                  <a:srgbClr val="000000"/>
                </a:solidFill>
              </a:rPr>
              <a:t> được sử dụng khi bạn cần nạp chồng toán tử </a:t>
            </a:r>
            <a:r>
              <a:rPr lang="en-US" sz="2200">
                <a:solidFill>
                  <a:srgbClr val="000000"/>
                </a:solidFill>
              </a:rPr>
              <a:t>-</a:t>
            </a:r>
            <a:r>
              <a:rPr lang="vi-VN" sz="2200">
                <a:solidFill>
                  <a:srgbClr val="000000"/>
                </a:solidFill>
              </a:rPr>
              <a:t> cho 2 đối tượng của một class.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2D9E49C-8C53-4A5D-AE9F-5F13DCFBD852}"/>
              </a:ext>
            </a:extLst>
          </p:cNvPr>
          <p:cNvSpPr/>
          <p:nvPr/>
        </p:nvSpPr>
        <p:spPr>
          <a:xfrm>
            <a:off x="3104408" y="2025792"/>
            <a:ext cx="5511216" cy="4199852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2BBF4CA-C316-44EE-AC9B-84D4004E53FF}"/>
              </a:ext>
            </a:extLst>
          </p:cNvPr>
          <p:cNvSpPr/>
          <p:nvPr/>
        </p:nvSpPr>
        <p:spPr>
          <a:xfrm>
            <a:off x="3372547" y="2264982"/>
            <a:ext cx="5007948" cy="3785652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64889C-D19C-4EF2-B756-C7C9627C3F7F}"/>
              </a:ext>
            </a:extLst>
          </p:cNvPr>
          <p:cNvSpPr txBox="1"/>
          <p:nvPr/>
        </p:nvSpPr>
        <p:spPr>
          <a:xfrm>
            <a:off x="3757469" y="2395581"/>
            <a:ext cx="484781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class SoPhuc: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thuc, ao):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 = thuc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self.ao = 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__add__(self, other):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 -= other.thuc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self.ao -= other.ao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SoPhuc(self.thuc, self.ao)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__str__(self):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f'{self.thuc} + {self.ao}j'</a:t>
            </a:r>
            <a:b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s1 = SoPhuc(2, 3)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s2 = SoPhuc(3, 1)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s3 = s1 - s2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print(s3)</a:t>
            </a:r>
          </a:p>
        </p:txBody>
      </p:sp>
      <p:pic>
        <p:nvPicPr>
          <p:cNvPr id="71" name="Picture 2" descr="Example ">
            <a:extLst>
              <a:ext uri="{FF2B5EF4-FFF2-40B4-BE49-F238E27FC236}">
                <a16:creationId xmlns:a16="http://schemas.microsoft.com/office/drawing/2014/main" id="{015C7662-4E81-4442-B29C-87126DCF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176" y="1948685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F21A26C3-E211-4E2C-8646-63A9EAC9BE88}"/>
              </a:ext>
            </a:extLst>
          </p:cNvPr>
          <p:cNvGrpSpPr/>
          <p:nvPr/>
        </p:nvGrpSpPr>
        <p:grpSpPr>
          <a:xfrm>
            <a:off x="6781800" y="5012049"/>
            <a:ext cx="1464909" cy="717918"/>
            <a:chOff x="1908996" y="4915304"/>
            <a:chExt cx="2680924" cy="71791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F001772-DF71-4B9E-91CB-6D756BCAC8DD}"/>
                </a:ext>
              </a:extLst>
            </p:cNvPr>
            <p:cNvGrpSpPr/>
            <p:nvPr/>
          </p:nvGrpSpPr>
          <p:grpSpPr>
            <a:xfrm>
              <a:off x="1908996" y="4915304"/>
              <a:ext cx="2680924" cy="717918"/>
              <a:chOff x="5922991" y="4016689"/>
              <a:chExt cx="2154209" cy="622948"/>
            </a:xfrm>
          </p:grpSpPr>
          <p:grpSp>
            <p:nvGrpSpPr>
              <p:cNvPr id="82" name="Graphic 17">
                <a:extLst>
                  <a:ext uri="{FF2B5EF4-FFF2-40B4-BE49-F238E27FC236}">
                    <a16:creationId xmlns:a16="http://schemas.microsoft.com/office/drawing/2014/main" id="{8C28BDD4-F49B-4E35-8858-58A4EB35C1F5}"/>
                  </a:ext>
                </a:extLst>
              </p:cNvPr>
              <p:cNvGrpSpPr/>
              <p:nvPr/>
            </p:nvGrpSpPr>
            <p:grpSpPr>
              <a:xfrm>
                <a:off x="5922991" y="4016689"/>
                <a:ext cx="2154209" cy="622948"/>
                <a:chOff x="6400800" y="3651273"/>
                <a:chExt cx="3425190" cy="768958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01CAB2F-9068-4B56-BE35-C4643B99107B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441296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571AD2B-30A9-4CFC-96E9-CAC8CDAF0EC9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61C04EB-328B-4AB9-A1FD-6A864517CA0C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EC514C-8783-40AA-A19D-4CC7E61D351C}"/>
                </a:ext>
              </a:extLst>
            </p:cNvPr>
            <p:cNvSpPr txBox="1"/>
            <p:nvPr/>
          </p:nvSpPr>
          <p:spPr>
            <a:xfrm>
              <a:off x="2662902" y="5288008"/>
              <a:ext cx="155472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-1</a:t>
              </a:r>
              <a:r>
                <a:rPr lang="en-US" sz="2000" b="0" i="0" u="none" strike="noStrike">
                  <a:solidFill>
                    <a:srgbClr val="000000"/>
                  </a:solidFill>
                  <a:effectLst/>
                </a:rPr>
                <a:t> + 2j</a:t>
              </a:r>
              <a:endParaRPr lang="en-US" sz="20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03812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45282"/>
            <a:chOff x="76200" y="6310205"/>
            <a:chExt cx="428411" cy="44528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9860" y="6324600"/>
              <a:ext cx="22860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2800">
                  <a:solidFill>
                    <a:schemeClr val="bg1"/>
                  </a:solidFill>
                  <a:latin typeface="+mj-lt"/>
                </a:rPr>
                <a:t>9</a:t>
              </a: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6708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7</a:t>
            </a:r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__mul__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8CB28F-B624-484A-83CB-447B6D0F0924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195DB6-63F3-4280-8FFB-93DD6C0C6B8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" descr="Hard work ">
              <a:extLst>
                <a:ext uri="{FF2B5EF4-FFF2-40B4-BE49-F238E27FC236}">
                  <a16:creationId xmlns:a16="http://schemas.microsoft.com/office/drawing/2014/main" id="{ED825B24-34BD-402B-AF56-80804BDC4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E9CC91-6D3C-4969-94DA-CD475CD81116}"/>
              </a:ext>
            </a:extLst>
          </p:cNvPr>
          <p:cNvSpPr txBox="1"/>
          <p:nvPr/>
        </p:nvSpPr>
        <p:spPr>
          <a:xfrm>
            <a:off x="1188609" y="1355307"/>
            <a:ext cx="100127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200">
                <a:solidFill>
                  <a:srgbClr val="000000"/>
                </a:solidFill>
                <a:latin typeface="+mj-lt"/>
              </a:rPr>
              <a:t>Hàm __</a:t>
            </a:r>
            <a:r>
              <a:rPr lang="en-US" sz="2200">
                <a:solidFill>
                  <a:srgbClr val="000000"/>
                </a:solidFill>
                <a:latin typeface="+mj-lt"/>
              </a:rPr>
              <a:t>mul</a:t>
            </a:r>
            <a:r>
              <a:rPr lang="vi-VN" sz="2200">
                <a:solidFill>
                  <a:srgbClr val="000000"/>
                </a:solidFill>
                <a:latin typeface="+mj-lt"/>
              </a:rPr>
              <a:t>__</a:t>
            </a:r>
            <a:r>
              <a:rPr lang="vi-VN" sz="2200">
                <a:solidFill>
                  <a:srgbClr val="000000"/>
                </a:solidFill>
              </a:rPr>
              <a:t> được sử dụng khi bạn cần nạp chồng toán tử </a:t>
            </a:r>
            <a:r>
              <a:rPr lang="en-US" sz="2200">
                <a:solidFill>
                  <a:srgbClr val="000000"/>
                </a:solidFill>
              </a:rPr>
              <a:t>*</a:t>
            </a:r>
            <a:r>
              <a:rPr lang="vi-VN" sz="2200">
                <a:solidFill>
                  <a:srgbClr val="000000"/>
                </a:solidFill>
              </a:rPr>
              <a:t> cho 2 đối tượng của một class.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2D9E49C-8C53-4A5D-AE9F-5F13DCFBD852}"/>
              </a:ext>
            </a:extLst>
          </p:cNvPr>
          <p:cNvSpPr/>
          <p:nvPr/>
        </p:nvSpPr>
        <p:spPr>
          <a:xfrm>
            <a:off x="2411411" y="2124748"/>
            <a:ext cx="7487393" cy="4223957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2BBF4CA-C316-44EE-AC9B-84D4004E53FF}"/>
              </a:ext>
            </a:extLst>
          </p:cNvPr>
          <p:cNvSpPr/>
          <p:nvPr/>
        </p:nvSpPr>
        <p:spPr>
          <a:xfrm>
            <a:off x="2679550" y="2328237"/>
            <a:ext cx="6937344" cy="3889696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64889C-D19C-4EF2-B756-C7C9627C3F7F}"/>
              </a:ext>
            </a:extLst>
          </p:cNvPr>
          <p:cNvSpPr txBox="1"/>
          <p:nvPr/>
        </p:nvSpPr>
        <p:spPr>
          <a:xfrm>
            <a:off x="3237120" y="2380259"/>
            <a:ext cx="63797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class SoPhuc: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thuc, ao):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 = thuc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self.ao = 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__mul__(self, other):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thuc = self.thuc * other.thuc - self.ao * other.ao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ao = self.thuc * other.ao + self.ao * other.thuc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self.thuc, self.ao = thuc, 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SoPhuc(thuc, ao)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__str__(self):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f'{self.thuc} + {self.ao}j'</a:t>
            </a:r>
            <a:b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s1 = SoPhuc(2, 3)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s2 = SoPhuc(3, 1)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s3 = s1 * s2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print(s3)</a:t>
            </a:r>
          </a:p>
        </p:txBody>
      </p:sp>
      <p:pic>
        <p:nvPicPr>
          <p:cNvPr id="71" name="Picture 2" descr="Example ">
            <a:extLst>
              <a:ext uri="{FF2B5EF4-FFF2-40B4-BE49-F238E27FC236}">
                <a16:creationId xmlns:a16="http://schemas.microsoft.com/office/drawing/2014/main" id="{015C7662-4E81-4442-B29C-87126DCF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180" y="2115984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F21A26C3-E211-4E2C-8646-63A9EAC9BE88}"/>
              </a:ext>
            </a:extLst>
          </p:cNvPr>
          <p:cNvGrpSpPr/>
          <p:nvPr/>
        </p:nvGrpSpPr>
        <p:grpSpPr>
          <a:xfrm>
            <a:off x="6427007" y="5215093"/>
            <a:ext cx="1464909" cy="717918"/>
            <a:chOff x="1908996" y="4915304"/>
            <a:chExt cx="2680924" cy="71791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F001772-DF71-4B9E-91CB-6D756BCAC8DD}"/>
                </a:ext>
              </a:extLst>
            </p:cNvPr>
            <p:cNvGrpSpPr/>
            <p:nvPr/>
          </p:nvGrpSpPr>
          <p:grpSpPr>
            <a:xfrm>
              <a:off x="1908996" y="4915304"/>
              <a:ext cx="2680924" cy="717918"/>
              <a:chOff x="5922991" y="4016689"/>
              <a:chExt cx="2154209" cy="622948"/>
            </a:xfrm>
          </p:grpSpPr>
          <p:grpSp>
            <p:nvGrpSpPr>
              <p:cNvPr id="82" name="Graphic 17">
                <a:extLst>
                  <a:ext uri="{FF2B5EF4-FFF2-40B4-BE49-F238E27FC236}">
                    <a16:creationId xmlns:a16="http://schemas.microsoft.com/office/drawing/2014/main" id="{8C28BDD4-F49B-4E35-8858-58A4EB35C1F5}"/>
                  </a:ext>
                </a:extLst>
              </p:cNvPr>
              <p:cNvGrpSpPr/>
              <p:nvPr/>
            </p:nvGrpSpPr>
            <p:grpSpPr>
              <a:xfrm>
                <a:off x="5922991" y="4016689"/>
                <a:ext cx="2154209" cy="622948"/>
                <a:chOff x="6400800" y="3651273"/>
                <a:chExt cx="3425190" cy="768958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01CAB2F-9068-4B56-BE35-C4643B99107B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441296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571AD2B-30A9-4CFC-96E9-CAC8CDAF0EC9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61C04EB-328B-4AB9-A1FD-6A864517CA0C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EC514C-8783-40AA-A19D-4CC7E61D351C}"/>
                </a:ext>
              </a:extLst>
            </p:cNvPr>
            <p:cNvSpPr txBox="1"/>
            <p:nvPr/>
          </p:nvSpPr>
          <p:spPr>
            <a:xfrm>
              <a:off x="2662902" y="5288008"/>
              <a:ext cx="155472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0" i="0" u="none" strike="noStrike">
                  <a:solidFill>
                    <a:srgbClr val="000000"/>
                  </a:solidFill>
                  <a:effectLst/>
                </a:rPr>
                <a:t>3 + 11j</a:t>
              </a:r>
              <a:endParaRPr lang="en-US" sz="20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920904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28411"/>
            <a:chOff x="76200" y="6310205"/>
            <a:chExt cx="428411" cy="42841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6026" y="6345452"/>
              <a:ext cx="37593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2400">
                  <a:solidFill>
                    <a:schemeClr val="bg1"/>
                  </a:solidFill>
                  <a:latin typeface="+mj-lt"/>
                </a:rPr>
                <a:t>10</a:t>
              </a: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6708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8</a:t>
            </a:r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</a:t>
            </a:r>
            <a:r>
              <a:rPr lang="en-US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Hàm __truediv__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8CB28F-B624-484A-83CB-447B6D0F0924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195DB6-63F3-4280-8FFB-93DD6C0C6B8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" descr="Hard work ">
              <a:extLst>
                <a:ext uri="{FF2B5EF4-FFF2-40B4-BE49-F238E27FC236}">
                  <a16:creationId xmlns:a16="http://schemas.microsoft.com/office/drawing/2014/main" id="{ED825B24-34BD-402B-AF56-80804BDC4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E9CC91-6D3C-4969-94DA-CD475CD81116}"/>
              </a:ext>
            </a:extLst>
          </p:cNvPr>
          <p:cNvSpPr txBox="1"/>
          <p:nvPr/>
        </p:nvSpPr>
        <p:spPr>
          <a:xfrm>
            <a:off x="1188609" y="1355307"/>
            <a:ext cx="101809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200">
                <a:solidFill>
                  <a:srgbClr val="000000"/>
                </a:solidFill>
                <a:latin typeface="+mj-lt"/>
              </a:rPr>
              <a:t>Hàm __</a:t>
            </a:r>
            <a:r>
              <a:rPr lang="en-US" sz="2200">
                <a:solidFill>
                  <a:srgbClr val="000000"/>
                </a:solidFill>
                <a:latin typeface="+mj-lt"/>
              </a:rPr>
              <a:t>truediv</a:t>
            </a:r>
            <a:r>
              <a:rPr lang="vi-VN" sz="2200">
                <a:solidFill>
                  <a:srgbClr val="000000"/>
                </a:solidFill>
                <a:latin typeface="+mj-lt"/>
              </a:rPr>
              <a:t>__</a:t>
            </a:r>
            <a:r>
              <a:rPr lang="vi-VN" sz="2200">
                <a:solidFill>
                  <a:srgbClr val="000000"/>
                </a:solidFill>
              </a:rPr>
              <a:t> được sử dụng khi bạn cần nạp chồng toán tử </a:t>
            </a:r>
            <a:r>
              <a:rPr lang="en-US" sz="2200">
                <a:solidFill>
                  <a:srgbClr val="000000"/>
                </a:solidFill>
              </a:rPr>
              <a:t>/</a:t>
            </a:r>
            <a:r>
              <a:rPr lang="vi-VN" sz="2200">
                <a:solidFill>
                  <a:srgbClr val="000000"/>
                </a:solidFill>
              </a:rPr>
              <a:t> </a:t>
            </a:r>
            <a:r>
              <a:rPr lang="vi-VN" sz="2200" smtClean="0">
                <a:solidFill>
                  <a:srgbClr val="000000"/>
                </a:solidFill>
              </a:rPr>
              <a:t>cho </a:t>
            </a:r>
            <a:r>
              <a:rPr lang="vi-VN" sz="2200">
                <a:solidFill>
                  <a:srgbClr val="000000"/>
                </a:solidFill>
              </a:rPr>
              <a:t>2 đối tượng của một class.</a:t>
            </a:r>
            <a:endParaRPr lang="en-US" sz="2200">
              <a:solidFill>
                <a:srgbClr val="000000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2D9E49C-8C53-4A5D-AE9F-5F13DCFBD852}"/>
              </a:ext>
            </a:extLst>
          </p:cNvPr>
          <p:cNvSpPr/>
          <p:nvPr/>
        </p:nvSpPr>
        <p:spPr>
          <a:xfrm>
            <a:off x="2411411" y="2124748"/>
            <a:ext cx="7996242" cy="4232509"/>
          </a:xfrm>
          <a:prstGeom prst="roundRect">
            <a:avLst>
              <a:gd name="adj" fmla="val 4111"/>
            </a:avLst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C2BBF4CA-C316-44EE-AC9B-84D4004E53FF}"/>
              </a:ext>
            </a:extLst>
          </p:cNvPr>
          <p:cNvSpPr/>
          <p:nvPr/>
        </p:nvSpPr>
        <p:spPr>
          <a:xfrm>
            <a:off x="2679549" y="2247873"/>
            <a:ext cx="7524055" cy="4016484"/>
          </a:xfrm>
          <a:prstGeom prst="roundRect">
            <a:avLst>
              <a:gd name="adj" fmla="val 7134"/>
            </a:avLst>
          </a:prstGeom>
          <a:solidFill>
            <a:srgbClr val="2A2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64889C-D19C-4EF2-B756-C7C9627C3F7F}"/>
              </a:ext>
            </a:extLst>
          </p:cNvPr>
          <p:cNvSpPr txBox="1"/>
          <p:nvPr/>
        </p:nvSpPr>
        <p:spPr>
          <a:xfrm>
            <a:off x="3104408" y="2272479"/>
            <a:ext cx="7303245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class SoPhuc: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__init__(self, thuc, ao):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 = thuc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self.ao = 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__truediv__(self, other):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mau = other.thuc ** 2 + other.ao ** 2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thuc = (self.thuc * other.thuc + self.ao * other.ao) / mau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ao = (self.ao * other.thuc - self.thuc * other.ao) / mau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self.thuc, self.ao = thuc, ao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SoPhuc(thuc, ao)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def __str__(self):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    return f'{self.thuc} + {self.ao}j'</a:t>
            </a:r>
            <a:b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if __name__ == '__main__':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s1 = SoPhuc(2, 3)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s2 = SoPhuc(3, 1)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s3 = s1 / s2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chemeClr val="bg1"/>
                </a:solidFill>
                <a:latin typeface="Consolas" panose="020B0609020204030204" pitchFamily="49" charset="0"/>
              </a:rPr>
              <a:t>    print(s3)</a:t>
            </a:r>
          </a:p>
        </p:txBody>
      </p:sp>
      <p:pic>
        <p:nvPicPr>
          <p:cNvPr id="71" name="Picture 2" descr="Example ">
            <a:extLst>
              <a:ext uri="{FF2B5EF4-FFF2-40B4-BE49-F238E27FC236}">
                <a16:creationId xmlns:a16="http://schemas.microsoft.com/office/drawing/2014/main" id="{015C7662-4E81-4442-B29C-87126DCF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180" y="2035878"/>
            <a:ext cx="688762" cy="68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F21A26C3-E211-4E2C-8646-63A9EAC9BE88}"/>
              </a:ext>
            </a:extLst>
          </p:cNvPr>
          <p:cNvGrpSpPr/>
          <p:nvPr/>
        </p:nvGrpSpPr>
        <p:grpSpPr>
          <a:xfrm>
            <a:off x="6427007" y="5215093"/>
            <a:ext cx="1464909" cy="717918"/>
            <a:chOff x="1908996" y="4915304"/>
            <a:chExt cx="2680924" cy="71791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F001772-DF71-4B9E-91CB-6D756BCAC8DD}"/>
                </a:ext>
              </a:extLst>
            </p:cNvPr>
            <p:cNvGrpSpPr/>
            <p:nvPr/>
          </p:nvGrpSpPr>
          <p:grpSpPr>
            <a:xfrm>
              <a:off x="1908996" y="4915304"/>
              <a:ext cx="2680924" cy="717918"/>
              <a:chOff x="5922991" y="4016689"/>
              <a:chExt cx="2154209" cy="622948"/>
            </a:xfrm>
          </p:grpSpPr>
          <p:grpSp>
            <p:nvGrpSpPr>
              <p:cNvPr id="82" name="Graphic 17">
                <a:extLst>
                  <a:ext uri="{FF2B5EF4-FFF2-40B4-BE49-F238E27FC236}">
                    <a16:creationId xmlns:a16="http://schemas.microsoft.com/office/drawing/2014/main" id="{8C28BDD4-F49B-4E35-8858-58A4EB35C1F5}"/>
                  </a:ext>
                </a:extLst>
              </p:cNvPr>
              <p:cNvGrpSpPr/>
              <p:nvPr/>
            </p:nvGrpSpPr>
            <p:grpSpPr>
              <a:xfrm>
                <a:off x="5922991" y="4016689"/>
                <a:ext cx="2154209" cy="622948"/>
                <a:chOff x="6400800" y="3651273"/>
                <a:chExt cx="3425190" cy="768958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E01CAB2F-9068-4B56-BE35-C4643B99107B}"/>
                    </a:ext>
                  </a:extLst>
                </p:cNvPr>
                <p:cNvSpPr/>
                <p:nvPr/>
              </p:nvSpPr>
              <p:spPr>
                <a:xfrm>
                  <a:off x="6400800" y="3978935"/>
                  <a:ext cx="3425190" cy="441296"/>
                </a:xfrm>
                <a:custGeom>
                  <a:avLst/>
                  <a:gdLst>
                    <a:gd name="connsiteX0" fmla="*/ 3357563 w 3425190"/>
                    <a:gd name="connsiteY0" fmla="*/ 1480185 h 1480185"/>
                    <a:gd name="connsiteX1" fmla="*/ 67628 w 3425190"/>
                    <a:gd name="connsiteY1" fmla="*/ 1480185 h 1480185"/>
                    <a:gd name="connsiteX2" fmla="*/ 0 w 3425190"/>
                    <a:gd name="connsiteY2" fmla="*/ 1412558 h 1480185"/>
                    <a:gd name="connsiteX3" fmla="*/ 0 w 3425190"/>
                    <a:gd name="connsiteY3" fmla="*/ 0 h 1480185"/>
                    <a:gd name="connsiteX4" fmla="*/ 3425190 w 3425190"/>
                    <a:gd name="connsiteY4" fmla="*/ 0 h 1480185"/>
                    <a:gd name="connsiteX5" fmla="*/ 3425190 w 3425190"/>
                    <a:gd name="connsiteY5" fmla="*/ 1412558 h 1480185"/>
                    <a:gd name="connsiteX6" fmla="*/ 3357563 w 3425190"/>
                    <a:gd name="connsiteY6" fmla="*/ 1480185 h 1480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1480185">
                      <a:moveTo>
                        <a:pt x="3357563" y="1480185"/>
                      </a:moveTo>
                      <a:lnTo>
                        <a:pt x="67628" y="1480185"/>
                      </a:lnTo>
                      <a:cubicBezTo>
                        <a:pt x="30480" y="1480185"/>
                        <a:pt x="0" y="1449705"/>
                        <a:pt x="0" y="1412558"/>
                      </a:cubicBezTo>
                      <a:lnTo>
                        <a:pt x="0" y="0"/>
                      </a:lnTo>
                      <a:lnTo>
                        <a:pt x="3425190" y="0"/>
                      </a:lnTo>
                      <a:lnTo>
                        <a:pt x="3425190" y="1412558"/>
                      </a:lnTo>
                      <a:cubicBezTo>
                        <a:pt x="3425190" y="1449705"/>
                        <a:pt x="3394710" y="1480185"/>
                        <a:pt x="3357563" y="148018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571AD2B-30A9-4CFC-96E9-CAC8CDAF0EC9}"/>
                    </a:ext>
                  </a:extLst>
                </p:cNvPr>
                <p:cNvSpPr/>
                <p:nvPr/>
              </p:nvSpPr>
              <p:spPr>
                <a:xfrm>
                  <a:off x="6400800" y="3651273"/>
                  <a:ext cx="3425190" cy="387327"/>
                </a:xfrm>
                <a:custGeom>
                  <a:avLst/>
                  <a:gdLst>
                    <a:gd name="connsiteX0" fmla="*/ 3357563 w 3425190"/>
                    <a:gd name="connsiteY0" fmla="*/ 0 h 327660"/>
                    <a:gd name="connsiteX1" fmla="*/ 67628 w 3425190"/>
                    <a:gd name="connsiteY1" fmla="*/ 0 h 327660"/>
                    <a:gd name="connsiteX2" fmla="*/ 0 w 3425190"/>
                    <a:gd name="connsiteY2" fmla="*/ 67628 h 327660"/>
                    <a:gd name="connsiteX3" fmla="*/ 0 w 3425190"/>
                    <a:gd name="connsiteY3" fmla="*/ 327660 h 327660"/>
                    <a:gd name="connsiteX4" fmla="*/ 3425190 w 3425190"/>
                    <a:gd name="connsiteY4" fmla="*/ 327660 h 327660"/>
                    <a:gd name="connsiteX5" fmla="*/ 3425190 w 3425190"/>
                    <a:gd name="connsiteY5" fmla="*/ 67628 h 327660"/>
                    <a:gd name="connsiteX6" fmla="*/ 3357563 w 3425190"/>
                    <a:gd name="connsiteY6" fmla="*/ 0 h 327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425190" h="327660">
                      <a:moveTo>
                        <a:pt x="3357563" y="0"/>
                      </a:moveTo>
                      <a:lnTo>
                        <a:pt x="67628" y="0"/>
                      </a:lnTo>
                      <a:cubicBezTo>
                        <a:pt x="30480" y="0"/>
                        <a:pt x="0" y="30480"/>
                        <a:pt x="0" y="67628"/>
                      </a:cubicBezTo>
                      <a:lnTo>
                        <a:pt x="0" y="327660"/>
                      </a:lnTo>
                      <a:lnTo>
                        <a:pt x="3425190" y="327660"/>
                      </a:lnTo>
                      <a:lnTo>
                        <a:pt x="3425190" y="67628"/>
                      </a:lnTo>
                      <a:cubicBezTo>
                        <a:pt x="3425190" y="30480"/>
                        <a:pt x="3394710" y="0"/>
                        <a:pt x="3357563" y="0"/>
                      </a:cubicBezTo>
                      <a:close/>
                    </a:path>
                  </a:pathLst>
                </a:custGeom>
                <a:solidFill>
                  <a:srgbClr val="374850"/>
                </a:solidFill>
                <a:ln w="9525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61C04EB-328B-4AB9-A1FD-6A864517CA0C}"/>
                  </a:ext>
                </a:extLst>
              </p:cNvPr>
              <p:cNvSpPr txBox="1"/>
              <p:nvPr/>
            </p:nvSpPr>
            <p:spPr>
              <a:xfrm>
                <a:off x="6314295" y="4035078"/>
                <a:ext cx="13716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vi-VN">
                    <a:solidFill>
                      <a:schemeClr val="bg1"/>
                    </a:solidFill>
                    <a:latin typeface="+mj-lt"/>
                  </a:rPr>
                  <a:t>OUTPUT</a:t>
                </a:r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EC514C-8783-40AA-A19D-4CC7E61D351C}"/>
                </a:ext>
              </a:extLst>
            </p:cNvPr>
            <p:cNvSpPr txBox="1"/>
            <p:nvPr/>
          </p:nvSpPr>
          <p:spPr>
            <a:xfrm>
              <a:off x="2280339" y="5275058"/>
              <a:ext cx="193823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>
                <a:spcBef>
                  <a:spcPts val="0"/>
                </a:spcBef>
                <a:spcAft>
                  <a:spcPts val="0"/>
                </a:spcAft>
              </a:pPr>
              <a:r>
                <a:rPr lang="en-US" sz="2000">
                  <a:solidFill>
                    <a:srgbClr val="000000"/>
                  </a:solidFill>
                </a:rPr>
                <a:t>0.9</a:t>
              </a:r>
              <a:r>
                <a:rPr lang="en-US" sz="2000" b="0" i="0" u="none" strike="noStrike">
                  <a:solidFill>
                    <a:srgbClr val="000000"/>
                  </a:solidFill>
                  <a:effectLst/>
                </a:rPr>
                <a:t> + </a:t>
              </a:r>
              <a:r>
                <a:rPr lang="en-US" sz="2000">
                  <a:solidFill>
                    <a:srgbClr val="000000"/>
                  </a:solidFill>
                </a:rPr>
                <a:t>0.7</a:t>
              </a:r>
              <a:r>
                <a:rPr lang="en-US" sz="2000" b="0" i="0" u="none" strike="noStrike">
                  <a:solidFill>
                    <a:srgbClr val="000000"/>
                  </a:solidFill>
                  <a:effectLst/>
                </a:rPr>
                <a:t>j</a:t>
              </a:r>
              <a:endParaRPr lang="en-US" sz="20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59562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8D914E-784F-43AF-B26D-5F755D53A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1355"/>
              </a:gs>
              <a:gs pos="34000">
                <a:srgbClr val="001559"/>
              </a:gs>
              <a:gs pos="69000">
                <a:srgbClr val="00297C"/>
              </a:gs>
              <a:gs pos="97000">
                <a:srgbClr val="013D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Lambda là một cách đơn giản để định nghĩa một hàm trong Python. Lambda thường được gọi dưới cái tên toán tử lambda hoặc hàm lambda.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D331B5-810D-4D8C-970F-31C2BB0AB9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4800" y="228600"/>
            <a:ext cx="11573256" cy="6239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D9C3F8-047A-41A6-8F94-1A746AF945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6984" y="172257"/>
            <a:ext cx="2967424" cy="689962"/>
            <a:chOff x="381000" y="304800"/>
            <a:chExt cx="2967424" cy="6899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871EE8-287F-453B-88E9-E45D5BA0852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67" t="17467" r="17467" b="17467"/>
            <a:stretch>
              <a:fillRect/>
            </a:stretch>
          </p:blipFill>
          <p:spPr>
            <a:xfrm>
              <a:off x="381000" y="304800"/>
              <a:ext cx="689962" cy="689962"/>
            </a:xfrm>
            <a:custGeom>
              <a:avLst/>
              <a:gdLst>
                <a:gd name="connsiteX0" fmla="*/ 647700 w 1295400"/>
                <a:gd name="connsiteY0" fmla="*/ 0 h 1295400"/>
                <a:gd name="connsiteX1" fmla="*/ 1295400 w 1295400"/>
                <a:gd name="connsiteY1" fmla="*/ 647700 h 1295400"/>
                <a:gd name="connsiteX2" fmla="*/ 647700 w 1295400"/>
                <a:gd name="connsiteY2" fmla="*/ 1295400 h 1295400"/>
                <a:gd name="connsiteX3" fmla="*/ 0 w 1295400"/>
                <a:gd name="connsiteY3" fmla="*/ 647700 h 1295400"/>
                <a:gd name="connsiteX4" fmla="*/ 647700 w 1295400"/>
                <a:gd name="connsiteY4" fmla="*/ 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400" h="1295400">
                  <a:moveTo>
                    <a:pt x="647700" y="0"/>
                  </a:moveTo>
                  <a:cubicBezTo>
                    <a:pt x="1005415" y="0"/>
                    <a:pt x="1295400" y="289985"/>
                    <a:pt x="1295400" y="647700"/>
                  </a:cubicBezTo>
                  <a:cubicBezTo>
                    <a:pt x="1295400" y="1005415"/>
                    <a:pt x="1005415" y="1295400"/>
                    <a:pt x="647700" y="1295400"/>
                  </a:cubicBezTo>
                  <a:cubicBezTo>
                    <a:pt x="289985" y="1295400"/>
                    <a:pt x="0" y="1005415"/>
                    <a:pt x="0" y="647700"/>
                  </a:cubicBezTo>
                  <a:cubicBezTo>
                    <a:pt x="0" y="289985"/>
                    <a:pt x="289985" y="0"/>
                    <a:pt x="647700" y="0"/>
                  </a:cubicBezTo>
                  <a:close/>
                </a:path>
              </a:pathLst>
            </a:custGeom>
            <a:ln w="28575">
              <a:solidFill>
                <a:schemeClr val="bg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27A3B-05D1-4FA9-B69D-3D21400286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681531"/>
              <a:ext cx="221396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400">
                  <a:solidFill>
                    <a:srgbClr val="072251"/>
                  </a:solidFill>
                  <a:latin typeface="+mj-lt"/>
                </a:rPr>
                <a:t>Become A Better Developer</a:t>
              </a:r>
              <a:endParaRPr lang="en-US" sz="1400">
                <a:solidFill>
                  <a:srgbClr val="072251"/>
                </a:solidFill>
                <a:latin typeface="+mj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521CB25-10EA-4831-8A87-9D4CB74433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34462" y="412750"/>
              <a:ext cx="91856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1800">
                  <a:solidFill>
                    <a:schemeClr val="tx2">
                      <a:lumMod val="75000"/>
                    </a:schemeClr>
                  </a:solidFill>
                  <a:latin typeface="+mj-lt"/>
                </a:rPr>
                <a:t>28TECH</a:t>
              </a:r>
              <a:endParaRPr lang="en-US" sz="1800">
                <a:solidFill>
                  <a:schemeClr val="tx2">
                    <a:lumMod val="7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8FD2FB-6C73-44FE-BA7B-5329AA0E89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058400" y="6400800"/>
            <a:ext cx="1978819" cy="439860"/>
            <a:chOff x="10164053" y="6409470"/>
            <a:chExt cx="1978819" cy="4398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461676-A191-44E2-AFAA-83FE4DC8B12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4053" y="6464250"/>
              <a:ext cx="15240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vi-VN" sz="2400">
                  <a:solidFill>
                    <a:schemeClr val="bg1"/>
                  </a:solidFill>
                  <a:latin typeface="#9Slide02 Tieu de rat dai 02" panose="020B0606020202050201" pitchFamily="34" charset="0"/>
                </a:rPr>
                <a:t>28tech.com.vn</a:t>
              </a:r>
              <a:endParaRPr lang="en-US" sz="2400">
                <a:solidFill>
                  <a:schemeClr val="bg1"/>
                </a:solidFill>
                <a:latin typeface="#9Slide02 Tieu de rat dai 02" panose="020B0606020202050201" pitchFamily="34" charset="0"/>
              </a:endParaRPr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C8D2B70-D48E-4759-A431-E8732424E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5672" y="6409470"/>
              <a:ext cx="457200" cy="4398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532281C-DA11-45BA-BE4A-C5EDDC57BB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6200" y="6310205"/>
            <a:ext cx="428411" cy="428411"/>
            <a:chOff x="76200" y="6310205"/>
            <a:chExt cx="428411" cy="42841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B781109-35E6-40F9-B294-9CD5BB4E68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00" y="6310205"/>
              <a:ext cx="428411" cy="428411"/>
            </a:xfrm>
            <a:prstGeom prst="ellipse">
              <a:avLst/>
            </a:prstGeom>
            <a:solidFill>
              <a:srgbClr val="187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87498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22A981-4099-4517-BB9D-56AE74FCFF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6026" y="6345452"/>
              <a:ext cx="37593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2400">
                  <a:solidFill>
                    <a:schemeClr val="bg1"/>
                  </a:solidFill>
                  <a:latin typeface="+mj-lt"/>
                </a:rPr>
                <a:t>11</a:t>
              </a:r>
            </a:p>
          </p:txBody>
        </p:sp>
      </p:grpSp>
      <p:pic>
        <p:nvPicPr>
          <p:cNvPr id="28" name="Picture 2" descr="Python ">
            <a:extLst>
              <a:ext uri="{FF2B5EF4-FFF2-40B4-BE49-F238E27FC236}">
                <a16:creationId xmlns:a16="http://schemas.microsoft.com/office/drawing/2014/main" id="{44AC7A3B-B404-BC22-306E-86C6D717EF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596" y="105475"/>
            <a:ext cx="626462" cy="62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3216E66-F932-E0E0-5952-1E6C20F0D9B0}"/>
              </a:ext>
            </a:extLst>
          </p:cNvPr>
          <p:cNvSpPr txBox="1"/>
          <p:nvPr/>
        </p:nvSpPr>
        <p:spPr>
          <a:xfrm>
            <a:off x="477397" y="866708"/>
            <a:ext cx="88190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9</a:t>
            </a:r>
            <a:r>
              <a:rPr lang="vi-VN" sz="3200" b="0" i="0" u="none" strike="noStrike">
                <a:solidFill>
                  <a:srgbClr val="2E75B5"/>
                </a:solidFill>
                <a:effectLst/>
                <a:latin typeface="#9Slide02 Tieu de dai" panose="02000000000000000000" pitchFamily="2" charset="0"/>
                <a:ea typeface="#9Slide02 Tieu de dai" panose="02000000000000000000" pitchFamily="2" charset="0"/>
              </a:rPr>
              <a:t>.</a:t>
            </a:r>
            <a:r>
              <a:rPr lang="vi-VN" sz="3200">
                <a:solidFill>
                  <a:srgbClr val="2E75B5"/>
                </a:solidFill>
                <a:latin typeface="#9Slide02 Tieu de dai" panose="02000000000000000000" pitchFamily="2" charset="0"/>
                <a:ea typeface="#9Slide02 Tieu de dai" panose="02000000000000000000" pitchFamily="2" charset="0"/>
              </a:rPr>
              <a:t> Các hàm so sánh	:</a:t>
            </a:r>
            <a:endParaRPr lang="en-US" sz="3200">
              <a:solidFill>
                <a:srgbClr val="2E75B5"/>
              </a:solidFill>
              <a:latin typeface="#9Slide02 Tieu de dai" panose="02000000000000000000" pitchFamily="2" charset="0"/>
              <a:ea typeface="#9Slide02 Tieu de dai" panose="02000000000000000000" pitchFamily="2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8CB28F-B624-484A-83CB-447B6D0F0924}"/>
              </a:ext>
            </a:extLst>
          </p:cNvPr>
          <p:cNvGrpSpPr/>
          <p:nvPr/>
        </p:nvGrpSpPr>
        <p:grpSpPr>
          <a:xfrm>
            <a:off x="465548" y="1442051"/>
            <a:ext cx="657508" cy="657508"/>
            <a:chOff x="489048" y="1970215"/>
            <a:chExt cx="657508" cy="657508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C195DB6-63F3-4280-8FFB-93DD6C0C6B8C}"/>
                </a:ext>
              </a:extLst>
            </p:cNvPr>
            <p:cNvSpPr/>
            <p:nvPr/>
          </p:nvSpPr>
          <p:spPr>
            <a:xfrm>
              <a:off x="489048" y="1970215"/>
              <a:ext cx="657508" cy="657508"/>
            </a:xfrm>
            <a:prstGeom prst="ellipse">
              <a:avLst/>
            </a:prstGeom>
            <a:solidFill>
              <a:srgbClr val="FFE15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" descr="Hard work ">
              <a:extLst>
                <a:ext uri="{FF2B5EF4-FFF2-40B4-BE49-F238E27FC236}">
                  <a16:creationId xmlns:a16="http://schemas.microsoft.com/office/drawing/2014/main" id="{ED825B24-34BD-402B-AF56-80804BDC4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298" y="2044045"/>
              <a:ext cx="445440" cy="445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4DE9CC91-6D3C-4969-94DA-CD475CD81116}"/>
              </a:ext>
            </a:extLst>
          </p:cNvPr>
          <p:cNvSpPr txBox="1"/>
          <p:nvPr/>
        </p:nvSpPr>
        <p:spPr>
          <a:xfrm>
            <a:off x="1188609" y="1358173"/>
            <a:ext cx="100127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2400">
                <a:solidFill>
                  <a:srgbClr val="000000"/>
                </a:solidFill>
              </a:rPr>
              <a:t>Bạn có thể nạp chồng các toán tử so sánh bằng cách cài đặt các hàm tương ứng của class.</a:t>
            </a:r>
            <a:endParaRPr lang="en-US" sz="2400">
              <a:solidFill>
                <a:srgbClr val="00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59F990-AB3D-43D7-AC89-4A29274FB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306749"/>
              </p:ext>
            </p:extLst>
          </p:nvPr>
        </p:nvGraphicFramePr>
        <p:xfrm>
          <a:off x="1371600" y="2422471"/>
          <a:ext cx="9448800" cy="340869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val="71765466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762346465"/>
                    </a:ext>
                  </a:extLst>
                </a:gridCol>
              </a:tblGrid>
              <a:tr h="4830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Toán tử</a:t>
                      </a:r>
                      <a:endParaRPr lang="en-US" sz="3200">
                        <a:effectLst/>
                        <a:latin typeface="+mj-lt"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Hàm</a:t>
                      </a:r>
                      <a:endParaRPr lang="en-US" sz="3200">
                        <a:effectLst/>
                        <a:latin typeface="+mj-lt"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878279"/>
                  </a:ext>
                </a:extLst>
              </a:tr>
              <a:tr h="4830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&lt; </a:t>
                      </a:r>
                      <a:r>
                        <a:rPr lang="en-US" sz="2000" b="0" u="none" strike="noStrike" smtClean="0">
                          <a:solidFill>
                            <a:srgbClr val="000000"/>
                          </a:solidFill>
                          <a:effectLst/>
                        </a:rPr>
                        <a:t>less than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__lt__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2771912"/>
                  </a:ext>
                </a:extLst>
              </a:tr>
              <a:tr h="4830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smtClean="0">
                          <a:solidFill>
                            <a:srgbClr val="000000"/>
                          </a:solidFill>
                          <a:effectLst/>
                        </a:rPr>
                        <a:t>&lt;= less</a:t>
                      </a:r>
                      <a:r>
                        <a:rPr lang="en-US" sz="2000" b="0" u="none" strike="noStrike" baseline="0" smtClean="0">
                          <a:solidFill>
                            <a:srgbClr val="000000"/>
                          </a:solidFill>
                          <a:effectLst/>
                        </a:rPr>
                        <a:t> than or equal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__le__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8547576"/>
                  </a:ext>
                </a:extLst>
              </a:tr>
              <a:tr h="4830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smtClean="0">
                          <a:solidFill>
                            <a:srgbClr val="000000"/>
                          </a:solidFill>
                          <a:effectLst/>
                        </a:rPr>
                        <a:t>&gt; greater than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__gt__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2802646"/>
                  </a:ext>
                </a:extLst>
              </a:tr>
              <a:tr h="4830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smtClean="0">
                          <a:solidFill>
                            <a:srgbClr val="000000"/>
                          </a:solidFill>
                          <a:effectLst/>
                        </a:rPr>
                        <a:t>&gt;= greater than or equal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__ge__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9742654"/>
                  </a:ext>
                </a:extLst>
              </a:tr>
              <a:tr h="4830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smtClean="0">
                          <a:solidFill>
                            <a:srgbClr val="000000"/>
                          </a:solidFill>
                          <a:effectLst/>
                        </a:rPr>
                        <a:t>== equal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__eq__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9434323"/>
                  </a:ext>
                </a:extLst>
              </a:tr>
              <a:tr h="483005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smtClean="0">
                          <a:solidFill>
                            <a:srgbClr val="000000"/>
                          </a:solidFill>
                          <a:effectLst/>
                        </a:rPr>
                        <a:t>!= not</a:t>
                      </a:r>
                      <a:r>
                        <a:rPr lang="en-US" sz="2000" b="0" u="none" strike="noStrike" baseline="0" smtClean="0">
                          <a:solidFill>
                            <a:srgbClr val="000000"/>
                          </a:solidFill>
                          <a:effectLst/>
                        </a:rPr>
                        <a:t> equal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__ne__</a:t>
                      </a:r>
                      <a:endParaRPr lang="en-US" sz="2800">
                        <a:effectLst/>
                      </a:endParaRPr>
                    </a:p>
                  </a:txBody>
                  <a:tcPr marL="108676" marR="108676" marT="72450" marB="724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1615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82081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92</TotalTime>
  <Words>2166</Words>
  <Application>Microsoft Office PowerPoint</Application>
  <PresentationFormat>Widescreen</PresentationFormat>
  <Paragraphs>242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Arial</vt:lpstr>
      <vt:lpstr>#9Slide02 Noi dung dai</vt:lpstr>
      <vt:lpstr>Times New Roman</vt:lpstr>
      <vt:lpstr>#9Slide02 Tieu de dai</vt:lpstr>
      <vt:lpstr>#9Slide02 Tieu de rat dai 02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A</dc:creator>
  <cp:keywords>9Slide</cp:keywords>
  <dc:description>9Slide.vn</dc:description>
  <cp:lastModifiedBy>Xuan Loc</cp:lastModifiedBy>
  <cp:revision>13</cp:revision>
  <dcterms:created xsi:type="dcterms:W3CDTF">2022-09-21T17:18:06Z</dcterms:created>
  <dcterms:modified xsi:type="dcterms:W3CDTF">2022-09-23T14:25:56Z</dcterms:modified>
  <cp:category>9Slide.vn</cp:category>
  <cp:contentStatus>9Slide</cp:contentStatus>
</cp:coreProperties>
</file>